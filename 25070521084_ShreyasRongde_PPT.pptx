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03d43a14-12d4-0b9f-19b5-ab3c931c962d}">
          <p14:sldIdLst>
            <p14:sldId id="256"/>
          </p14:sldIdLst>
        </p14:section>
        <p14:section name="Basics" id="{d87ab8d7-f766-952a-6932-086b83ce3305}">
          <p14:sldIdLst>
            <p14:sldId id="257"/>
            <p14:sldId id="258"/>
            <p14:sldId id="259"/>
          </p14:sldIdLst>
        </p14:section>
        <p14:section name="Basics" id="{3f8937a6-37a3-288b-7fee-78162a2e3c66}">
          <p14:sldIdLst/>
        </p14:section>
        <p14:section name="Method" id="{30041e0d-6389-07a6-2ca9-cecde103f402}">
          <p14:sldIdLst>
            <p14:sldId id="260"/>
            <p14:sldId id="263"/>
          </p14:sldIdLst>
        </p14:section>
        <p14:section name="Example" id="{3bad2d55-18ea-ff20-11c5-bb67fce23353}">
          <p14:sldIdLst>
            <p14:sldId id="261"/>
            <p14:sldId id="262"/>
          </p14:sldIdLst>
        </p14:section>
        <p14:section name="Example" id="{282f1b86-0287-4fae-b277-e60f00466ef6}">
          <p14:sldIdLst/>
        </p14:section>
        <p14:section name="Method" id="{46e0826c-1d63-516e-20a1-f326d78515d4}">
          <p14:sldIdLst/>
        </p14:section>
        <p14:section name="Analysis" id="{3bccde80-42e9-7a4e-8fd3-26f221d40059}">
          <p14:sldIdLst>
            <p14:sldId id="264"/>
            <p14:sldId id="265"/>
          </p14:sldIdLst>
        </p14:section>
        <p14:section name="Analysis" id="{fb316242-eb08-dda1-a6dd-d9662ce399d7}">
          <p14:sldIdLst/>
        </p14:section>
        <p14:section name="Applications" id="{6727bbc3-67c8-95d8-2fd2-27c83a376a1f}">
          <p14:sldIdLst>
            <p14:sldId id="266"/>
          </p14:sldIdLst>
        </p14:section>
        <p14:section name="Summary" id="{e1516dd8-e4dc-65ed-42ba-c60e6169be5c}">
          <p14:sldIdLst>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deck explains merge sort: the problem it solves, how it works, a worked example, its cost, how it compares with other sorts, and where it is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up the problem. We have n items that can be compared, and we want them in ascending order. Merge sort solves this with a guaranteed running time, no matter how the input is arranged.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Von Neumann developed merge sort in 1945. A bottom-up version was described in 1948 by Goldstine and von Neumann. Today Timsort, introduced in Python in 2002, is a hybrid that relies heavily on merging sorted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insight. A list of one item is already sorted, and two sorted lists can be combined in a single pass by repeatedly taking the smaller front item. So we split until pieces are tiny, then merge back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four steps. Divide the array in two, sort each half recursively, merge the sorted halves, and stop when a piece has at most one item. The next slide shows this on a small array.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example array has seven numbers. The first split gives four and three items, the second gives pieces of two, two, two and one, and the third reduces everything to single items. The next slide shows the merging.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table row by row. Steps one to three split the array down to single items. Steps four to six merge neighbouring sorted pieces until one sorted array remains.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algorithm in a few lines. MergeSort splits and recurses; Merge does the real work. Using less-than-or-equal when comparing keeps equal items in their original order, which makes merge sort stable.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the array is always halved, there are about log n levels, and each level does O(n) work in merging. That gives O(n log n) in every case. The cost is O(n) extra memory for the temporary arrays.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Merge sort guarantees O(n log n) and is stable, but it needs extra memory. Quick sort is usually faster on arrays but has an O(n squared) worst case. Heap sort uses constant extra space but is not stable. Insertion sort is best for very small or nearly sorted inputs.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Merge sort shines when data is huge, when only sequential access is possible, or when stability matters. Timsort in Python and in Java's object sort is built on merging, and databases use sort-merge joins.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four points, then open the floor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2F7F7"/>
        </a:solidFill>
      </p:bgPr>
    </p:bg>
    <p:spTree>
      <p:nvGrpSpPr>
        <p:cNvPr id="1" name=""/>
        <p:cNvGrpSpPr/>
        <p:nvPr/>
      </p:nvGrpSpPr>
      <p:grpSpPr>
        <a:xfrm>
          <a:off x="0" y="0"/>
          <a:ext cx="0" cy="0"/>
          <a:chOff x="0" y="0"/>
          <a:chExt cx="0" cy="0"/>
        </a:xfrm>
      </p:grpSpPr>
      <p:sp>
        <p:nvSpPr>
          <p:cNvPr id="2" name="Text 0"/>
          <p:cNvSpPr/>
          <p:nvPr/>
        </p:nvSpPr>
        <p:spPr>
          <a:xfrm>
            <a:off x="457200" y="4754880"/>
            <a:ext cx="3657600" cy="228600"/>
          </a:xfrm>
          <a:prstGeom prst="rect">
            <a:avLst/>
          </a:prstGeom>
          <a:noFill/>
          <a:ln/>
        </p:spPr>
        <p:txBody>
          <a:bodyPr wrap="square" lIns="0" tIns="0" rIns="0" bIns="0" rtlCol="0" anchor="ctr"/>
          <a:lstStyle/>
          <a:p>
            <a:pPr indent="0" marL="0">
              <a:buNone/>
            </a:pPr>
            <a:r>
              <a:rPr lang="en-US" sz="900" dirty="0">
                <a:solidFill>
                  <a:srgbClr val="5B7479"/>
                </a:solidFill>
              </a:rPr>
              <a:t>Merge Sort</a:t>
            </a:r>
            <a:endParaRPr lang="en-US" sz="900" dirty="0"/>
          </a:p>
        </p:txBody>
      </p:sp>
      <p:sp>
        <p:nvSpPr>
          <p:cNvPr id="3" name="Text 1"/>
          <p:cNvSpPr/>
          <p:nvPr/>
        </p:nvSpPr>
        <p:spPr>
          <a:xfrm>
            <a:off x="5852160" y="4754880"/>
            <a:ext cx="2103120" cy="228600"/>
          </a:xfrm>
          <a:prstGeom prst="rect">
            <a:avLst/>
          </a:prstGeom>
          <a:noFill/>
          <a:ln/>
        </p:spPr>
        <p:txBody>
          <a:bodyPr wrap="square" lIns="0" tIns="0" rIns="0" bIns="0" rtlCol="0" anchor="ctr"/>
          <a:lstStyle/>
          <a:p>
            <a:pPr algn="r" indent="0" marL="0">
              <a:buNone/>
            </a:pPr>
            <a:r>
              <a:rPr lang="en-US" sz="900" i="1" dirty="0">
                <a:solidFill>
                  <a:srgbClr val="5B7479"/>
                </a:solidFill>
              </a:rPr>
              <a:t>Made by Claude</a:t>
            </a:r>
            <a:endParaRPr lang="en-US" sz="900" dirty="0"/>
          </a:p>
        </p:txBody>
      </p:sp>
      <p:sp>
        <p:nvSpPr>
          <p:cNvPr id="25" name="Slide Number Placeholder 0"/>
          <p:cNvSpPr>
            <a:spLocks noGrp="1"/>
          </p:cNvSpPr>
          <p:nvPr>
            <p:ph type="sldNum" sz="quarter" idx="4294967295"/>
          </p:nvPr>
        </p:nvSpPr>
        <p:spPr>
          <a:xfrm>
            <a:off x="8138160" y="4754880"/>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7479"/>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B2B33"/>
        </a:solidFill>
      </p:bgPr>
    </p:bg>
    <p:spTree>
      <p:nvGrpSpPr>
        <p:cNvPr id="1" name=""/>
        <p:cNvGrpSpPr/>
        <p:nvPr/>
      </p:nvGrpSpPr>
      <p:grpSpPr>
        <a:xfrm>
          <a:off x="0" y="0"/>
          <a:ext cx="0" cy="0"/>
          <a:chOff x="0" y="0"/>
          <a:chExt cx="0" cy="0"/>
        </a:xfrm>
      </p:grpSpPr>
      <p:sp>
        <p:nvSpPr>
          <p:cNvPr id="2" name="Text 0"/>
          <p:cNvSpPr/>
          <p:nvPr/>
        </p:nvSpPr>
        <p:spPr>
          <a:xfrm>
            <a:off x="457200" y="4754880"/>
            <a:ext cx="3657600" cy="228600"/>
          </a:xfrm>
          <a:prstGeom prst="rect">
            <a:avLst/>
          </a:prstGeom>
          <a:noFill/>
          <a:ln/>
        </p:spPr>
        <p:txBody>
          <a:bodyPr wrap="square" lIns="0" tIns="0" rIns="0" bIns="0" rtlCol="0" anchor="ctr"/>
          <a:lstStyle/>
          <a:p>
            <a:pPr indent="0" marL="0">
              <a:buNone/>
            </a:pPr>
            <a:r>
              <a:rPr lang="en-US" sz="900" dirty="0">
                <a:solidFill>
                  <a:srgbClr val="A9C4C8"/>
                </a:solidFill>
              </a:rPr>
              <a:t>Merge Sort</a:t>
            </a:r>
            <a:endParaRPr lang="en-US" sz="900" dirty="0"/>
          </a:p>
        </p:txBody>
      </p:sp>
      <p:sp>
        <p:nvSpPr>
          <p:cNvPr id="3" name="Text 1"/>
          <p:cNvSpPr/>
          <p:nvPr/>
        </p:nvSpPr>
        <p:spPr>
          <a:xfrm>
            <a:off x="5852160" y="4754880"/>
            <a:ext cx="2103120" cy="228600"/>
          </a:xfrm>
          <a:prstGeom prst="rect">
            <a:avLst/>
          </a:prstGeom>
          <a:noFill/>
          <a:ln/>
        </p:spPr>
        <p:txBody>
          <a:bodyPr wrap="square" lIns="0" tIns="0" rIns="0" bIns="0" rtlCol="0" anchor="ctr"/>
          <a:lstStyle/>
          <a:p>
            <a:pPr algn="r" indent="0" marL="0">
              <a:buNone/>
            </a:pPr>
            <a:r>
              <a:rPr lang="en-US" sz="900" i="1" dirty="0">
                <a:solidFill>
                  <a:srgbClr val="A9C4C8"/>
                </a:solidFill>
              </a:rPr>
              <a:t>Made by Claude</a:t>
            </a:r>
            <a:endParaRPr lang="en-US" sz="900" dirty="0"/>
          </a:p>
        </p:txBody>
      </p:sp>
      <p:sp>
        <p:nvSpPr>
          <p:cNvPr id="25" name="Slide Number Placeholder 0"/>
          <p:cNvSpPr>
            <a:spLocks noGrp="1"/>
          </p:cNvSpPr>
          <p:nvPr>
            <p:ph type="sldNum" sz="quarter" idx="4294967295"/>
          </p:nvPr>
        </p:nvSpPr>
        <p:spPr>
          <a:xfrm>
            <a:off x="8138160" y="4754880"/>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A9C4C8"/>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138160" y="4754880"/>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7479"/>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2.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760720" y="3291840"/>
            <a:ext cx="320040" cy="457200"/>
          </a:xfrm>
          <a:prstGeom prst="rect">
            <a:avLst/>
          </a:prstGeom>
          <a:solidFill>
            <a:srgbClr val="14808A"/>
          </a:solidFill>
          <a:ln w="12700">
            <a:solidFill>
              <a:srgbClr val="14808A"/>
            </a:solidFill>
            <a:prstDash val="solid"/>
          </a:ln>
        </p:spPr>
      </p:sp>
      <p:sp>
        <p:nvSpPr>
          <p:cNvPr id="3" name="Shape 1"/>
          <p:cNvSpPr/>
          <p:nvPr/>
        </p:nvSpPr>
        <p:spPr>
          <a:xfrm>
            <a:off x="6190488" y="2926080"/>
            <a:ext cx="320040" cy="822960"/>
          </a:xfrm>
          <a:prstGeom prst="rect">
            <a:avLst/>
          </a:prstGeom>
          <a:solidFill>
            <a:srgbClr val="14808A"/>
          </a:solidFill>
          <a:ln w="12700">
            <a:solidFill>
              <a:srgbClr val="14808A"/>
            </a:solidFill>
            <a:prstDash val="solid"/>
          </a:ln>
        </p:spPr>
      </p:sp>
      <p:sp>
        <p:nvSpPr>
          <p:cNvPr id="4" name="Shape 2"/>
          <p:cNvSpPr/>
          <p:nvPr/>
        </p:nvSpPr>
        <p:spPr>
          <a:xfrm>
            <a:off x="6620256" y="2560320"/>
            <a:ext cx="320040" cy="1188720"/>
          </a:xfrm>
          <a:prstGeom prst="rect">
            <a:avLst/>
          </a:prstGeom>
          <a:solidFill>
            <a:srgbClr val="14808A"/>
          </a:solidFill>
          <a:ln w="12700">
            <a:solidFill>
              <a:srgbClr val="14808A"/>
            </a:solidFill>
            <a:prstDash val="solid"/>
          </a:ln>
        </p:spPr>
      </p:sp>
      <p:sp>
        <p:nvSpPr>
          <p:cNvPr id="5" name="Shape 3"/>
          <p:cNvSpPr/>
          <p:nvPr/>
        </p:nvSpPr>
        <p:spPr>
          <a:xfrm>
            <a:off x="7050024" y="2194560"/>
            <a:ext cx="320040" cy="1554480"/>
          </a:xfrm>
          <a:prstGeom prst="rect">
            <a:avLst/>
          </a:prstGeom>
          <a:solidFill>
            <a:srgbClr val="14808A"/>
          </a:solidFill>
          <a:ln w="12700">
            <a:solidFill>
              <a:srgbClr val="14808A"/>
            </a:solidFill>
            <a:prstDash val="solid"/>
          </a:ln>
        </p:spPr>
      </p:sp>
      <p:sp>
        <p:nvSpPr>
          <p:cNvPr id="6" name="Shape 4"/>
          <p:cNvSpPr/>
          <p:nvPr/>
        </p:nvSpPr>
        <p:spPr>
          <a:xfrm>
            <a:off x="7479792" y="1828800"/>
            <a:ext cx="320040" cy="1920240"/>
          </a:xfrm>
          <a:prstGeom prst="rect">
            <a:avLst/>
          </a:prstGeom>
          <a:solidFill>
            <a:srgbClr val="14808A"/>
          </a:solidFill>
          <a:ln w="12700">
            <a:solidFill>
              <a:srgbClr val="14808A"/>
            </a:solidFill>
            <a:prstDash val="solid"/>
          </a:ln>
        </p:spPr>
      </p:sp>
      <p:sp>
        <p:nvSpPr>
          <p:cNvPr id="7" name="Shape 5"/>
          <p:cNvSpPr/>
          <p:nvPr/>
        </p:nvSpPr>
        <p:spPr>
          <a:xfrm>
            <a:off x="7909560" y="1463040"/>
            <a:ext cx="320040" cy="2286000"/>
          </a:xfrm>
          <a:prstGeom prst="rect">
            <a:avLst/>
          </a:prstGeom>
          <a:solidFill>
            <a:srgbClr val="14808A"/>
          </a:solidFill>
          <a:ln w="12700">
            <a:solidFill>
              <a:srgbClr val="14808A"/>
            </a:solidFill>
            <a:prstDash val="solid"/>
          </a:ln>
        </p:spPr>
      </p:sp>
      <p:sp>
        <p:nvSpPr>
          <p:cNvPr id="8" name="Shape 6"/>
          <p:cNvSpPr/>
          <p:nvPr/>
        </p:nvSpPr>
        <p:spPr>
          <a:xfrm>
            <a:off x="8339328" y="1097280"/>
            <a:ext cx="320040" cy="2651760"/>
          </a:xfrm>
          <a:prstGeom prst="rect">
            <a:avLst/>
          </a:prstGeom>
          <a:solidFill>
            <a:srgbClr val="FF7A59"/>
          </a:solidFill>
          <a:ln w="12700">
            <a:solidFill>
              <a:srgbClr val="FF7A59"/>
            </a:solidFill>
            <a:prstDash val="solid"/>
          </a:ln>
        </p:spPr>
      </p:sp>
      <p:sp>
        <p:nvSpPr>
          <p:cNvPr id="9" name="Text 7"/>
          <p:cNvSpPr txBox="1"/>
          <p:nvPr/>
        </p:nvSpPr>
        <p:spPr>
          <a:xfrm>
            <a:off x="548640" y="914400"/>
            <a:ext cx="4572000" cy="274320"/>
          </a:xfrm>
          <a:prstGeom prst="rect">
            <a:avLst/>
          </a:prstGeom>
          <a:noFill/>
          <a:ln/>
        </p:spPr>
        <p:txBody>
          <a:bodyPr wrap="square" lIns="0" tIns="0" rIns="0" bIns="0" rtlCol="0" anchor="ctr"/>
          <a:lstStyle/>
          <a:p>
            <a:pPr indent="0" marL="0">
              <a:buNone/>
            </a:pPr>
            <a:r>
              <a:rPr lang="en-US" sz="1100" b="1" spc="300" kern="0" dirty="0">
                <a:solidFill>
                  <a:srgbClr val="FF7A59"/>
                </a:solidFill>
              </a:rPr>
              <a:t>ALGORITHMS · SORTING</a:t>
            </a:r>
            <a:endParaRPr lang="en-US" sz="1100" dirty="0"/>
          </a:p>
        </p:txBody>
      </p:sp>
      <p:sp>
        <p:nvSpPr>
          <p:cNvPr id="10" name="Text 8"/>
          <p:cNvSpPr txBox="1"/>
          <p:nvPr/>
        </p:nvSpPr>
        <p:spPr>
          <a:xfrm>
            <a:off x="548640" y="1280160"/>
            <a:ext cx="5029200" cy="822960"/>
          </a:xfrm>
          <a:prstGeom prst="rect">
            <a:avLst/>
          </a:prstGeom>
          <a:noFill/>
          <a:ln/>
        </p:spPr>
        <p:txBody>
          <a:bodyPr wrap="square" lIns="0" tIns="0" rIns="0" bIns="0" rtlCol="0" anchor="ctr"/>
          <a:lstStyle/>
          <a:p>
            <a:pPr indent="0" marL="0">
              <a:buNone/>
            </a:pPr>
            <a:r>
              <a:rPr lang="en-US" sz="4400" b="1" dirty="0">
                <a:solidFill>
                  <a:srgbClr val="FFFFFF"/>
                </a:solidFill>
                <a:latin typeface="Trebuchet MS" pitchFamily="34" charset="0"/>
                <a:ea typeface="Trebuchet MS" pitchFamily="34" charset="-122"/>
                <a:cs typeface="Trebuchet MS" pitchFamily="34" charset="-120"/>
              </a:rPr>
              <a:t>Merge Sort</a:t>
            </a:r>
            <a:endParaRPr lang="en-US" sz="4400" dirty="0"/>
          </a:p>
        </p:txBody>
      </p:sp>
      <p:sp>
        <p:nvSpPr>
          <p:cNvPr id="11" name="Text 9"/>
          <p:cNvSpPr txBox="1"/>
          <p:nvPr/>
        </p:nvSpPr>
        <p:spPr>
          <a:xfrm>
            <a:off x="548640" y="2103120"/>
            <a:ext cx="5029200" cy="365760"/>
          </a:xfrm>
          <a:prstGeom prst="rect">
            <a:avLst/>
          </a:prstGeom>
          <a:noFill/>
          <a:ln/>
        </p:spPr>
        <p:txBody>
          <a:bodyPr wrap="square" lIns="0" tIns="0" rIns="0" bIns="0" rtlCol="0" anchor="ctr"/>
          <a:lstStyle/>
          <a:p>
            <a:pPr indent="0" marL="0">
              <a:buNone/>
            </a:pPr>
            <a:r>
              <a:rPr lang="en-US" sz="1600" dirty="0">
                <a:solidFill>
                  <a:srgbClr val="A9C4C8"/>
                </a:solidFill>
              </a:rPr>
              <a:t>Sorting by divide and conquer</a:t>
            </a:r>
            <a:endParaRPr lang="en-US" sz="1600" dirty="0"/>
          </a:p>
        </p:txBody>
      </p:sp>
      <p:sp>
        <p:nvSpPr>
          <p:cNvPr id="12" name="Shape 10"/>
          <p:cNvSpPr/>
          <p:nvPr/>
        </p:nvSpPr>
        <p:spPr>
          <a:xfrm>
            <a:off x="548640" y="2697480"/>
            <a:ext cx="548640" cy="45720"/>
          </a:xfrm>
          <a:prstGeom prst="rect">
            <a:avLst/>
          </a:prstGeom>
          <a:solidFill>
            <a:srgbClr val="FF7A59"/>
          </a:solidFill>
          <a:ln w="12700">
            <a:solidFill>
              <a:srgbClr val="FF7A59"/>
            </a:solidFill>
            <a:prstDash val="solid"/>
          </a:ln>
        </p:spPr>
      </p:sp>
      <p:sp>
        <p:nvSpPr>
          <p:cNvPr id="13" name="Text 11"/>
          <p:cNvSpPr txBox="1"/>
          <p:nvPr/>
        </p:nvSpPr>
        <p:spPr>
          <a:xfrm>
            <a:off x="548640" y="2880360"/>
            <a:ext cx="5029200" cy="640080"/>
          </a:xfrm>
          <a:prstGeom prst="rect">
            <a:avLst/>
          </a:prstGeom>
          <a:noFill/>
          <a:ln/>
        </p:spPr>
        <p:txBody>
          <a:bodyPr wrap="square" lIns="0" tIns="0" rIns="0" bIns="0" rtlCol="0" anchor="t"/>
          <a:lstStyle/>
          <a:p>
            <a:pPr indent="0" marL="0">
              <a:buNone/>
            </a:pPr>
            <a:r>
              <a:rPr lang="en-US" sz="1600" b="1" dirty="0">
                <a:solidFill>
                  <a:srgbClr val="FFFFFF"/>
                </a:solidFill>
              </a:rPr>
              <a:t>Shreyas Rongde</a:t>
            </a:r>
            <a:endParaRPr lang="en-US" sz="1600" dirty="0"/>
          </a:p>
          <a:p>
            <a:pPr indent="0" marL="0">
              <a:buNone/>
            </a:pPr>
            <a:r>
              <a:rPr lang="en-US" sz="1400" dirty="0">
                <a:solidFill>
                  <a:srgbClr val="A9C4C8"/>
                </a:solidFill>
              </a:rPr>
              <a:t>PRN: 25070521084</a:t>
            </a:r>
            <a:endParaRPr lang="en-US" sz="1600" dirty="0"/>
          </a:p>
        </p:txBody>
      </p:sp>
      <p:sp>
        <p:nvSpPr>
          <p:cNvPr id="14" name="Text 12"/>
          <p:cNvSpPr txBox="1"/>
          <p:nvPr/>
        </p:nvSpPr>
        <p:spPr>
          <a:xfrm>
            <a:off x="548640" y="3657600"/>
            <a:ext cx="4572000" cy="274320"/>
          </a:xfrm>
          <a:prstGeom prst="rect">
            <a:avLst/>
          </a:prstGeom>
          <a:noFill/>
          <a:ln/>
        </p:spPr>
        <p:txBody>
          <a:bodyPr wrap="square" lIns="0" tIns="0" rIns="0" bIns="0" rtlCol="0" anchor="ctr"/>
          <a:lstStyle/>
          <a:p>
            <a:pPr indent="0" marL="0">
              <a:buNone/>
            </a:pPr>
            <a:r>
              <a:rPr lang="en-US" sz="1200" dirty="0">
                <a:solidFill>
                  <a:srgbClr val="A9C4C8"/>
                </a:solidFill>
              </a:rPr>
              <a:t>Data Structures and Algorithms</a:t>
            </a:r>
            <a:endParaRPr lang="en-US" sz="1200" dirty="0"/>
          </a:p>
        </p:txBody>
      </p:sp>
      <p:sp>
        <p:nvSpPr>
          <p:cNvPr id="25" name="Slide Number Placeholder 0"/>
          <p:cNvSpPr>
            <a:spLocks noGrp="1"/>
          </p:cNvSpPr>
          <p:nvPr>
            <p:ph type="sldNum" sz="quarter" idx="4294967295"/>
          </p:nvPr>
        </p:nvSpPr>
        <p:spPr>
          <a:xfrm>
            <a:off x="8138160" y="4754880"/>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A9C4C8"/>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320040"/>
            <a:ext cx="5486400" cy="228600"/>
          </a:xfrm>
          <a:prstGeom prst="rect">
            <a:avLst/>
          </a:prstGeom>
          <a:noFill/>
          <a:ln/>
        </p:spPr>
        <p:txBody>
          <a:bodyPr wrap="square" lIns="0" tIns="0" rIns="0" bIns="0" rtlCol="0" anchor="ctr"/>
          <a:lstStyle/>
          <a:p>
            <a:pPr indent="0" marL="0">
              <a:buNone/>
            </a:pPr>
            <a:r>
              <a:rPr lang="en-US" sz="1000" b="1" spc="300" kern="0" dirty="0">
                <a:solidFill>
                  <a:srgbClr val="14808A"/>
                </a:solidFill>
              </a:rPr>
              <a:t>THE PROBLEM</a:t>
            </a:r>
            <a:endParaRPr lang="en-US" sz="10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600" b="1" dirty="0">
                <a:solidFill>
                  <a:srgbClr val="0B2B33"/>
                </a:solidFill>
                <a:latin typeface="Trebuchet MS" pitchFamily="34" charset="0"/>
                <a:ea typeface="Trebuchet MS" pitchFamily="34" charset="-122"/>
                <a:cs typeface="Trebuchet MS" pitchFamily="34" charset="-120"/>
              </a:rPr>
              <a:t>Put a list in order</a:t>
            </a:r>
            <a:endParaRPr lang="en-US" sz="2600" dirty="0"/>
          </a:p>
        </p:txBody>
      </p:sp>
      <p:sp>
        <p:nvSpPr>
          <p:cNvPr id="4" name="Text 2"/>
          <p:cNvSpPr txBox="1"/>
          <p:nvPr/>
        </p:nvSpPr>
        <p:spPr>
          <a:xfrm>
            <a:off x="457200" y="1188720"/>
            <a:ext cx="8229600" cy="320040"/>
          </a:xfrm>
          <a:prstGeom prst="rect">
            <a:avLst/>
          </a:prstGeom>
          <a:noFill/>
          <a:ln/>
        </p:spPr>
        <p:txBody>
          <a:bodyPr wrap="square" lIns="0" tIns="0" rIns="0" bIns="0" rtlCol="0" anchor="ctr"/>
          <a:lstStyle/>
          <a:p>
            <a:pPr indent="0" marL="0">
              <a:buNone/>
            </a:pPr>
            <a:r>
              <a:rPr lang="en-US" sz="1400" dirty="0">
                <a:solidFill>
                  <a:srgbClr val="5B7479"/>
                </a:solidFill>
              </a:rPr>
              <a:t>Given an unsorted list, rearrange it into ascending order efficiently.</a:t>
            </a:r>
            <a:endParaRPr lang="en-US" sz="1400" dirty="0"/>
          </a:p>
        </p:txBody>
      </p:sp>
      <p:sp>
        <p:nvSpPr>
          <p:cNvPr id="5" name="Shape 3"/>
          <p:cNvSpPr/>
          <p:nvPr/>
        </p:nvSpPr>
        <p:spPr>
          <a:xfrm>
            <a:off x="457200" y="1828800"/>
            <a:ext cx="2606040" cy="1737360"/>
          </a:xfrm>
          <a:prstGeom prst="rect">
            <a:avLst/>
          </a:prstGeom>
          <a:solidFill>
            <a:srgbClr val="FFFFFF"/>
          </a:solidFill>
          <a:ln w="9525">
            <a:solidFill>
              <a:srgbClr val="D5E4E6"/>
            </a:solidFill>
            <a:prstDash val="solid"/>
          </a:ln>
        </p:spPr>
      </p:sp>
      <p:sp>
        <p:nvSpPr>
          <p:cNvPr id="6" name="Shape 4"/>
          <p:cNvSpPr/>
          <p:nvPr/>
        </p:nvSpPr>
        <p:spPr>
          <a:xfrm>
            <a:off x="457200" y="1828800"/>
            <a:ext cx="64008" cy="1737360"/>
          </a:xfrm>
          <a:prstGeom prst="rect">
            <a:avLst/>
          </a:prstGeom>
          <a:solidFill>
            <a:srgbClr val="FF7A59"/>
          </a:solidFill>
          <a:ln w="12700">
            <a:solidFill>
              <a:srgbClr val="FF7A59"/>
            </a:solidFill>
            <a:prstDash val="solid"/>
          </a:ln>
        </p:spPr>
      </p:sp>
      <p:sp>
        <p:nvSpPr>
          <p:cNvPr id="7" name="Text 5"/>
          <p:cNvSpPr txBox="1"/>
          <p:nvPr/>
        </p:nvSpPr>
        <p:spPr>
          <a:xfrm>
            <a:off x="685800" y="1965960"/>
            <a:ext cx="2240280" cy="365760"/>
          </a:xfrm>
          <a:prstGeom prst="rect">
            <a:avLst/>
          </a:prstGeom>
          <a:noFill/>
          <a:ln/>
        </p:spPr>
        <p:txBody>
          <a:bodyPr wrap="square" lIns="0" tIns="0" rIns="0" bIns="0" rtlCol="0" anchor="t"/>
          <a:lstStyle/>
          <a:p>
            <a:pPr indent="0" marL="0">
              <a:buNone/>
            </a:pPr>
            <a:r>
              <a:rPr lang="en-US" sz="1500" b="1" dirty="0">
                <a:solidFill>
                  <a:srgbClr val="0B2B33"/>
                </a:solidFill>
              </a:rPr>
              <a:t>Input</a:t>
            </a:r>
            <a:endParaRPr lang="en-US" sz="1500" dirty="0"/>
          </a:p>
        </p:txBody>
      </p:sp>
      <p:sp>
        <p:nvSpPr>
          <p:cNvPr id="8" name="Text 6"/>
          <p:cNvSpPr txBox="1"/>
          <p:nvPr/>
        </p:nvSpPr>
        <p:spPr>
          <a:xfrm>
            <a:off x="685800" y="2377440"/>
            <a:ext cx="2240280" cy="1051560"/>
          </a:xfrm>
          <a:prstGeom prst="rect">
            <a:avLst/>
          </a:prstGeom>
          <a:noFill/>
          <a:ln/>
        </p:spPr>
        <p:txBody>
          <a:bodyPr wrap="square" lIns="0" tIns="0" rIns="0" bIns="0" rtlCol="0" anchor="t"/>
          <a:lstStyle/>
          <a:p>
            <a:pPr indent="0" marL="0">
              <a:buNone/>
            </a:pPr>
            <a:r>
              <a:rPr lang="en-US" sz="1200" dirty="0">
                <a:solidFill>
                  <a:srgbClr val="5B7479"/>
                </a:solidFill>
              </a:rPr>
              <a:t>An array of n comparable items in any order.</a:t>
            </a:r>
            <a:endParaRPr lang="en-US" sz="1200" dirty="0"/>
          </a:p>
        </p:txBody>
      </p:sp>
      <p:sp>
        <p:nvSpPr>
          <p:cNvPr id="9" name="Shape 7"/>
          <p:cNvSpPr/>
          <p:nvPr/>
        </p:nvSpPr>
        <p:spPr>
          <a:xfrm>
            <a:off x="3264408" y="1828800"/>
            <a:ext cx="2606040" cy="1737360"/>
          </a:xfrm>
          <a:prstGeom prst="rect">
            <a:avLst/>
          </a:prstGeom>
          <a:solidFill>
            <a:srgbClr val="FFFFFF"/>
          </a:solidFill>
          <a:ln w="9525">
            <a:solidFill>
              <a:srgbClr val="D5E4E6"/>
            </a:solidFill>
            <a:prstDash val="solid"/>
          </a:ln>
        </p:spPr>
      </p:sp>
      <p:sp>
        <p:nvSpPr>
          <p:cNvPr id="10" name="Shape 8"/>
          <p:cNvSpPr/>
          <p:nvPr/>
        </p:nvSpPr>
        <p:spPr>
          <a:xfrm>
            <a:off x="3264408" y="1828800"/>
            <a:ext cx="64008" cy="1737360"/>
          </a:xfrm>
          <a:prstGeom prst="rect">
            <a:avLst/>
          </a:prstGeom>
          <a:solidFill>
            <a:srgbClr val="FF7A59"/>
          </a:solidFill>
          <a:ln w="12700">
            <a:solidFill>
              <a:srgbClr val="FF7A59"/>
            </a:solidFill>
            <a:prstDash val="solid"/>
          </a:ln>
        </p:spPr>
      </p:sp>
      <p:sp>
        <p:nvSpPr>
          <p:cNvPr id="11" name="Text 9"/>
          <p:cNvSpPr txBox="1"/>
          <p:nvPr/>
        </p:nvSpPr>
        <p:spPr>
          <a:xfrm>
            <a:off x="3493008" y="1965960"/>
            <a:ext cx="2240280" cy="365760"/>
          </a:xfrm>
          <a:prstGeom prst="rect">
            <a:avLst/>
          </a:prstGeom>
          <a:noFill/>
          <a:ln/>
        </p:spPr>
        <p:txBody>
          <a:bodyPr wrap="square" lIns="0" tIns="0" rIns="0" bIns="0" rtlCol="0" anchor="t"/>
          <a:lstStyle/>
          <a:p>
            <a:pPr indent="0" marL="0">
              <a:buNone/>
            </a:pPr>
            <a:r>
              <a:rPr lang="en-US" sz="1500" b="1" dirty="0">
                <a:solidFill>
                  <a:srgbClr val="0B2B33"/>
                </a:solidFill>
              </a:rPr>
              <a:t>Output</a:t>
            </a:r>
            <a:endParaRPr lang="en-US" sz="1500" dirty="0"/>
          </a:p>
        </p:txBody>
      </p:sp>
      <p:sp>
        <p:nvSpPr>
          <p:cNvPr id="12" name="Text 10"/>
          <p:cNvSpPr txBox="1"/>
          <p:nvPr/>
        </p:nvSpPr>
        <p:spPr>
          <a:xfrm>
            <a:off x="3493008" y="2377440"/>
            <a:ext cx="2240280" cy="1051560"/>
          </a:xfrm>
          <a:prstGeom prst="rect">
            <a:avLst/>
          </a:prstGeom>
          <a:noFill/>
          <a:ln/>
        </p:spPr>
        <p:txBody>
          <a:bodyPr wrap="square" lIns="0" tIns="0" rIns="0" bIns="0" rtlCol="0" anchor="t"/>
          <a:lstStyle/>
          <a:p>
            <a:pPr indent="0" marL="0">
              <a:buNone/>
            </a:pPr>
            <a:r>
              <a:rPr lang="en-US" sz="1200" dirty="0">
                <a:solidFill>
                  <a:srgbClr val="5B7479"/>
                </a:solidFill>
              </a:rPr>
              <a:t>The same items arranged from smallest to largest.</a:t>
            </a:r>
            <a:endParaRPr lang="en-US" sz="1200" dirty="0"/>
          </a:p>
        </p:txBody>
      </p:sp>
      <p:sp>
        <p:nvSpPr>
          <p:cNvPr id="13" name="Shape 11"/>
          <p:cNvSpPr/>
          <p:nvPr/>
        </p:nvSpPr>
        <p:spPr>
          <a:xfrm>
            <a:off x="6071616" y="1828800"/>
            <a:ext cx="2606040" cy="1737360"/>
          </a:xfrm>
          <a:prstGeom prst="rect">
            <a:avLst/>
          </a:prstGeom>
          <a:solidFill>
            <a:srgbClr val="FFFFFF"/>
          </a:solidFill>
          <a:ln w="9525">
            <a:solidFill>
              <a:srgbClr val="D5E4E6"/>
            </a:solidFill>
            <a:prstDash val="solid"/>
          </a:ln>
        </p:spPr>
      </p:sp>
      <p:sp>
        <p:nvSpPr>
          <p:cNvPr id="14" name="Shape 12"/>
          <p:cNvSpPr/>
          <p:nvPr/>
        </p:nvSpPr>
        <p:spPr>
          <a:xfrm>
            <a:off x="6071616" y="1828800"/>
            <a:ext cx="64008" cy="1737360"/>
          </a:xfrm>
          <a:prstGeom prst="rect">
            <a:avLst/>
          </a:prstGeom>
          <a:solidFill>
            <a:srgbClr val="FF7A59"/>
          </a:solidFill>
          <a:ln w="12700">
            <a:solidFill>
              <a:srgbClr val="FF7A59"/>
            </a:solidFill>
            <a:prstDash val="solid"/>
          </a:ln>
        </p:spPr>
      </p:sp>
      <p:sp>
        <p:nvSpPr>
          <p:cNvPr id="15" name="Text 13"/>
          <p:cNvSpPr txBox="1"/>
          <p:nvPr/>
        </p:nvSpPr>
        <p:spPr>
          <a:xfrm>
            <a:off x="6300216" y="1965960"/>
            <a:ext cx="2240280" cy="365760"/>
          </a:xfrm>
          <a:prstGeom prst="rect">
            <a:avLst/>
          </a:prstGeom>
          <a:noFill/>
          <a:ln/>
        </p:spPr>
        <p:txBody>
          <a:bodyPr wrap="square" lIns="0" tIns="0" rIns="0" bIns="0" rtlCol="0" anchor="t"/>
          <a:lstStyle/>
          <a:p>
            <a:pPr indent="0" marL="0">
              <a:buNone/>
            </a:pPr>
            <a:r>
              <a:rPr lang="en-US" sz="1500" b="1" dirty="0">
                <a:solidFill>
                  <a:srgbClr val="0B2B33"/>
                </a:solidFill>
              </a:rPr>
              <a:t>Example</a:t>
            </a:r>
            <a:endParaRPr lang="en-US" sz="1500" dirty="0"/>
          </a:p>
        </p:txBody>
      </p:sp>
      <p:sp>
        <p:nvSpPr>
          <p:cNvPr id="16" name="Text 14"/>
          <p:cNvSpPr txBox="1"/>
          <p:nvPr/>
        </p:nvSpPr>
        <p:spPr>
          <a:xfrm>
            <a:off x="6300216" y="2377440"/>
            <a:ext cx="2240280" cy="1051560"/>
          </a:xfrm>
          <a:prstGeom prst="rect">
            <a:avLst/>
          </a:prstGeom>
          <a:noFill/>
          <a:ln/>
        </p:spPr>
        <p:txBody>
          <a:bodyPr wrap="square" lIns="0" tIns="0" rIns="0" bIns="0" rtlCol="0" anchor="t"/>
          <a:lstStyle/>
          <a:p>
            <a:pPr indent="0" marL="0">
              <a:buNone/>
            </a:pPr>
            <a:r>
              <a:rPr lang="en-US" sz="1200" dirty="0">
                <a:solidFill>
                  <a:srgbClr val="5B7479"/>
                </a:solidFill>
              </a:rPr>
              <a:t>[38, 27, 43, 3] becomes [3, 27, 38, 43].</a:t>
            </a:r>
            <a:endParaRPr lang="en-US" sz="1200" dirty="0"/>
          </a:p>
        </p:txBody>
      </p:sp>
      <p:sp>
        <p:nvSpPr>
          <p:cNvPr id="25" name="Slide Number Placeholder 0"/>
          <p:cNvSpPr>
            <a:spLocks noGrp="1"/>
          </p:cNvSpPr>
          <p:nvPr>
            <p:ph type="sldNum" sz="quarter" idx="4294967295"/>
          </p:nvPr>
        </p:nvSpPr>
        <p:spPr>
          <a:xfrm>
            <a:off x="8138160" y="4754880"/>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7479"/>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320040"/>
            <a:ext cx="5486400" cy="228600"/>
          </a:xfrm>
          <a:prstGeom prst="rect">
            <a:avLst/>
          </a:prstGeom>
          <a:noFill/>
          <a:ln/>
        </p:spPr>
        <p:txBody>
          <a:bodyPr wrap="square" lIns="0" tIns="0" rIns="0" bIns="0" rtlCol="0" anchor="ctr"/>
          <a:lstStyle/>
          <a:p>
            <a:pPr indent="0" marL="0">
              <a:buNone/>
            </a:pPr>
            <a:r>
              <a:rPr lang="en-US" sz="1000" b="1" spc="300" kern="0" dirty="0">
                <a:solidFill>
                  <a:srgbClr val="FF7A59"/>
                </a:solidFill>
              </a:rPr>
              <a:t>ORIGINS</a:t>
            </a:r>
            <a:endParaRPr lang="en-US" sz="10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600" b="1" dirty="0">
                <a:solidFill>
                  <a:srgbClr val="FFFFFF"/>
                </a:solidFill>
                <a:latin typeface="Trebuchet MS" pitchFamily="34" charset="0"/>
                <a:ea typeface="Trebuchet MS" pitchFamily="34" charset="-122"/>
                <a:cs typeface="Trebuchet MS" pitchFamily="34" charset="-120"/>
              </a:rPr>
              <a:t>John von Neumann</a:t>
            </a:r>
            <a:endParaRPr lang="en-US" sz="2600" dirty="0"/>
          </a:p>
        </p:txBody>
      </p:sp>
      <p:sp>
        <p:nvSpPr>
          <p:cNvPr id="4" name="Text 2"/>
          <p:cNvSpPr txBox="1"/>
          <p:nvPr/>
        </p:nvSpPr>
        <p:spPr>
          <a:xfrm>
            <a:off x="457200" y="1188720"/>
            <a:ext cx="7315200" cy="502920"/>
          </a:xfrm>
          <a:prstGeom prst="rect">
            <a:avLst/>
          </a:prstGeom>
          <a:noFill/>
          <a:ln/>
        </p:spPr>
        <p:txBody>
          <a:bodyPr wrap="square" lIns="0" tIns="0" rIns="0" bIns="0" rtlCol="0" anchor="ctr"/>
          <a:lstStyle/>
          <a:p>
            <a:pPr indent="0" marL="0">
              <a:buNone/>
            </a:pPr>
            <a:r>
              <a:rPr lang="en-US" sz="1400" dirty="0">
                <a:solidFill>
                  <a:srgbClr val="A9C4C8"/>
                </a:solidFill>
              </a:rPr>
              <a:t>A Hungarian-American mathematician (1903–1957) who devised merge sort for early stored-program computers.</a:t>
            </a:r>
            <a:endParaRPr lang="en-US" sz="1400" dirty="0"/>
          </a:p>
        </p:txBody>
      </p:sp>
      <p:sp>
        <p:nvSpPr>
          <p:cNvPr id="5" name="Shape 3"/>
          <p:cNvSpPr/>
          <p:nvPr/>
        </p:nvSpPr>
        <p:spPr>
          <a:xfrm>
            <a:off x="457200" y="2011680"/>
            <a:ext cx="2606040" cy="1737360"/>
          </a:xfrm>
          <a:prstGeom prst="rect">
            <a:avLst/>
          </a:prstGeom>
          <a:solidFill>
            <a:srgbClr val="123F4A"/>
          </a:solidFill>
          <a:ln w="12700">
            <a:solidFill>
              <a:srgbClr val="123F4A"/>
            </a:solidFill>
            <a:prstDash val="solid"/>
          </a:ln>
        </p:spPr>
      </p:sp>
      <p:sp>
        <p:nvSpPr>
          <p:cNvPr id="6" name="Text 4"/>
          <p:cNvSpPr txBox="1"/>
          <p:nvPr/>
        </p:nvSpPr>
        <p:spPr>
          <a:xfrm>
            <a:off x="640080" y="2148840"/>
            <a:ext cx="2194560" cy="548640"/>
          </a:xfrm>
          <a:prstGeom prst="rect">
            <a:avLst/>
          </a:prstGeom>
          <a:noFill/>
          <a:ln/>
        </p:spPr>
        <p:txBody>
          <a:bodyPr wrap="square" lIns="0" tIns="0" rIns="0" bIns="0" rtlCol="0" anchor="ctr"/>
          <a:lstStyle/>
          <a:p>
            <a:pPr indent="0" marL="0">
              <a:buNone/>
            </a:pPr>
            <a:r>
              <a:rPr lang="en-US" sz="3000" b="1" dirty="0">
                <a:solidFill>
                  <a:srgbClr val="FF7A59"/>
                </a:solidFill>
                <a:latin typeface="Trebuchet MS" pitchFamily="34" charset="0"/>
                <a:ea typeface="Trebuchet MS" pitchFamily="34" charset="-122"/>
                <a:cs typeface="Trebuchet MS" pitchFamily="34" charset="-120"/>
              </a:rPr>
              <a:t>1945</a:t>
            </a:r>
            <a:endParaRPr lang="en-US" sz="3000" dirty="0"/>
          </a:p>
        </p:txBody>
      </p:sp>
      <p:sp>
        <p:nvSpPr>
          <p:cNvPr id="7" name="Text 5"/>
          <p:cNvSpPr txBox="1"/>
          <p:nvPr/>
        </p:nvSpPr>
        <p:spPr>
          <a:xfrm>
            <a:off x="640080" y="2743200"/>
            <a:ext cx="2240280" cy="914400"/>
          </a:xfrm>
          <a:prstGeom prst="rect">
            <a:avLst/>
          </a:prstGeom>
          <a:noFill/>
          <a:ln/>
        </p:spPr>
        <p:txBody>
          <a:bodyPr wrap="square" lIns="0" tIns="0" rIns="0" bIns="0" rtlCol="0" anchor="t"/>
          <a:lstStyle/>
          <a:p>
            <a:pPr indent="0" marL="0">
              <a:buNone/>
            </a:pPr>
            <a:r>
              <a:rPr lang="en-US" sz="1200" dirty="0">
                <a:solidFill>
                  <a:srgbClr val="FFFFFF"/>
                </a:solidFill>
              </a:rPr>
              <a:t>Von Neumann devises merge sort while working on the EDVAC computer design.</a:t>
            </a:r>
            <a:endParaRPr lang="en-US" sz="1200" dirty="0"/>
          </a:p>
        </p:txBody>
      </p:sp>
      <p:sp>
        <p:nvSpPr>
          <p:cNvPr id="8" name="Shape 6"/>
          <p:cNvSpPr/>
          <p:nvPr/>
        </p:nvSpPr>
        <p:spPr>
          <a:xfrm>
            <a:off x="3264408" y="2011680"/>
            <a:ext cx="2606040" cy="1737360"/>
          </a:xfrm>
          <a:prstGeom prst="rect">
            <a:avLst/>
          </a:prstGeom>
          <a:solidFill>
            <a:srgbClr val="123F4A"/>
          </a:solidFill>
          <a:ln w="12700">
            <a:solidFill>
              <a:srgbClr val="123F4A"/>
            </a:solidFill>
            <a:prstDash val="solid"/>
          </a:ln>
        </p:spPr>
      </p:sp>
      <p:sp>
        <p:nvSpPr>
          <p:cNvPr id="9" name="Text 7"/>
          <p:cNvSpPr txBox="1"/>
          <p:nvPr/>
        </p:nvSpPr>
        <p:spPr>
          <a:xfrm>
            <a:off x="3447288" y="2148840"/>
            <a:ext cx="2194560" cy="548640"/>
          </a:xfrm>
          <a:prstGeom prst="rect">
            <a:avLst/>
          </a:prstGeom>
          <a:noFill/>
          <a:ln/>
        </p:spPr>
        <p:txBody>
          <a:bodyPr wrap="square" lIns="0" tIns="0" rIns="0" bIns="0" rtlCol="0" anchor="ctr"/>
          <a:lstStyle/>
          <a:p>
            <a:pPr indent="0" marL="0">
              <a:buNone/>
            </a:pPr>
            <a:r>
              <a:rPr lang="en-US" sz="3000" b="1" dirty="0">
                <a:solidFill>
                  <a:srgbClr val="FF7A59"/>
                </a:solidFill>
                <a:latin typeface="Trebuchet MS" pitchFamily="34" charset="0"/>
                <a:ea typeface="Trebuchet MS" pitchFamily="34" charset="-122"/>
                <a:cs typeface="Trebuchet MS" pitchFamily="34" charset="-120"/>
              </a:rPr>
              <a:t>1948</a:t>
            </a:r>
            <a:endParaRPr lang="en-US" sz="3000" dirty="0"/>
          </a:p>
        </p:txBody>
      </p:sp>
      <p:sp>
        <p:nvSpPr>
          <p:cNvPr id="10" name="Text 8"/>
          <p:cNvSpPr txBox="1"/>
          <p:nvPr/>
        </p:nvSpPr>
        <p:spPr>
          <a:xfrm>
            <a:off x="3447288" y="2743200"/>
            <a:ext cx="2240280" cy="914400"/>
          </a:xfrm>
          <a:prstGeom prst="rect">
            <a:avLst/>
          </a:prstGeom>
          <a:noFill/>
          <a:ln/>
        </p:spPr>
        <p:txBody>
          <a:bodyPr wrap="square" lIns="0" tIns="0" rIns="0" bIns="0" rtlCol="0" anchor="t"/>
          <a:lstStyle/>
          <a:p>
            <a:pPr indent="0" marL="0">
              <a:buNone/>
            </a:pPr>
            <a:r>
              <a:rPr lang="en-US" sz="1200" dirty="0">
                <a:solidFill>
                  <a:srgbClr val="FFFFFF"/>
                </a:solidFill>
              </a:rPr>
              <a:t>Goldstine and von Neumann describe a bottom-up version in a report.</a:t>
            </a:r>
            <a:endParaRPr lang="en-US" sz="1200" dirty="0"/>
          </a:p>
        </p:txBody>
      </p:sp>
      <p:sp>
        <p:nvSpPr>
          <p:cNvPr id="11" name="Shape 9"/>
          <p:cNvSpPr/>
          <p:nvPr/>
        </p:nvSpPr>
        <p:spPr>
          <a:xfrm>
            <a:off x="6071616" y="2011680"/>
            <a:ext cx="2606040" cy="1737360"/>
          </a:xfrm>
          <a:prstGeom prst="rect">
            <a:avLst/>
          </a:prstGeom>
          <a:solidFill>
            <a:srgbClr val="123F4A"/>
          </a:solidFill>
          <a:ln w="12700">
            <a:solidFill>
              <a:srgbClr val="123F4A"/>
            </a:solidFill>
            <a:prstDash val="solid"/>
          </a:ln>
        </p:spPr>
      </p:sp>
      <p:sp>
        <p:nvSpPr>
          <p:cNvPr id="12" name="Text 10"/>
          <p:cNvSpPr txBox="1"/>
          <p:nvPr/>
        </p:nvSpPr>
        <p:spPr>
          <a:xfrm>
            <a:off x="6254496" y="2148840"/>
            <a:ext cx="2194560" cy="548640"/>
          </a:xfrm>
          <a:prstGeom prst="rect">
            <a:avLst/>
          </a:prstGeom>
          <a:noFill/>
          <a:ln/>
        </p:spPr>
        <p:txBody>
          <a:bodyPr wrap="square" lIns="0" tIns="0" rIns="0" bIns="0" rtlCol="0" anchor="ctr"/>
          <a:lstStyle/>
          <a:p>
            <a:pPr indent="0" marL="0">
              <a:buNone/>
            </a:pPr>
            <a:r>
              <a:rPr lang="en-US" sz="3000" b="1" dirty="0">
                <a:solidFill>
                  <a:srgbClr val="FF7A59"/>
                </a:solidFill>
                <a:latin typeface="Trebuchet MS" pitchFamily="34" charset="0"/>
                <a:ea typeface="Trebuchet MS" pitchFamily="34" charset="-122"/>
                <a:cs typeface="Trebuchet MS" pitchFamily="34" charset="-120"/>
              </a:rPr>
              <a:t>2002</a:t>
            </a:r>
            <a:endParaRPr lang="en-US" sz="3000" dirty="0"/>
          </a:p>
        </p:txBody>
      </p:sp>
      <p:sp>
        <p:nvSpPr>
          <p:cNvPr id="13" name="Text 11"/>
          <p:cNvSpPr txBox="1"/>
          <p:nvPr/>
        </p:nvSpPr>
        <p:spPr>
          <a:xfrm>
            <a:off x="6254496" y="2743200"/>
            <a:ext cx="2240280" cy="914400"/>
          </a:xfrm>
          <a:prstGeom prst="rect">
            <a:avLst/>
          </a:prstGeom>
          <a:noFill/>
          <a:ln/>
        </p:spPr>
        <p:txBody>
          <a:bodyPr wrap="square" lIns="0" tIns="0" rIns="0" bIns="0" rtlCol="0" anchor="t"/>
          <a:lstStyle/>
          <a:p>
            <a:pPr indent="0" marL="0">
              <a:buNone/>
            </a:pPr>
            <a:r>
              <a:rPr lang="en-US" sz="1200" dirty="0">
                <a:solidFill>
                  <a:srgbClr val="FFFFFF"/>
                </a:solidFill>
              </a:rPr>
              <a:t>Tim Peters builds Timsort for Python, a hybrid built around merging.</a:t>
            </a:r>
            <a:endParaRPr lang="en-US" sz="1200" dirty="0"/>
          </a:p>
        </p:txBody>
      </p:sp>
      <p:sp>
        <p:nvSpPr>
          <p:cNvPr id="25" name="Slide Number Placeholder 0"/>
          <p:cNvSpPr>
            <a:spLocks noGrp="1"/>
          </p:cNvSpPr>
          <p:nvPr>
            <p:ph type="sldNum" sz="quarter" idx="4294967295"/>
          </p:nvPr>
        </p:nvSpPr>
        <p:spPr>
          <a:xfrm>
            <a:off x="8138160" y="4754880"/>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A9C4C8"/>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7A59"/>
        </a:solidFill>
      </p:bgPr>
    </p:bg>
    <p:spTree>
      <p:nvGrpSpPr>
        <p:cNvPr id="1" name=""/>
        <p:cNvGrpSpPr/>
        <p:nvPr/>
      </p:nvGrpSpPr>
      <p:grpSpPr>
        <a:xfrm>
          <a:off x="0" y="0"/>
          <a:ext cx="0" cy="0"/>
          <a:chOff x="0" y="0"/>
          <a:chExt cx="0" cy="0"/>
        </a:xfrm>
      </p:grpSpPr>
      <p:sp>
        <p:nvSpPr>
          <p:cNvPr id="2" name="Text 0"/>
          <p:cNvSpPr txBox="1"/>
          <p:nvPr/>
        </p:nvSpPr>
        <p:spPr>
          <a:xfrm>
            <a:off x="640080" y="1005840"/>
            <a:ext cx="5486400" cy="274320"/>
          </a:xfrm>
          <a:prstGeom prst="rect">
            <a:avLst/>
          </a:prstGeom>
          <a:noFill/>
          <a:ln/>
        </p:spPr>
        <p:txBody>
          <a:bodyPr wrap="square" lIns="0" tIns="0" rIns="0" bIns="0" rtlCol="0" anchor="ctr"/>
          <a:lstStyle/>
          <a:p>
            <a:pPr indent="0" marL="0">
              <a:buNone/>
            </a:pPr>
            <a:r>
              <a:rPr lang="en-US" sz="1100" b="1" spc="300" kern="0" dirty="0">
                <a:solidFill>
                  <a:srgbClr val="0B2B33"/>
                </a:solidFill>
              </a:rPr>
              <a:t>THE CORE IDEA</a:t>
            </a:r>
            <a:endParaRPr lang="en-US" sz="1100" dirty="0"/>
          </a:p>
        </p:txBody>
      </p:sp>
      <p:sp>
        <p:nvSpPr>
          <p:cNvPr id="3" name="Text 1"/>
          <p:cNvSpPr txBox="1"/>
          <p:nvPr/>
        </p:nvSpPr>
        <p:spPr>
          <a:xfrm>
            <a:off x="640080" y="1371600"/>
            <a:ext cx="7680960" cy="1097280"/>
          </a:xfrm>
          <a:prstGeom prst="rect">
            <a:avLst/>
          </a:prstGeom>
          <a:noFill/>
          <a:ln/>
        </p:spPr>
        <p:txBody>
          <a:bodyPr wrap="square" lIns="0" tIns="0" rIns="0" bIns="0" rtlCol="0" anchor="t"/>
          <a:lstStyle/>
          <a:p>
            <a:pPr indent="0" marL="0">
              <a:buNone/>
            </a:pPr>
            <a:r>
              <a:rPr lang="en-US" sz="3400" b="1" dirty="0">
                <a:solidFill>
                  <a:srgbClr val="0B2B33"/>
                </a:solidFill>
                <a:latin typeface="Trebuchet MS" pitchFamily="34" charset="0"/>
                <a:ea typeface="Trebuchet MS" pitchFamily="34" charset="-122"/>
                <a:cs typeface="Trebuchet MS" pitchFamily="34" charset="-120"/>
              </a:rPr>
              <a:t>Split in half, sort each half, then merge.</a:t>
            </a:r>
            <a:endParaRPr lang="en-US" sz="3400" dirty="0"/>
          </a:p>
        </p:txBody>
      </p:sp>
      <p:sp>
        <p:nvSpPr>
          <p:cNvPr id="4" name="Text 2"/>
          <p:cNvSpPr txBox="1"/>
          <p:nvPr/>
        </p:nvSpPr>
        <p:spPr>
          <a:xfrm>
            <a:off x="640080" y="2606040"/>
            <a:ext cx="7315200" cy="640080"/>
          </a:xfrm>
          <a:prstGeom prst="rect">
            <a:avLst/>
          </a:prstGeom>
          <a:noFill/>
          <a:ln/>
        </p:spPr>
        <p:txBody>
          <a:bodyPr wrap="square" lIns="0" tIns="0" rIns="0" bIns="0" rtlCol="0" anchor="t"/>
          <a:lstStyle/>
          <a:p>
            <a:pPr indent="0" marL="0">
              <a:buNone/>
            </a:pPr>
            <a:r>
              <a:rPr lang="en-US" sz="1500" dirty="0">
                <a:solidFill>
                  <a:srgbClr val="0B2B33"/>
                </a:solidFill>
              </a:rPr>
              <a:t>Merging two already sorted lists is simple and fast, so the work reduces to splitting until every piece has one item.</a:t>
            </a:r>
            <a:endParaRPr lang="en-US" sz="1500" dirty="0"/>
          </a:p>
        </p:txBody>
      </p:sp>
      <p:sp>
        <p:nvSpPr>
          <p:cNvPr id="5" name="Shape 3"/>
          <p:cNvSpPr/>
          <p:nvPr/>
        </p:nvSpPr>
        <p:spPr>
          <a:xfrm>
            <a:off x="640080" y="3429000"/>
            <a:ext cx="2011680" cy="365760"/>
          </a:xfrm>
          <a:prstGeom prst="roundRect">
            <a:avLst>
              <a:gd name="adj" fmla="val 50000"/>
            </a:avLst>
          </a:prstGeom>
          <a:solidFill>
            <a:srgbClr val="0B2B33"/>
          </a:solidFill>
          <a:ln w="12700">
            <a:solidFill>
              <a:srgbClr val="0B2B33"/>
            </a:solidFill>
            <a:prstDash val="solid"/>
          </a:ln>
        </p:spPr>
      </p:sp>
      <p:sp>
        <p:nvSpPr>
          <p:cNvPr id="6" name="Text 4"/>
          <p:cNvSpPr txBox="1"/>
          <p:nvPr/>
        </p:nvSpPr>
        <p:spPr>
          <a:xfrm>
            <a:off x="640080" y="3429000"/>
            <a:ext cx="2011680" cy="365760"/>
          </a:xfrm>
          <a:prstGeom prst="rect">
            <a:avLst/>
          </a:prstGeom>
          <a:noFill/>
          <a:ln/>
        </p:spPr>
        <p:txBody>
          <a:bodyPr wrap="square" lIns="0" tIns="0" rIns="0" bIns="0" rtlCol="0" anchor="ctr"/>
          <a:lstStyle/>
          <a:p>
            <a:pPr algn="ctr" indent="0" marL="0">
              <a:buNone/>
            </a:pPr>
            <a:r>
              <a:rPr lang="en-US" sz="1200" b="1" dirty="0">
                <a:solidFill>
                  <a:srgbClr val="FFFFFF"/>
                </a:solidFill>
              </a:rPr>
              <a:t>Divide and conquer</a:t>
            </a:r>
            <a:endParaRPr lang="en-US" sz="1200" dirty="0"/>
          </a:p>
        </p:txBody>
      </p:sp>
      <p:sp>
        <p:nvSpPr>
          <p:cNvPr id="7" name="Shape 5"/>
          <p:cNvSpPr/>
          <p:nvPr/>
        </p:nvSpPr>
        <p:spPr>
          <a:xfrm>
            <a:off x="2788920" y="3429000"/>
            <a:ext cx="2286000" cy="365760"/>
          </a:xfrm>
          <a:prstGeom prst="roundRect">
            <a:avLst>
              <a:gd name="adj" fmla="val 50000"/>
            </a:avLst>
          </a:prstGeom>
          <a:solidFill>
            <a:srgbClr val="0B2B33"/>
          </a:solidFill>
          <a:ln w="12700">
            <a:solidFill>
              <a:srgbClr val="0B2B33"/>
            </a:solidFill>
            <a:prstDash val="solid"/>
          </a:ln>
        </p:spPr>
      </p:sp>
      <p:sp>
        <p:nvSpPr>
          <p:cNvPr id="8" name="Text 6"/>
          <p:cNvSpPr txBox="1"/>
          <p:nvPr/>
        </p:nvSpPr>
        <p:spPr>
          <a:xfrm>
            <a:off x="2788920" y="3429000"/>
            <a:ext cx="2286000" cy="365760"/>
          </a:xfrm>
          <a:prstGeom prst="rect">
            <a:avLst/>
          </a:prstGeom>
          <a:noFill/>
          <a:ln/>
        </p:spPr>
        <p:txBody>
          <a:bodyPr wrap="square" lIns="0" tIns="0" rIns="0" bIns="0" rtlCol="0" anchor="ctr"/>
          <a:lstStyle/>
          <a:p>
            <a:pPr algn="ctr" indent="0" marL="0">
              <a:buNone/>
            </a:pPr>
            <a:r>
              <a:rPr lang="en-US" sz="1200" b="1" dirty="0">
                <a:solidFill>
                  <a:srgbClr val="FFFFFF"/>
                </a:solidFill>
              </a:rPr>
              <a:t>Merging sorted halves</a:t>
            </a:r>
            <a:endParaRPr lang="en-US" sz="1200" dirty="0"/>
          </a:p>
        </p:txBody>
      </p:sp>
      <p:sp>
        <p:nvSpPr>
          <p:cNvPr id="25" name="Slide Number Placeholder 0"/>
          <p:cNvSpPr>
            <a:spLocks noGrp="1"/>
          </p:cNvSpPr>
          <p:nvPr>
            <p:ph type="sldNum" sz="quarter" idx="4294967295"/>
          </p:nvPr>
        </p:nvSpPr>
        <p:spPr>
          <a:xfrm>
            <a:off x="8138160" y="4754880"/>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7479"/>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320040"/>
            <a:ext cx="5486400" cy="228600"/>
          </a:xfrm>
          <a:prstGeom prst="rect">
            <a:avLst/>
          </a:prstGeom>
          <a:noFill/>
          <a:ln/>
        </p:spPr>
        <p:txBody>
          <a:bodyPr wrap="square" lIns="0" tIns="0" rIns="0" bIns="0" rtlCol="0" anchor="ctr"/>
          <a:lstStyle/>
          <a:p>
            <a:pPr indent="0" marL="0">
              <a:buNone/>
            </a:pPr>
            <a:r>
              <a:rPr lang="en-US" sz="1000" b="1" spc="300" kern="0" dirty="0">
                <a:solidFill>
                  <a:srgbClr val="14808A"/>
                </a:solidFill>
              </a:rPr>
              <a:t>HOW IT WORKS</a:t>
            </a:r>
            <a:endParaRPr lang="en-US" sz="10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600" b="1" dirty="0">
                <a:solidFill>
                  <a:srgbClr val="0B2B33"/>
                </a:solidFill>
                <a:latin typeface="Trebuchet MS" pitchFamily="34" charset="0"/>
                <a:ea typeface="Trebuchet MS" pitchFamily="34" charset="-122"/>
                <a:cs typeface="Trebuchet MS" pitchFamily="34" charset="-120"/>
              </a:rPr>
              <a:t>The algorithm in four steps</a:t>
            </a:r>
            <a:endParaRPr lang="en-US" sz="2600" dirty="0"/>
          </a:p>
        </p:txBody>
      </p:sp>
      <p:sp>
        <p:nvSpPr>
          <p:cNvPr id="4" name="Shape 2"/>
          <p:cNvSpPr/>
          <p:nvPr/>
        </p:nvSpPr>
        <p:spPr>
          <a:xfrm>
            <a:off x="457200" y="1554480"/>
            <a:ext cx="1965960" cy="2194560"/>
          </a:xfrm>
          <a:prstGeom prst="rect">
            <a:avLst/>
          </a:prstGeom>
          <a:solidFill>
            <a:srgbClr val="FFFFFF"/>
          </a:solidFill>
          <a:ln w="9525">
            <a:solidFill>
              <a:srgbClr val="D5E4E6"/>
            </a:solidFill>
            <a:prstDash val="solid"/>
          </a:ln>
        </p:spPr>
      </p:sp>
      <p:sp>
        <p:nvSpPr>
          <p:cNvPr id="5" name="Text 3"/>
          <p:cNvSpPr txBox="1"/>
          <p:nvPr/>
        </p:nvSpPr>
        <p:spPr>
          <a:xfrm>
            <a:off x="640080" y="1691640"/>
            <a:ext cx="1554480" cy="457200"/>
          </a:xfrm>
          <a:prstGeom prst="rect">
            <a:avLst/>
          </a:prstGeom>
          <a:noFill/>
          <a:ln/>
        </p:spPr>
        <p:txBody>
          <a:bodyPr wrap="square" lIns="0" tIns="0" rIns="0" bIns="0" rtlCol="0" anchor="ctr"/>
          <a:lstStyle/>
          <a:p>
            <a:pPr indent="0" marL="0">
              <a:buNone/>
            </a:pPr>
            <a:r>
              <a:rPr lang="en-US" sz="2800" b="1" dirty="0">
                <a:solidFill>
                  <a:srgbClr val="FF7A59"/>
                </a:solidFill>
                <a:latin typeface="Trebuchet MS" pitchFamily="34" charset="0"/>
                <a:ea typeface="Trebuchet MS" pitchFamily="34" charset="-122"/>
                <a:cs typeface="Trebuchet MS" pitchFamily="34" charset="-120"/>
              </a:rPr>
              <a:t>1</a:t>
            </a:r>
            <a:endParaRPr lang="en-US" sz="2800" dirty="0"/>
          </a:p>
        </p:txBody>
      </p:sp>
      <p:sp>
        <p:nvSpPr>
          <p:cNvPr id="6" name="Text 4"/>
          <p:cNvSpPr txBox="1"/>
          <p:nvPr/>
        </p:nvSpPr>
        <p:spPr>
          <a:xfrm>
            <a:off x="640080" y="2194560"/>
            <a:ext cx="1645920" cy="320040"/>
          </a:xfrm>
          <a:prstGeom prst="rect">
            <a:avLst/>
          </a:prstGeom>
          <a:noFill/>
          <a:ln/>
        </p:spPr>
        <p:txBody>
          <a:bodyPr wrap="square" lIns="0" tIns="0" rIns="0" bIns="0" rtlCol="0" anchor="ctr"/>
          <a:lstStyle/>
          <a:p>
            <a:pPr indent="0" marL="0">
              <a:buNone/>
            </a:pPr>
            <a:r>
              <a:rPr lang="en-US" sz="1500" b="1" dirty="0">
                <a:solidFill>
                  <a:srgbClr val="0B2B33"/>
                </a:solidFill>
              </a:rPr>
              <a:t>Divide</a:t>
            </a:r>
            <a:endParaRPr lang="en-US" sz="1500" dirty="0"/>
          </a:p>
        </p:txBody>
      </p:sp>
      <p:sp>
        <p:nvSpPr>
          <p:cNvPr id="7" name="Text 5"/>
          <p:cNvSpPr txBox="1"/>
          <p:nvPr/>
        </p:nvSpPr>
        <p:spPr>
          <a:xfrm>
            <a:off x="640080" y="2560320"/>
            <a:ext cx="1645920" cy="1097280"/>
          </a:xfrm>
          <a:prstGeom prst="rect">
            <a:avLst/>
          </a:prstGeom>
          <a:noFill/>
          <a:ln/>
        </p:spPr>
        <p:txBody>
          <a:bodyPr wrap="square" lIns="0" tIns="0" rIns="0" bIns="0" rtlCol="0" anchor="t"/>
          <a:lstStyle/>
          <a:p>
            <a:pPr indent="0" marL="0">
              <a:buNone/>
            </a:pPr>
            <a:r>
              <a:rPr lang="en-US" sz="1150" dirty="0">
                <a:solidFill>
                  <a:srgbClr val="5B7479"/>
                </a:solidFill>
              </a:rPr>
              <a:t>Find the middle and split the array into a left half and a right half.</a:t>
            </a:r>
            <a:endParaRPr lang="en-US" sz="1150" dirty="0"/>
          </a:p>
        </p:txBody>
      </p:sp>
      <p:sp>
        <p:nvSpPr>
          <p:cNvPr id="8" name="Shape 6"/>
          <p:cNvSpPr/>
          <p:nvPr/>
        </p:nvSpPr>
        <p:spPr>
          <a:xfrm>
            <a:off x="2560320" y="1554480"/>
            <a:ext cx="1965960" cy="2194560"/>
          </a:xfrm>
          <a:prstGeom prst="rect">
            <a:avLst/>
          </a:prstGeom>
          <a:solidFill>
            <a:srgbClr val="FFFFFF"/>
          </a:solidFill>
          <a:ln w="9525">
            <a:solidFill>
              <a:srgbClr val="D5E4E6"/>
            </a:solidFill>
            <a:prstDash val="solid"/>
          </a:ln>
        </p:spPr>
      </p:sp>
      <p:sp>
        <p:nvSpPr>
          <p:cNvPr id="9" name="Text 7"/>
          <p:cNvSpPr txBox="1"/>
          <p:nvPr/>
        </p:nvSpPr>
        <p:spPr>
          <a:xfrm>
            <a:off x="2743200" y="1691640"/>
            <a:ext cx="1554480" cy="457200"/>
          </a:xfrm>
          <a:prstGeom prst="rect">
            <a:avLst/>
          </a:prstGeom>
          <a:noFill/>
          <a:ln/>
        </p:spPr>
        <p:txBody>
          <a:bodyPr wrap="square" lIns="0" tIns="0" rIns="0" bIns="0" rtlCol="0" anchor="ctr"/>
          <a:lstStyle/>
          <a:p>
            <a:pPr indent="0" marL="0">
              <a:buNone/>
            </a:pPr>
            <a:r>
              <a:rPr lang="en-US" sz="2800" b="1" dirty="0">
                <a:solidFill>
                  <a:srgbClr val="FF7A59"/>
                </a:solidFill>
                <a:latin typeface="Trebuchet MS" pitchFamily="34" charset="0"/>
                <a:ea typeface="Trebuchet MS" pitchFamily="34" charset="-122"/>
                <a:cs typeface="Trebuchet MS" pitchFamily="34" charset="-120"/>
              </a:rPr>
              <a:t>2</a:t>
            </a:r>
            <a:endParaRPr lang="en-US" sz="2800" dirty="0"/>
          </a:p>
        </p:txBody>
      </p:sp>
      <p:sp>
        <p:nvSpPr>
          <p:cNvPr id="10" name="Text 8"/>
          <p:cNvSpPr txBox="1"/>
          <p:nvPr/>
        </p:nvSpPr>
        <p:spPr>
          <a:xfrm>
            <a:off x="2743200" y="2194560"/>
            <a:ext cx="1645920" cy="320040"/>
          </a:xfrm>
          <a:prstGeom prst="rect">
            <a:avLst/>
          </a:prstGeom>
          <a:noFill/>
          <a:ln/>
        </p:spPr>
        <p:txBody>
          <a:bodyPr wrap="square" lIns="0" tIns="0" rIns="0" bIns="0" rtlCol="0" anchor="ctr"/>
          <a:lstStyle/>
          <a:p>
            <a:pPr indent="0" marL="0">
              <a:buNone/>
            </a:pPr>
            <a:r>
              <a:rPr lang="en-US" sz="1500" b="1" dirty="0">
                <a:solidFill>
                  <a:srgbClr val="0B2B33"/>
                </a:solidFill>
              </a:rPr>
              <a:t>Conquer</a:t>
            </a:r>
            <a:endParaRPr lang="en-US" sz="1500" dirty="0"/>
          </a:p>
        </p:txBody>
      </p:sp>
      <p:sp>
        <p:nvSpPr>
          <p:cNvPr id="11" name="Text 9"/>
          <p:cNvSpPr txBox="1"/>
          <p:nvPr/>
        </p:nvSpPr>
        <p:spPr>
          <a:xfrm>
            <a:off x="2743200" y="2560320"/>
            <a:ext cx="1645920" cy="1097280"/>
          </a:xfrm>
          <a:prstGeom prst="rect">
            <a:avLst/>
          </a:prstGeom>
          <a:noFill/>
          <a:ln/>
        </p:spPr>
        <p:txBody>
          <a:bodyPr wrap="square" lIns="0" tIns="0" rIns="0" bIns="0" rtlCol="0" anchor="t"/>
          <a:lstStyle/>
          <a:p>
            <a:pPr indent="0" marL="0">
              <a:buNone/>
            </a:pPr>
            <a:r>
              <a:rPr lang="en-US" sz="1150" dirty="0">
                <a:solidFill>
                  <a:srgbClr val="5B7479"/>
                </a:solidFill>
              </a:rPr>
              <a:t>Recursively sort the left half and the right half.</a:t>
            </a:r>
            <a:endParaRPr lang="en-US" sz="1150" dirty="0"/>
          </a:p>
        </p:txBody>
      </p:sp>
      <p:sp>
        <p:nvSpPr>
          <p:cNvPr id="12" name="Shape 10"/>
          <p:cNvSpPr/>
          <p:nvPr/>
        </p:nvSpPr>
        <p:spPr>
          <a:xfrm>
            <a:off x="4663440" y="1554480"/>
            <a:ext cx="1965960" cy="2194560"/>
          </a:xfrm>
          <a:prstGeom prst="rect">
            <a:avLst/>
          </a:prstGeom>
          <a:solidFill>
            <a:srgbClr val="FFFFFF"/>
          </a:solidFill>
          <a:ln w="9525">
            <a:solidFill>
              <a:srgbClr val="D5E4E6"/>
            </a:solidFill>
            <a:prstDash val="solid"/>
          </a:ln>
        </p:spPr>
      </p:sp>
      <p:sp>
        <p:nvSpPr>
          <p:cNvPr id="13" name="Text 11"/>
          <p:cNvSpPr txBox="1"/>
          <p:nvPr/>
        </p:nvSpPr>
        <p:spPr>
          <a:xfrm>
            <a:off x="4846320" y="1691640"/>
            <a:ext cx="1554480" cy="457200"/>
          </a:xfrm>
          <a:prstGeom prst="rect">
            <a:avLst/>
          </a:prstGeom>
          <a:noFill/>
          <a:ln/>
        </p:spPr>
        <p:txBody>
          <a:bodyPr wrap="square" lIns="0" tIns="0" rIns="0" bIns="0" rtlCol="0" anchor="ctr"/>
          <a:lstStyle/>
          <a:p>
            <a:pPr indent="0" marL="0">
              <a:buNone/>
            </a:pPr>
            <a:r>
              <a:rPr lang="en-US" sz="2800" b="1" dirty="0">
                <a:solidFill>
                  <a:srgbClr val="FF7A59"/>
                </a:solidFill>
                <a:latin typeface="Trebuchet MS" pitchFamily="34" charset="0"/>
                <a:ea typeface="Trebuchet MS" pitchFamily="34" charset="-122"/>
                <a:cs typeface="Trebuchet MS" pitchFamily="34" charset="-120"/>
              </a:rPr>
              <a:t>3</a:t>
            </a:r>
            <a:endParaRPr lang="en-US" sz="2800" dirty="0"/>
          </a:p>
        </p:txBody>
      </p:sp>
      <p:sp>
        <p:nvSpPr>
          <p:cNvPr id="14" name="Text 12"/>
          <p:cNvSpPr txBox="1"/>
          <p:nvPr/>
        </p:nvSpPr>
        <p:spPr>
          <a:xfrm>
            <a:off x="4846320" y="2194560"/>
            <a:ext cx="1645920" cy="320040"/>
          </a:xfrm>
          <a:prstGeom prst="rect">
            <a:avLst/>
          </a:prstGeom>
          <a:noFill/>
          <a:ln/>
        </p:spPr>
        <p:txBody>
          <a:bodyPr wrap="square" lIns="0" tIns="0" rIns="0" bIns="0" rtlCol="0" anchor="ctr"/>
          <a:lstStyle/>
          <a:p>
            <a:pPr indent="0" marL="0">
              <a:buNone/>
            </a:pPr>
            <a:r>
              <a:rPr lang="en-US" sz="1500" b="1" dirty="0">
                <a:solidFill>
                  <a:srgbClr val="0B2B33"/>
                </a:solidFill>
              </a:rPr>
              <a:t>Merge</a:t>
            </a:r>
            <a:endParaRPr lang="en-US" sz="1500" dirty="0"/>
          </a:p>
        </p:txBody>
      </p:sp>
      <p:sp>
        <p:nvSpPr>
          <p:cNvPr id="15" name="Text 13"/>
          <p:cNvSpPr txBox="1"/>
          <p:nvPr/>
        </p:nvSpPr>
        <p:spPr>
          <a:xfrm>
            <a:off x="4846320" y="2560320"/>
            <a:ext cx="1645920" cy="1097280"/>
          </a:xfrm>
          <a:prstGeom prst="rect">
            <a:avLst/>
          </a:prstGeom>
          <a:noFill/>
          <a:ln/>
        </p:spPr>
        <p:txBody>
          <a:bodyPr wrap="square" lIns="0" tIns="0" rIns="0" bIns="0" rtlCol="0" anchor="t"/>
          <a:lstStyle/>
          <a:p>
            <a:pPr indent="0" marL="0">
              <a:buNone/>
            </a:pPr>
            <a:r>
              <a:rPr lang="en-US" sz="1150" dirty="0">
                <a:solidFill>
                  <a:srgbClr val="5B7479"/>
                </a:solidFill>
              </a:rPr>
              <a:t>Combine the two sorted halves by repeatedly taking the smaller front item.</a:t>
            </a:r>
            <a:endParaRPr lang="en-US" sz="1150" dirty="0"/>
          </a:p>
        </p:txBody>
      </p:sp>
      <p:sp>
        <p:nvSpPr>
          <p:cNvPr id="16" name="Shape 14"/>
          <p:cNvSpPr/>
          <p:nvPr/>
        </p:nvSpPr>
        <p:spPr>
          <a:xfrm>
            <a:off x="6766560" y="1554480"/>
            <a:ext cx="1965960" cy="2194560"/>
          </a:xfrm>
          <a:prstGeom prst="rect">
            <a:avLst/>
          </a:prstGeom>
          <a:solidFill>
            <a:srgbClr val="FFFFFF"/>
          </a:solidFill>
          <a:ln w="9525">
            <a:solidFill>
              <a:srgbClr val="D5E4E6"/>
            </a:solidFill>
            <a:prstDash val="solid"/>
          </a:ln>
        </p:spPr>
      </p:sp>
      <p:sp>
        <p:nvSpPr>
          <p:cNvPr id="17" name="Text 15"/>
          <p:cNvSpPr txBox="1"/>
          <p:nvPr/>
        </p:nvSpPr>
        <p:spPr>
          <a:xfrm>
            <a:off x="6949440" y="1691640"/>
            <a:ext cx="1554480" cy="457200"/>
          </a:xfrm>
          <a:prstGeom prst="rect">
            <a:avLst/>
          </a:prstGeom>
          <a:noFill/>
          <a:ln/>
        </p:spPr>
        <p:txBody>
          <a:bodyPr wrap="square" lIns="0" tIns="0" rIns="0" bIns="0" rtlCol="0" anchor="ctr"/>
          <a:lstStyle/>
          <a:p>
            <a:pPr indent="0" marL="0">
              <a:buNone/>
            </a:pPr>
            <a:r>
              <a:rPr lang="en-US" sz="2800" b="1" dirty="0">
                <a:solidFill>
                  <a:srgbClr val="FF7A59"/>
                </a:solidFill>
                <a:latin typeface="Trebuchet MS" pitchFamily="34" charset="0"/>
                <a:ea typeface="Trebuchet MS" pitchFamily="34" charset="-122"/>
                <a:cs typeface="Trebuchet MS" pitchFamily="34" charset="-120"/>
              </a:rPr>
              <a:t>4</a:t>
            </a:r>
            <a:endParaRPr lang="en-US" sz="2800" dirty="0"/>
          </a:p>
        </p:txBody>
      </p:sp>
      <p:sp>
        <p:nvSpPr>
          <p:cNvPr id="18" name="Text 16"/>
          <p:cNvSpPr txBox="1"/>
          <p:nvPr/>
        </p:nvSpPr>
        <p:spPr>
          <a:xfrm>
            <a:off x="6949440" y="2194560"/>
            <a:ext cx="1645920" cy="320040"/>
          </a:xfrm>
          <a:prstGeom prst="rect">
            <a:avLst/>
          </a:prstGeom>
          <a:noFill/>
          <a:ln/>
        </p:spPr>
        <p:txBody>
          <a:bodyPr wrap="square" lIns="0" tIns="0" rIns="0" bIns="0" rtlCol="0" anchor="ctr"/>
          <a:lstStyle/>
          <a:p>
            <a:pPr indent="0" marL="0">
              <a:buNone/>
            </a:pPr>
            <a:r>
              <a:rPr lang="en-US" sz="1500" b="1" dirty="0">
                <a:solidFill>
                  <a:srgbClr val="0B2B33"/>
                </a:solidFill>
              </a:rPr>
              <a:t>Base case</a:t>
            </a:r>
            <a:endParaRPr lang="en-US" sz="1500" dirty="0"/>
          </a:p>
        </p:txBody>
      </p:sp>
      <p:sp>
        <p:nvSpPr>
          <p:cNvPr id="19" name="Text 17"/>
          <p:cNvSpPr txBox="1"/>
          <p:nvPr/>
        </p:nvSpPr>
        <p:spPr>
          <a:xfrm>
            <a:off x="6949440" y="2560320"/>
            <a:ext cx="1645920" cy="1097280"/>
          </a:xfrm>
          <a:prstGeom prst="rect">
            <a:avLst/>
          </a:prstGeom>
          <a:noFill/>
          <a:ln/>
        </p:spPr>
        <p:txBody>
          <a:bodyPr wrap="square" lIns="0" tIns="0" rIns="0" bIns="0" rtlCol="0" anchor="t"/>
          <a:lstStyle/>
          <a:p>
            <a:pPr indent="0" marL="0">
              <a:buNone/>
            </a:pPr>
            <a:r>
              <a:rPr lang="en-US" sz="1150" dirty="0">
                <a:solidFill>
                  <a:srgbClr val="5B7479"/>
                </a:solidFill>
              </a:rPr>
              <a:t>A piece with zero or one item is already sorted, so the recursion stops.</a:t>
            </a:r>
            <a:endParaRPr lang="en-US" sz="1150" dirty="0"/>
          </a:p>
        </p:txBody>
      </p:sp>
      <p:sp>
        <p:nvSpPr>
          <p:cNvPr id="25" name="Slide Number Placeholder 0"/>
          <p:cNvSpPr>
            <a:spLocks noGrp="1"/>
          </p:cNvSpPr>
          <p:nvPr>
            <p:ph type="sldNum" sz="quarter" idx="4294967295"/>
          </p:nvPr>
        </p:nvSpPr>
        <p:spPr>
          <a:xfrm>
            <a:off x="8138160" y="4754880"/>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7479"/>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320040"/>
            <a:ext cx="5486400" cy="228600"/>
          </a:xfrm>
          <a:prstGeom prst="rect">
            <a:avLst/>
          </a:prstGeom>
          <a:noFill/>
          <a:ln/>
        </p:spPr>
        <p:txBody>
          <a:bodyPr wrap="square" lIns="0" tIns="0" rIns="0" bIns="0" rtlCol="0" anchor="ctr"/>
          <a:lstStyle/>
          <a:p>
            <a:pPr indent="0" marL="0">
              <a:buNone/>
            </a:pPr>
            <a:r>
              <a:rPr lang="en-US" sz="1000" b="1" spc="300" kern="0" dirty="0">
                <a:solidFill>
                  <a:srgbClr val="14808A"/>
                </a:solidFill>
              </a:rPr>
              <a:t>WORKED EXAMPLE</a:t>
            </a:r>
            <a:endParaRPr lang="en-US" sz="10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600" b="1" dirty="0">
                <a:solidFill>
                  <a:srgbClr val="0B2B33"/>
                </a:solidFill>
                <a:latin typeface="Trebuchet MS" pitchFamily="34" charset="0"/>
                <a:ea typeface="Trebuchet MS" pitchFamily="34" charset="-122"/>
                <a:cs typeface="Trebuchet MS" pitchFamily="34" charset="-120"/>
              </a:rPr>
              <a:t>Splitting an array of seven numbers</a:t>
            </a:r>
            <a:endParaRPr lang="en-US" sz="2600" dirty="0"/>
          </a:p>
        </p:txBody>
      </p:sp>
      <p:sp>
        <p:nvSpPr>
          <p:cNvPr id="4" name="Shape 2"/>
          <p:cNvSpPr/>
          <p:nvPr/>
        </p:nvSpPr>
        <p:spPr>
          <a:xfrm>
            <a:off x="1463040" y="1371600"/>
            <a:ext cx="347472" cy="310896"/>
          </a:xfrm>
          <a:prstGeom prst="rect">
            <a:avLst/>
          </a:prstGeom>
          <a:solidFill>
            <a:srgbClr val="FF7A59"/>
          </a:solidFill>
          <a:ln w="6350">
            <a:solidFill>
              <a:srgbClr val="F2F7F7"/>
            </a:solidFill>
            <a:prstDash val="solid"/>
          </a:ln>
        </p:spPr>
      </p:sp>
      <p:sp>
        <p:nvSpPr>
          <p:cNvPr id="5" name="Text 3"/>
          <p:cNvSpPr txBox="1"/>
          <p:nvPr/>
        </p:nvSpPr>
        <p:spPr>
          <a:xfrm>
            <a:off x="1463040" y="1371600"/>
            <a:ext cx="347472" cy="310896"/>
          </a:xfrm>
          <a:prstGeom prst="rect">
            <a:avLst/>
          </a:prstGeom>
          <a:noFill/>
          <a:ln/>
        </p:spPr>
        <p:txBody>
          <a:bodyPr wrap="square" lIns="0" tIns="0" rIns="0" bIns="0" rtlCol="0" anchor="ctr"/>
          <a:lstStyle/>
          <a:p>
            <a:pPr algn="ctr" indent="0" marL="0">
              <a:buNone/>
            </a:pPr>
            <a:r>
              <a:rPr lang="en-US" sz="1000" b="1" dirty="0">
                <a:solidFill>
                  <a:srgbClr val="FFFFFF"/>
                </a:solidFill>
              </a:rPr>
              <a:t>38</a:t>
            </a:r>
            <a:endParaRPr lang="en-US" sz="1000" dirty="0"/>
          </a:p>
        </p:txBody>
      </p:sp>
      <p:sp>
        <p:nvSpPr>
          <p:cNvPr id="6" name="Shape 4"/>
          <p:cNvSpPr/>
          <p:nvPr/>
        </p:nvSpPr>
        <p:spPr>
          <a:xfrm>
            <a:off x="1847088" y="1371600"/>
            <a:ext cx="347472" cy="310896"/>
          </a:xfrm>
          <a:prstGeom prst="rect">
            <a:avLst/>
          </a:prstGeom>
          <a:solidFill>
            <a:srgbClr val="FF7A59"/>
          </a:solidFill>
          <a:ln w="6350">
            <a:solidFill>
              <a:srgbClr val="F2F7F7"/>
            </a:solidFill>
            <a:prstDash val="solid"/>
          </a:ln>
        </p:spPr>
      </p:sp>
      <p:sp>
        <p:nvSpPr>
          <p:cNvPr id="7" name="Text 5"/>
          <p:cNvSpPr txBox="1"/>
          <p:nvPr/>
        </p:nvSpPr>
        <p:spPr>
          <a:xfrm>
            <a:off x="1847088" y="1371600"/>
            <a:ext cx="347472" cy="310896"/>
          </a:xfrm>
          <a:prstGeom prst="rect">
            <a:avLst/>
          </a:prstGeom>
          <a:noFill/>
          <a:ln/>
        </p:spPr>
        <p:txBody>
          <a:bodyPr wrap="square" lIns="0" tIns="0" rIns="0" bIns="0" rtlCol="0" anchor="ctr"/>
          <a:lstStyle/>
          <a:p>
            <a:pPr algn="ctr" indent="0" marL="0">
              <a:buNone/>
            </a:pPr>
            <a:r>
              <a:rPr lang="en-US" sz="1000" b="1" dirty="0">
                <a:solidFill>
                  <a:srgbClr val="FFFFFF"/>
                </a:solidFill>
              </a:rPr>
              <a:t>27</a:t>
            </a:r>
            <a:endParaRPr lang="en-US" sz="1000" dirty="0"/>
          </a:p>
        </p:txBody>
      </p:sp>
      <p:sp>
        <p:nvSpPr>
          <p:cNvPr id="8" name="Shape 6"/>
          <p:cNvSpPr/>
          <p:nvPr/>
        </p:nvSpPr>
        <p:spPr>
          <a:xfrm>
            <a:off x="2231136" y="1371600"/>
            <a:ext cx="347472" cy="310896"/>
          </a:xfrm>
          <a:prstGeom prst="rect">
            <a:avLst/>
          </a:prstGeom>
          <a:solidFill>
            <a:srgbClr val="FF7A59"/>
          </a:solidFill>
          <a:ln w="6350">
            <a:solidFill>
              <a:srgbClr val="F2F7F7"/>
            </a:solidFill>
            <a:prstDash val="solid"/>
          </a:ln>
        </p:spPr>
      </p:sp>
      <p:sp>
        <p:nvSpPr>
          <p:cNvPr id="9" name="Text 7"/>
          <p:cNvSpPr txBox="1"/>
          <p:nvPr/>
        </p:nvSpPr>
        <p:spPr>
          <a:xfrm>
            <a:off x="2231136" y="1371600"/>
            <a:ext cx="347472" cy="310896"/>
          </a:xfrm>
          <a:prstGeom prst="rect">
            <a:avLst/>
          </a:prstGeom>
          <a:noFill/>
          <a:ln/>
        </p:spPr>
        <p:txBody>
          <a:bodyPr wrap="square" lIns="0" tIns="0" rIns="0" bIns="0" rtlCol="0" anchor="ctr"/>
          <a:lstStyle/>
          <a:p>
            <a:pPr algn="ctr" indent="0" marL="0">
              <a:buNone/>
            </a:pPr>
            <a:r>
              <a:rPr lang="en-US" sz="1000" b="1" dirty="0">
                <a:solidFill>
                  <a:srgbClr val="FFFFFF"/>
                </a:solidFill>
              </a:rPr>
              <a:t>43</a:t>
            </a:r>
            <a:endParaRPr lang="en-US" sz="1000" dirty="0"/>
          </a:p>
        </p:txBody>
      </p:sp>
      <p:sp>
        <p:nvSpPr>
          <p:cNvPr id="10" name="Shape 8"/>
          <p:cNvSpPr/>
          <p:nvPr/>
        </p:nvSpPr>
        <p:spPr>
          <a:xfrm>
            <a:off x="2615184" y="1371600"/>
            <a:ext cx="347472" cy="310896"/>
          </a:xfrm>
          <a:prstGeom prst="rect">
            <a:avLst/>
          </a:prstGeom>
          <a:solidFill>
            <a:srgbClr val="FF7A59"/>
          </a:solidFill>
          <a:ln w="6350">
            <a:solidFill>
              <a:srgbClr val="F2F7F7"/>
            </a:solidFill>
            <a:prstDash val="solid"/>
          </a:ln>
        </p:spPr>
      </p:sp>
      <p:sp>
        <p:nvSpPr>
          <p:cNvPr id="11" name="Text 9"/>
          <p:cNvSpPr txBox="1"/>
          <p:nvPr/>
        </p:nvSpPr>
        <p:spPr>
          <a:xfrm>
            <a:off x="2615184" y="1371600"/>
            <a:ext cx="347472" cy="310896"/>
          </a:xfrm>
          <a:prstGeom prst="rect">
            <a:avLst/>
          </a:prstGeom>
          <a:noFill/>
          <a:ln/>
        </p:spPr>
        <p:txBody>
          <a:bodyPr wrap="square" lIns="0" tIns="0" rIns="0" bIns="0" rtlCol="0" anchor="ctr"/>
          <a:lstStyle/>
          <a:p>
            <a:pPr algn="ctr" indent="0" marL="0">
              <a:buNone/>
            </a:pPr>
            <a:r>
              <a:rPr lang="en-US" sz="1000" b="1" dirty="0">
                <a:solidFill>
                  <a:srgbClr val="FFFFFF"/>
                </a:solidFill>
              </a:rPr>
              <a:t>3</a:t>
            </a:r>
            <a:endParaRPr lang="en-US" sz="1000" dirty="0"/>
          </a:p>
        </p:txBody>
      </p:sp>
      <p:sp>
        <p:nvSpPr>
          <p:cNvPr id="12" name="Shape 10"/>
          <p:cNvSpPr/>
          <p:nvPr/>
        </p:nvSpPr>
        <p:spPr>
          <a:xfrm>
            <a:off x="2999232" y="1371600"/>
            <a:ext cx="347472" cy="310896"/>
          </a:xfrm>
          <a:prstGeom prst="rect">
            <a:avLst/>
          </a:prstGeom>
          <a:solidFill>
            <a:srgbClr val="FF7A59"/>
          </a:solidFill>
          <a:ln w="6350">
            <a:solidFill>
              <a:srgbClr val="F2F7F7"/>
            </a:solidFill>
            <a:prstDash val="solid"/>
          </a:ln>
        </p:spPr>
      </p:sp>
      <p:sp>
        <p:nvSpPr>
          <p:cNvPr id="13" name="Text 11"/>
          <p:cNvSpPr txBox="1"/>
          <p:nvPr/>
        </p:nvSpPr>
        <p:spPr>
          <a:xfrm>
            <a:off x="2999232" y="1371600"/>
            <a:ext cx="347472" cy="310896"/>
          </a:xfrm>
          <a:prstGeom prst="rect">
            <a:avLst/>
          </a:prstGeom>
          <a:noFill/>
          <a:ln/>
        </p:spPr>
        <p:txBody>
          <a:bodyPr wrap="square" lIns="0" tIns="0" rIns="0" bIns="0" rtlCol="0" anchor="ctr"/>
          <a:lstStyle/>
          <a:p>
            <a:pPr algn="ctr" indent="0" marL="0">
              <a:buNone/>
            </a:pPr>
            <a:r>
              <a:rPr lang="en-US" sz="1000" b="1" dirty="0">
                <a:solidFill>
                  <a:srgbClr val="FFFFFF"/>
                </a:solidFill>
              </a:rPr>
              <a:t>9</a:t>
            </a:r>
            <a:endParaRPr lang="en-US" sz="1000" dirty="0"/>
          </a:p>
        </p:txBody>
      </p:sp>
      <p:sp>
        <p:nvSpPr>
          <p:cNvPr id="14" name="Shape 12"/>
          <p:cNvSpPr/>
          <p:nvPr/>
        </p:nvSpPr>
        <p:spPr>
          <a:xfrm>
            <a:off x="3383280" y="1371600"/>
            <a:ext cx="347472" cy="310896"/>
          </a:xfrm>
          <a:prstGeom prst="rect">
            <a:avLst/>
          </a:prstGeom>
          <a:solidFill>
            <a:srgbClr val="FF7A59"/>
          </a:solidFill>
          <a:ln w="6350">
            <a:solidFill>
              <a:srgbClr val="F2F7F7"/>
            </a:solidFill>
            <a:prstDash val="solid"/>
          </a:ln>
        </p:spPr>
      </p:sp>
      <p:sp>
        <p:nvSpPr>
          <p:cNvPr id="15" name="Text 13"/>
          <p:cNvSpPr txBox="1"/>
          <p:nvPr/>
        </p:nvSpPr>
        <p:spPr>
          <a:xfrm>
            <a:off x="3383280" y="1371600"/>
            <a:ext cx="347472" cy="310896"/>
          </a:xfrm>
          <a:prstGeom prst="rect">
            <a:avLst/>
          </a:prstGeom>
          <a:noFill/>
          <a:ln/>
        </p:spPr>
        <p:txBody>
          <a:bodyPr wrap="square" lIns="0" tIns="0" rIns="0" bIns="0" rtlCol="0" anchor="ctr"/>
          <a:lstStyle/>
          <a:p>
            <a:pPr algn="ctr" indent="0" marL="0">
              <a:buNone/>
            </a:pPr>
            <a:r>
              <a:rPr lang="en-US" sz="1000" b="1" dirty="0">
                <a:solidFill>
                  <a:srgbClr val="FFFFFF"/>
                </a:solidFill>
              </a:rPr>
              <a:t>82</a:t>
            </a:r>
            <a:endParaRPr lang="en-US" sz="1000" dirty="0"/>
          </a:p>
        </p:txBody>
      </p:sp>
      <p:sp>
        <p:nvSpPr>
          <p:cNvPr id="16" name="Shape 14"/>
          <p:cNvSpPr/>
          <p:nvPr/>
        </p:nvSpPr>
        <p:spPr>
          <a:xfrm>
            <a:off x="3767328" y="1371600"/>
            <a:ext cx="347472" cy="310896"/>
          </a:xfrm>
          <a:prstGeom prst="rect">
            <a:avLst/>
          </a:prstGeom>
          <a:solidFill>
            <a:srgbClr val="FF7A59"/>
          </a:solidFill>
          <a:ln w="6350">
            <a:solidFill>
              <a:srgbClr val="F2F7F7"/>
            </a:solidFill>
            <a:prstDash val="solid"/>
          </a:ln>
        </p:spPr>
      </p:sp>
      <p:sp>
        <p:nvSpPr>
          <p:cNvPr id="17" name="Text 15"/>
          <p:cNvSpPr txBox="1"/>
          <p:nvPr/>
        </p:nvSpPr>
        <p:spPr>
          <a:xfrm>
            <a:off x="3767328" y="1371600"/>
            <a:ext cx="347472" cy="310896"/>
          </a:xfrm>
          <a:prstGeom prst="rect">
            <a:avLst/>
          </a:prstGeom>
          <a:noFill/>
          <a:ln/>
        </p:spPr>
        <p:txBody>
          <a:bodyPr wrap="square" lIns="0" tIns="0" rIns="0" bIns="0" rtlCol="0" anchor="ctr"/>
          <a:lstStyle/>
          <a:p>
            <a:pPr algn="ctr" indent="0" marL="0">
              <a:buNone/>
            </a:pPr>
            <a:r>
              <a:rPr lang="en-US" sz="1000" b="1" dirty="0">
                <a:solidFill>
                  <a:srgbClr val="FFFFFF"/>
                </a:solidFill>
              </a:rPr>
              <a:t>10</a:t>
            </a:r>
            <a:endParaRPr lang="en-US" sz="1000" dirty="0"/>
          </a:p>
        </p:txBody>
      </p:sp>
      <p:sp>
        <p:nvSpPr>
          <p:cNvPr id="18" name="Shape 16"/>
          <p:cNvSpPr/>
          <p:nvPr/>
        </p:nvSpPr>
        <p:spPr>
          <a:xfrm>
            <a:off x="411480" y="1965960"/>
            <a:ext cx="347472" cy="310896"/>
          </a:xfrm>
          <a:prstGeom prst="rect">
            <a:avLst/>
          </a:prstGeom>
          <a:solidFill>
            <a:srgbClr val="14808A"/>
          </a:solidFill>
          <a:ln w="6350">
            <a:solidFill>
              <a:srgbClr val="F2F7F7"/>
            </a:solidFill>
            <a:prstDash val="solid"/>
          </a:ln>
        </p:spPr>
      </p:sp>
      <p:sp>
        <p:nvSpPr>
          <p:cNvPr id="19" name="Text 17"/>
          <p:cNvSpPr txBox="1"/>
          <p:nvPr/>
        </p:nvSpPr>
        <p:spPr>
          <a:xfrm>
            <a:off x="411480" y="1965960"/>
            <a:ext cx="347472" cy="310896"/>
          </a:xfrm>
          <a:prstGeom prst="rect">
            <a:avLst/>
          </a:prstGeom>
          <a:noFill/>
          <a:ln/>
        </p:spPr>
        <p:txBody>
          <a:bodyPr wrap="square" lIns="0" tIns="0" rIns="0" bIns="0" rtlCol="0" anchor="ctr"/>
          <a:lstStyle/>
          <a:p>
            <a:pPr algn="ctr" indent="0" marL="0">
              <a:buNone/>
            </a:pPr>
            <a:r>
              <a:rPr lang="en-US" sz="1000" b="1" dirty="0">
                <a:solidFill>
                  <a:srgbClr val="FFFFFF"/>
                </a:solidFill>
              </a:rPr>
              <a:t>38</a:t>
            </a:r>
            <a:endParaRPr lang="en-US" sz="1000" dirty="0"/>
          </a:p>
        </p:txBody>
      </p:sp>
      <p:sp>
        <p:nvSpPr>
          <p:cNvPr id="20" name="Shape 18"/>
          <p:cNvSpPr/>
          <p:nvPr/>
        </p:nvSpPr>
        <p:spPr>
          <a:xfrm>
            <a:off x="795528" y="1965960"/>
            <a:ext cx="347472" cy="310896"/>
          </a:xfrm>
          <a:prstGeom prst="rect">
            <a:avLst/>
          </a:prstGeom>
          <a:solidFill>
            <a:srgbClr val="14808A"/>
          </a:solidFill>
          <a:ln w="6350">
            <a:solidFill>
              <a:srgbClr val="F2F7F7"/>
            </a:solidFill>
            <a:prstDash val="solid"/>
          </a:ln>
        </p:spPr>
      </p:sp>
      <p:sp>
        <p:nvSpPr>
          <p:cNvPr id="21" name="Text 19"/>
          <p:cNvSpPr txBox="1"/>
          <p:nvPr/>
        </p:nvSpPr>
        <p:spPr>
          <a:xfrm>
            <a:off x="795528" y="1965960"/>
            <a:ext cx="347472" cy="310896"/>
          </a:xfrm>
          <a:prstGeom prst="rect">
            <a:avLst/>
          </a:prstGeom>
          <a:noFill/>
          <a:ln/>
        </p:spPr>
        <p:txBody>
          <a:bodyPr wrap="square" lIns="0" tIns="0" rIns="0" bIns="0" rtlCol="0" anchor="ctr"/>
          <a:lstStyle/>
          <a:p>
            <a:pPr algn="ctr" indent="0" marL="0">
              <a:buNone/>
            </a:pPr>
            <a:r>
              <a:rPr lang="en-US" sz="1000" b="1" dirty="0">
                <a:solidFill>
                  <a:srgbClr val="FFFFFF"/>
                </a:solidFill>
              </a:rPr>
              <a:t>27</a:t>
            </a:r>
            <a:endParaRPr lang="en-US" sz="1000" dirty="0"/>
          </a:p>
        </p:txBody>
      </p:sp>
      <p:sp>
        <p:nvSpPr>
          <p:cNvPr id="22" name="Shape 20"/>
          <p:cNvSpPr/>
          <p:nvPr/>
        </p:nvSpPr>
        <p:spPr>
          <a:xfrm>
            <a:off x="1179576" y="1965960"/>
            <a:ext cx="347472" cy="310896"/>
          </a:xfrm>
          <a:prstGeom prst="rect">
            <a:avLst/>
          </a:prstGeom>
          <a:solidFill>
            <a:srgbClr val="14808A"/>
          </a:solidFill>
          <a:ln w="6350">
            <a:solidFill>
              <a:srgbClr val="F2F7F7"/>
            </a:solidFill>
            <a:prstDash val="solid"/>
          </a:ln>
        </p:spPr>
      </p:sp>
      <p:sp>
        <p:nvSpPr>
          <p:cNvPr id="23" name="Text 21"/>
          <p:cNvSpPr txBox="1"/>
          <p:nvPr/>
        </p:nvSpPr>
        <p:spPr>
          <a:xfrm>
            <a:off x="1179576" y="1965960"/>
            <a:ext cx="347472" cy="310896"/>
          </a:xfrm>
          <a:prstGeom prst="rect">
            <a:avLst/>
          </a:prstGeom>
          <a:noFill/>
          <a:ln/>
        </p:spPr>
        <p:txBody>
          <a:bodyPr wrap="square" lIns="0" tIns="0" rIns="0" bIns="0" rtlCol="0" anchor="ctr"/>
          <a:lstStyle/>
          <a:p>
            <a:pPr algn="ctr" indent="0" marL="0">
              <a:buNone/>
            </a:pPr>
            <a:r>
              <a:rPr lang="en-US" sz="1000" b="1" dirty="0">
                <a:solidFill>
                  <a:srgbClr val="FFFFFF"/>
                </a:solidFill>
              </a:rPr>
              <a:t>43</a:t>
            </a:r>
            <a:endParaRPr lang="en-US" sz="1000" dirty="0"/>
          </a:p>
        </p:txBody>
      </p:sp>
      <p:sp>
        <p:nvSpPr>
          <p:cNvPr id="24" name="Shape 22"/>
          <p:cNvSpPr/>
          <p:nvPr/>
        </p:nvSpPr>
        <p:spPr>
          <a:xfrm>
            <a:off x="1563624" y="1965960"/>
            <a:ext cx="347472" cy="310896"/>
          </a:xfrm>
          <a:prstGeom prst="rect">
            <a:avLst/>
          </a:prstGeom>
          <a:solidFill>
            <a:srgbClr val="14808A"/>
          </a:solidFill>
          <a:ln w="6350">
            <a:solidFill>
              <a:srgbClr val="F2F7F7"/>
            </a:solidFill>
            <a:prstDash val="solid"/>
          </a:ln>
        </p:spPr>
      </p:sp>
      <p:sp>
        <p:nvSpPr>
          <p:cNvPr id="25" name="Text 23"/>
          <p:cNvSpPr txBox="1"/>
          <p:nvPr/>
        </p:nvSpPr>
        <p:spPr>
          <a:xfrm>
            <a:off x="1563624" y="1965960"/>
            <a:ext cx="347472" cy="310896"/>
          </a:xfrm>
          <a:prstGeom prst="rect">
            <a:avLst/>
          </a:prstGeom>
          <a:noFill/>
          <a:ln/>
        </p:spPr>
        <p:txBody>
          <a:bodyPr wrap="square" lIns="0" tIns="0" rIns="0" bIns="0" rtlCol="0" anchor="ctr"/>
          <a:lstStyle/>
          <a:p>
            <a:pPr algn="ctr" indent="0" marL="0">
              <a:buNone/>
            </a:pPr>
            <a:r>
              <a:rPr lang="en-US" sz="1000" b="1" dirty="0">
                <a:solidFill>
                  <a:srgbClr val="FFFFFF"/>
                </a:solidFill>
              </a:rPr>
              <a:t>3</a:t>
            </a:r>
            <a:endParaRPr lang="en-US" sz="1000" dirty="0"/>
          </a:p>
        </p:txBody>
      </p:sp>
      <p:sp>
        <p:nvSpPr>
          <p:cNvPr id="26" name="Shape 24"/>
          <p:cNvSpPr/>
          <p:nvPr/>
        </p:nvSpPr>
        <p:spPr>
          <a:xfrm>
            <a:off x="2331720" y="1965960"/>
            <a:ext cx="347472" cy="310896"/>
          </a:xfrm>
          <a:prstGeom prst="rect">
            <a:avLst/>
          </a:prstGeom>
          <a:solidFill>
            <a:srgbClr val="14808A"/>
          </a:solidFill>
          <a:ln w="6350">
            <a:solidFill>
              <a:srgbClr val="F2F7F7"/>
            </a:solidFill>
            <a:prstDash val="solid"/>
          </a:ln>
        </p:spPr>
      </p:sp>
      <p:sp>
        <p:nvSpPr>
          <p:cNvPr id="27" name="Text 25"/>
          <p:cNvSpPr txBox="1"/>
          <p:nvPr/>
        </p:nvSpPr>
        <p:spPr>
          <a:xfrm>
            <a:off x="2331720" y="1965960"/>
            <a:ext cx="347472" cy="310896"/>
          </a:xfrm>
          <a:prstGeom prst="rect">
            <a:avLst/>
          </a:prstGeom>
          <a:noFill/>
          <a:ln/>
        </p:spPr>
        <p:txBody>
          <a:bodyPr wrap="square" lIns="0" tIns="0" rIns="0" bIns="0" rtlCol="0" anchor="ctr"/>
          <a:lstStyle/>
          <a:p>
            <a:pPr algn="ctr" indent="0" marL="0">
              <a:buNone/>
            </a:pPr>
            <a:r>
              <a:rPr lang="en-US" sz="1000" b="1" dirty="0">
                <a:solidFill>
                  <a:srgbClr val="FFFFFF"/>
                </a:solidFill>
              </a:rPr>
              <a:t>9</a:t>
            </a:r>
            <a:endParaRPr lang="en-US" sz="1000" dirty="0"/>
          </a:p>
        </p:txBody>
      </p:sp>
      <p:sp>
        <p:nvSpPr>
          <p:cNvPr id="28" name="Shape 26"/>
          <p:cNvSpPr/>
          <p:nvPr/>
        </p:nvSpPr>
        <p:spPr>
          <a:xfrm>
            <a:off x="2715768" y="1965960"/>
            <a:ext cx="347472" cy="310896"/>
          </a:xfrm>
          <a:prstGeom prst="rect">
            <a:avLst/>
          </a:prstGeom>
          <a:solidFill>
            <a:srgbClr val="14808A"/>
          </a:solidFill>
          <a:ln w="6350">
            <a:solidFill>
              <a:srgbClr val="F2F7F7"/>
            </a:solidFill>
            <a:prstDash val="solid"/>
          </a:ln>
        </p:spPr>
      </p:sp>
      <p:sp>
        <p:nvSpPr>
          <p:cNvPr id="29" name="Text 27"/>
          <p:cNvSpPr txBox="1"/>
          <p:nvPr/>
        </p:nvSpPr>
        <p:spPr>
          <a:xfrm>
            <a:off x="2715768" y="1965960"/>
            <a:ext cx="347472" cy="310896"/>
          </a:xfrm>
          <a:prstGeom prst="rect">
            <a:avLst/>
          </a:prstGeom>
          <a:noFill/>
          <a:ln/>
        </p:spPr>
        <p:txBody>
          <a:bodyPr wrap="square" lIns="0" tIns="0" rIns="0" bIns="0" rtlCol="0" anchor="ctr"/>
          <a:lstStyle/>
          <a:p>
            <a:pPr algn="ctr" indent="0" marL="0">
              <a:buNone/>
            </a:pPr>
            <a:r>
              <a:rPr lang="en-US" sz="1000" b="1" dirty="0">
                <a:solidFill>
                  <a:srgbClr val="FFFFFF"/>
                </a:solidFill>
              </a:rPr>
              <a:t>82</a:t>
            </a:r>
            <a:endParaRPr lang="en-US" sz="1000" dirty="0"/>
          </a:p>
        </p:txBody>
      </p:sp>
      <p:sp>
        <p:nvSpPr>
          <p:cNvPr id="30" name="Shape 28"/>
          <p:cNvSpPr/>
          <p:nvPr/>
        </p:nvSpPr>
        <p:spPr>
          <a:xfrm>
            <a:off x="3099816" y="1965960"/>
            <a:ext cx="347472" cy="310896"/>
          </a:xfrm>
          <a:prstGeom prst="rect">
            <a:avLst/>
          </a:prstGeom>
          <a:solidFill>
            <a:srgbClr val="14808A"/>
          </a:solidFill>
          <a:ln w="6350">
            <a:solidFill>
              <a:srgbClr val="F2F7F7"/>
            </a:solidFill>
            <a:prstDash val="solid"/>
          </a:ln>
        </p:spPr>
      </p:sp>
      <p:sp>
        <p:nvSpPr>
          <p:cNvPr id="31" name="Text 29"/>
          <p:cNvSpPr txBox="1"/>
          <p:nvPr/>
        </p:nvSpPr>
        <p:spPr>
          <a:xfrm>
            <a:off x="3099816" y="1965960"/>
            <a:ext cx="347472" cy="310896"/>
          </a:xfrm>
          <a:prstGeom prst="rect">
            <a:avLst/>
          </a:prstGeom>
          <a:noFill/>
          <a:ln/>
        </p:spPr>
        <p:txBody>
          <a:bodyPr wrap="square" lIns="0" tIns="0" rIns="0" bIns="0" rtlCol="0" anchor="ctr"/>
          <a:lstStyle/>
          <a:p>
            <a:pPr algn="ctr" indent="0" marL="0">
              <a:buNone/>
            </a:pPr>
            <a:r>
              <a:rPr lang="en-US" sz="1000" b="1" dirty="0">
                <a:solidFill>
                  <a:srgbClr val="FFFFFF"/>
                </a:solidFill>
              </a:rPr>
              <a:t>10</a:t>
            </a:r>
            <a:endParaRPr lang="en-US" sz="1000" dirty="0"/>
          </a:p>
        </p:txBody>
      </p:sp>
      <p:sp>
        <p:nvSpPr>
          <p:cNvPr id="32" name="Shape 30"/>
          <p:cNvSpPr/>
          <p:nvPr/>
        </p:nvSpPr>
        <p:spPr>
          <a:xfrm>
            <a:off x="411480" y="2560320"/>
            <a:ext cx="347472" cy="310896"/>
          </a:xfrm>
          <a:prstGeom prst="rect">
            <a:avLst/>
          </a:prstGeom>
          <a:solidFill>
            <a:srgbClr val="123F4A"/>
          </a:solidFill>
          <a:ln w="6350">
            <a:solidFill>
              <a:srgbClr val="F2F7F7"/>
            </a:solidFill>
            <a:prstDash val="solid"/>
          </a:ln>
        </p:spPr>
      </p:sp>
      <p:sp>
        <p:nvSpPr>
          <p:cNvPr id="33" name="Text 31"/>
          <p:cNvSpPr txBox="1"/>
          <p:nvPr/>
        </p:nvSpPr>
        <p:spPr>
          <a:xfrm>
            <a:off x="411480" y="2560320"/>
            <a:ext cx="347472" cy="310896"/>
          </a:xfrm>
          <a:prstGeom prst="rect">
            <a:avLst/>
          </a:prstGeom>
          <a:noFill/>
          <a:ln/>
        </p:spPr>
        <p:txBody>
          <a:bodyPr wrap="square" lIns="0" tIns="0" rIns="0" bIns="0" rtlCol="0" anchor="ctr"/>
          <a:lstStyle/>
          <a:p>
            <a:pPr algn="ctr" indent="0" marL="0">
              <a:buNone/>
            </a:pPr>
            <a:r>
              <a:rPr lang="en-US" sz="1000" b="1" dirty="0">
                <a:solidFill>
                  <a:srgbClr val="FFFFFF"/>
                </a:solidFill>
              </a:rPr>
              <a:t>38</a:t>
            </a:r>
            <a:endParaRPr lang="en-US" sz="1000" dirty="0"/>
          </a:p>
        </p:txBody>
      </p:sp>
      <p:sp>
        <p:nvSpPr>
          <p:cNvPr id="34" name="Shape 32"/>
          <p:cNvSpPr/>
          <p:nvPr/>
        </p:nvSpPr>
        <p:spPr>
          <a:xfrm>
            <a:off x="795528" y="2560320"/>
            <a:ext cx="347472" cy="310896"/>
          </a:xfrm>
          <a:prstGeom prst="rect">
            <a:avLst/>
          </a:prstGeom>
          <a:solidFill>
            <a:srgbClr val="123F4A"/>
          </a:solidFill>
          <a:ln w="6350">
            <a:solidFill>
              <a:srgbClr val="F2F7F7"/>
            </a:solidFill>
            <a:prstDash val="solid"/>
          </a:ln>
        </p:spPr>
      </p:sp>
      <p:sp>
        <p:nvSpPr>
          <p:cNvPr id="35" name="Text 33"/>
          <p:cNvSpPr txBox="1"/>
          <p:nvPr/>
        </p:nvSpPr>
        <p:spPr>
          <a:xfrm>
            <a:off x="795528" y="2560320"/>
            <a:ext cx="347472" cy="310896"/>
          </a:xfrm>
          <a:prstGeom prst="rect">
            <a:avLst/>
          </a:prstGeom>
          <a:noFill/>
          <a:ln/>
        </p:spPr>
        <p:txBody>
          <a:bodyPr wrap="square" lIns="0" tIns="0" rIns="0" bIns="0" rtlCol="0" anchor="ctr"/>
          <a:lstStyle/>
          <a:p>
            <a:pPr algn="ctr" indent="0" marL="0">
              <a:buNone/>
            </a:pPr>
            <a:r>
              <a:rPr lang="en-US" sz="1000" b="1" dirty="0">
                <a:solidFill>
                  <a:srgbClr val="FFFFFF"/>
                </a:solidFill>
              </a:rPr>
              <a:t>27</a:t>
            </a:r>
            <a:endParaRPr lang="en-US" sz="1000" dirty="0"/>
          </a:p>
        </p:txBody>
      </p:sp>
      <p:sp>
        <p:nvSpPr>
          <p:cNvPr id="36" name="Shape 34"/>
          <p:cNvSpPr/>
          <p:nvPr/>
        </p:nvSpPr>
        <p:spPr>
          <a:xfrm>
            <a:off x="1325880" y="2560320"/>
            <a:ext cx="347472" cy="310896"/>
          </a:xfrm>
          <a:prstGeom prst="rect">
            <a:avLst/>
          </a:prstGeom>
          <a:solidFill>
            <a:srgbClr val="123F4A"/>
          </a:solidFill>
          <a:ln w="6350">
            <a:solidFill>
              <a:srgbClr val="F2F7F7"/>
            </a:solidFill>
            <a:prstDash val="solid"/>
          </a:ln>
        </p:spPr>
      </p:sp>
      <p:sp>
        <p:nvSpPr>
          <p:cNvPr id="37" name="Text 35"/>
          <p:cNvSpPr txBox="1"/>
          <p:nvPr/>
        </p:nvSpPr>
        <p:spPr>
          <a:xfrm>
            <a:off x="1325880" y="2560320"/>
            <a:ext cx="347472" cy="310896"/>
          </a:xfrm>
          <a:prstGeom prst="rect">
            <a:avLst/>
          </a:prstGeom>
          <a:noFill/>
          <a:ln/>
        </p:spPr>
        <p:txBody>
          <a:bodyPr wrap="square" lIns="0" tIns="0" rIns="0" bIns="0" rtlCol="0" anchor="ctr"/>
          <a:lstStyle/>
          <a:p>
            <a:pPr algn="ctr" indent="0" marL="0">
              <a:buNone/>
            </a:pPr>
            <a:r>
              <a:rPr lang="en-US" sz="1000" b="1" dirty="0">
                <a:solidFill>
                  <a:srgbClr val="FFFFFF"/>
                </a:solidFill>
              </a:rPr>
              <a:t>43</a:t>
            </a:r>
            <a:endParaRPr lang="en-US" sz="1000" dirty="0"/>
          </a:p>
        </p:txBody>
      </p:sp>
      <p:sp>
        <p:nvSpPr>
          <p:cNvPr id="38" name="Shape 36"/>
          <p:cNvSpPr/>
          <p:nvPr/>
        </p:nvSpPr>
        <p:spPr>
          <a:xfrm>
            <a:off x="1709928" y="2560320"/>
            <a:ext cx="347472" cy="310896"/>
          </a:xfrm>
          <a:prstGeom prst="rect">
            <a:avLst/>
          </a:prstGeom>
          <a:solidFill>
            <a:srgbClr val="123F4A"/>
          </a:solidFill>
          <a:ln w="6350">
            <a:solidFill>
              <a:srgbClr val="F2F7F7"/>
            </a:solidFill>
            <a:prstDash val="solid"/>
          </a:ln>
        </p:spPr>
      </p:sp>
      <p:sp>
        <p:nvSpPr>
          <p:cNvPr id="39" name="Text 37"/>
          <p:cNvSpPr txBox="1"/>
          <p:nvPr/>
        </p:nvSpPr>
        <p:spPr>
          <a:xfrm>
            <a:off x="1709928" y="2560320"/>
            <a:ext cx="347472" cy="310896"/>
          </a:xfrm>
          <a:prstGeom prst="rect">
            <a:avLst/>
          </a:prstGeom>
          <a:noFill/>
          <a:ln/>
        </p:spPr>
        <p:txBody>
          <a:bodyPr wrap="square" lIns="0" tIns="0" rIns="0" bIns="0" rtlCol="0" anchor="ctr"/>
          <a:lstStyle/>
          <a:p>
            <a:pPr algn="ctr" indent="0" marL="0">
              <a:buNone/>
            </a:pPr>
            <a:r>
              <a:rPr lang="en-US" sz="1000" b="1" dirty="0">
                <a:solidFill>
                  <a:srgbClr val="FFFFFF"/>
                </a:solidFill>
              </a:rPr>
              <a:t>3</a:t>
            </a:r>
            <a:endParaRPr lang="en-US" sz="1000" dirty="0"/>
          </a:p>
        </p:txBody>
      </p:sp>
      <p:sp>
        <p:nvSpPr>
          <p:cNvPr id="40" name="Shape 38"/>
          <p:cNvSpPr/>
          <p:nvPr/>
        </p:nvSpPr>
        <p:spPr>
          <a:xfrm>
            <a:off x="2331720" y="2560320"/>
            <a:ext cx="347472" cy="310896"/>
          </a:xfrm>
          <a:prstGeom prst="rect">
            <a:avLst/>
          </a:prstGeom>
          <a:solidFill>
            <a:srgbClr val="123F4A"/>
          </a:solidFill>
          <a:ln w="6350">
            <a:solidFill>
              <a:srgbClr val="F2F7F7"/>
            </a:solidFill>
            <a:prstDash val="solid"/>
          </a:ln>
        </p:spPr>
      </p:sp>
      <p:sp>
        <p:nvSpPr>
          <p:cNvPr id="41" name="Text 39"/>
          <p:cNvSpPr txBox="1"/>
          <p:nvPr/>
        </p:nvSpPr>
        <p:spPr>
          <a:xfrm>
            <a:off x="2331720" y="2560320"/>
            <a:ext cx="347472" cy="310896"/>
          </a:xfrm>
          <a:prstGeom prst="rect">
            <a:avLst/>
          </a:prstGeom>
          <a:noFill/>
          <a:ln/>
        </p:spPr>
        <p:txBody>
          <a:bodyPr wrap="square" lIns="0" tIns="0" rIns="0" bIns="0" rtlCol="0" anchor="ctr"/>
          <a:lstStyle/>
          <a:p>
            <a:pPr algn="ctr" indent="0" marL="0">
              <a:buNone/>
            </a:pPr>
            <a:r>
              <a:rPr lang="en-US" sz="1000" b="1" dirty="0">
                <a:solidFill>
                  <a:srgbClr val="FFFFFF"/>
                </a:solidFill>
              </a:rPr>
              <a:t>9</a:t>
            </a:r>
            <a:endParaRPr lang="en-US" sz="1000" dirty="0"/>
          </a:p>
        </p:txBody>
      </p:sp>
      <p:sp>
        <p:nvSpPr>
          <p:cNvPr id="42" name="Shape 40"/>
          <p:cNvSpPr/>
          <p:nvPr/>
        </p:nvSpPr>
        <p:spPr>
          <a:xfrm>
            <a:off x="2715768" y="2560320"/>
            <a:ext cx="347472" cy="310896"/>
          </a:xfrm>
          <a:prstGeom prst="rect">
            <a:avLst/>
          </a:prstGeom>
          <a:solidFill>
            <a:srgbClr val="123F4A"/>
          </a:solidFill>
          <a:ln w="6350">
            <a:solidFill>
              <a:srgbClr val="F2F7F7"/>
            </a:solidFill>
            <a:prstDash val="solid"/>
          </a:ln>
        </p:spPr>
      </p:sp>
      <p:sp>
        <p:nvSpPr>
          <p:cNvPr id="43" name="Text 41"/>
          <p:cNvSpPr txBox="1"/>
          <p:nvPr/>
        </p:nvSpPr>
        <p:spPr>
          <a:xfrm>
            <a:off x="2715768" y="2560320"/>
            <a:ext cx="347472" cy="310896"/>
          </a:xfrm>
          <a:prstGeom prst="rect">
            <a:avLst/>
          </a:prstGeom>
          <a:noFill/>
          <a:ln/>
        </p:spPr>
        <p:txBody>
          <a:bodyPr wrap="square" lIns="0" tIns="0" rIns="0" bIns="0" rtlCol="0" anchor="ctr"/>
          <a:lstStyle/>
          <a:p>
            <a:pPr algn="ctr" indent="0" marL="0">
              <a:buNone/>
            </a:pPr>
            <a:r>
              <a:rPr lang="en-US" sz="1000" b="1" dirty="0">
                <a:solidFill>
                  <a:srgbClr val="FFFFFF"/>
                </a:solidFill>
              </a:rPr>
              <a:t>82</a:t>
            </a:r>
            <a:endParaRPr lang="en-US" sz="1000" dirty="0"/>
          </a:p>
        </p:txBody>
      </p:sp>
      <p:sp>
        <p:nvSpPr>
          <p:cNvPr id="44" name="Shape 42"/>
          <p:cNvSpPr/>
          <p:nvPr/>
        </p:nvSpPr>
        <p:spPr>
          <a:xfrm>
            <a:off x="3246120" y="2560320"/>
            <a:ext cx="347472" cy="310896"/>
          </a:xfrm>
          <a:prstGeom prst="rect">
            <a:avLst/>
          </a:prstGeom>
          <a:solidFill>
            <a:srgbClr val="123F4A"/>
          </a:solidFill>
          <a:ln w="6350">
            <a:solidFill>
              <a:srgbClr val="F2F7F7"/>
            </a:solidFill>
            <a:prstDash val="solid"/>
          </a:ln>
        </p:spPr>
      </p:sp>
      <p:sp>
        <p:nvSpPr>
          <p:cNvPr id="45" name="Text 43"/>
          <p:cNvSpPr txBox="1"/>
          <p:nvPr/>
        </p:nvSpPr>
        <p:spPr>
          <a:xfrm>
            <a:off x="3246120" y="2560320"/>
            <a:ext cx="347472" cy="310896"/>
          </a:xfrm>
          <a:prstGeom prst="rect">
            <a:avLst/>
          </a:prstGeom>
          <a:noFill/>
          <a:ln/>
        </p:spPr>
        <p:txBody>
          <a:bodyPr wrap="square" lIns="0" tIns="0" rIns="0" bIns="0" rtlCol="0" anchor="ctr"/>
          <a:lstStyle/>
          <a:p>
            <a:pPr algn="ctr" indent="0" marL="0">
              <a:buNone/>
            </a:pPr>
            <a:r>
              <a:rPr lang="en-US" sz="1000" b="1" dirty="0">
                <a:solidFill>
                  <a:srgbClr val="FFFFFF"/>
                </a:solidFill>
              </a:rPr>
              <a:t>10</a:t>
            </a:r>
            <a:endParaRPr lang="en-US" sz="1000" dirty="0"/>
          </a:p>
        </p:txBody>
      </p:sp>
      <p:sp>
        <p:nvSpPr>
          <p:cNvPr id="46" name="Shape 44"/>
          <p:cNvSpPr/>
          <p:nvPr/>
        </p:nvSpPr>
        <p:spPr>
          <a:xfrm>
            <a:off x="411480" y="3154680"/>
            <a:ext cx="347472" cy="310896"/>
          </a:xfrm>
          <a:prstGeom prst="rect">
            <a:avLst/>
          </a:prstGeom>
          <a:solidFill>
            <a:srgbClr val="3A7480"/>
          </a:solidFill>
          <a:ln w="6350">
            <a:solidFill>
              <a:srgbClr val="F2F7F7"/>
            </a:solidFill>
            <a:prstDash val="solid"/>
          </a:ln>
        </p:spPr>
      </p:sp>
      <p:sp>
        <p:nvSpPr>
          <p:cNvPr id="47" name="Text 45"/>
          <p:cNvSpPr txBox="1"/>
          <p:nvPr/>
        </p:nvSpPr>
        <p:spPr>
          <a:xfrm>
            <a:off x="411480" y="3154680"/>
            <a:ext cx="347472" cy="310896"/>
          </a:xfrm>
          <a:prstGeom prst="rect">
            <a:avLst/>
          </a:prstGeom>
          <a:noFill/>
          <a:ln/>
        </p:spPr>
        <p:txBody>
          <a:bodyPr wrap="square" lIns="0" tIns="0" rIns="0" bIns="0" rtlCol="0" anchor="ctr"/>
          <a:lstStyle/>
          <a:p>
            <a:pPr algn="ctr" indent="0" marL="0">
              <a:buNone/>
            </a:pPr>
            <a:r>
              <a:rPr lang="en-US" sz="1000" b="1" dirty="0">
                <a:solidFill>
                  <a:srgbClr val="FFFFFF"/>
                </a:solidFill>
              </a:rPr>
              <a:t>38</a:t>
            </a:r>
            <a:endParaRPr lang="en-US" sz="1000" dirty="0"/>
          </a:p>
        </p:txBody>
      </p:sp>
      <p:sp>
        <p:nvSpPr>
          <p:cNvPr id="48" name="Shape 46"/>
          <p:cNvSpPr/>
          <p:nvPr/>
        </p:nvSpPr>
        <p:spPr>
          <a:xfrm>
            <a:off x="868680" y="3154680"/>
            <a:ext cx="347472" cy="310896"/>
          </a:xfrm>
          <a:prstGeom prst="rect">
            <a:avLst/>
          </a:prstGeom>
          <a:solidFill>
            <a:srgbClr val="3A7480"/>
          </a:solidFill>
          <a:ln w="6350">
            <a:solidFill>
              <a:srgbClr val="F2F7F7"/>
            </a:solidFill>
            <a:prstDash val="solid"/>
          </a:ln>
        </p:spPr>
      </p:sp>
      <p:sp>
        <p:nvSpPr>
          <p:cNvPr id="49" name="Text 47"/>
          <p:cNvSpPr txBox="1"/>
          <p:nvPr/>
        </p:nvSpPr>
        <p:spPr>
          <a:xfrm>
            <a:off x="868680" y="3154680"/>
            <a:ext cx="347472" cy="310896"/>
          </a:xfrm>
          <a:prstGeom prst="rect">
            <a:avLst/>
          </a:prstGeom>
          <a:noFill/>
          <a:ln/>
        </p:spPr>
        <p:txBody>
          <a:bodyPr wrap="square" lIns="0" tIns="0" rIns="0" bIns="0" rtlCol="0" anchor="ctr"/>
          <a:lstStyle/>
          <a:p>
            <a:pPr algn="ctr" indent="0" marL="0">
              <a:buNone/>
            </a:pPr>
            <a:r>
              <a:rPr lang="en-US" sz="1000" b="1" dirty="0">
                <a:solidFill>
                  <a:srgbClr val="FFFFFF"/>
                </a:solidFill>
              </a:rPr>
              <a:t>27</a:t>
            </a:r>
            <a:endParaRPr lang="en-US" sz="1000" dirty="0"/>
          </a:p>
        </p:txBody>
      </p:sp>
      <p:sp>
        <p:nvSpPr>
          <p:cNvPr id="50" name="Shape 48"/>
          <p:cNvSpPr/>
          <p:nvPr/>
        </p:nvSpPr>
        <p:spPr>
          <a:xfrm>
            <a:off x="1325880" y="3154680"/>
            <a:ext cx="347472" cy="310896"/>
          </a:xfrm>
          <a:prstGeom prst="rect">
            <a:avLst/>
          </a:prstGeom>
          <a:solidFill>
            <a:srgbClr val="3A7480"/>
          </a:solidFill>
          <a:ln w="6350">
            <a:solidFill>
              <a:srgbClr val="F2F7F7"/>
            </a:solidFill>
            <a:prstDash val="solid"/>
          </a:ln>
        </p:spPr>
      </p:sp>
      <p:sp>
        <p:nvSpPr>
          <p:cNvPr id="51" name="Text 49"/>
          <p:cNvSpPr txBox="1"/>
          <p:nvPr/>
        </p:nvSpPr>
        <p:spPr>
          <a:xfrm>
            <a:off x="1325880" y="3154680"/>
            <a:ext cx="347472" cy="310896"/>
          </a:xfrm>
          <a:prstGeom prst="rect">
            <a:avLst/>
          </a:prstGeom>
          <a:noFill/>
          <a:ln/>
        </p:spPr>
        <p:txBody>
          <a:bodyPr wrap="square" lIns="0" tIns="0" rIns="0" bIns="0" rtlCol="0" anchor="ctr"/>
          <a:lstStyle/>
          <a:p>
            <a:pPr algn="ctr" indent="0" marL="0">
              <a:buNone/>
            </a:pPr>
            <a:r>
              <a:rPr lang="en-US" sz="1000" b="1" dirty="0">
                <a:solidFill>
                  <a:srgbClr val="FFFFFF"/>
                </a:solidFill>
              </a:rPr>
              <a:t>43</a:t>
            </a:r>
            <a:endParaRPr lang="en-US" sz="1000" dirty="0"/>
          </a:p>
        </p:txBody>
      </p:sp>
      <p:sp>
        <p:nvSpPr>
          <p:cNvPr id="52" name="Shape 50"/>
          <p:cNvSpPr/>
          <p:nvPr/>
        </p:nvSpPr>
        <p:spPr>
          <a:xfrm>
            <a:off x="1783080" y="3154680"/>
            <a:ext cx="347472" cy="310896"/>
          </a:xfrm>
          <a:prstGeom prst="rect">
            <a:avLst/>
          </a:prstGeom>
          <a:solidFill>
            <a:srgbClr val="3A7480"/>
          </a:solidFill>
          <a:ln w="6350">
            <a:solidFill>
              <a:srgbClr val="F2F7F7"/>
            </a:solidFill>
            <a:prstDash val="solid"/>
          </a:ln>
        </p:spPr>
      </p:sp>
      <p:sp>
        <p:nvSpPr>
          <p:cNvPr id="53" name="Text 51"/>
          <p:cNvSpPr txBox="1"/>
          <p:nvPr/>
        </p:nvSpPr>
        <p:spPr>
          <a:xfrm>
            <a:off x="1783080" y="3154680"/>
            <a:ext cx="347472" cy="310896"/>
          </a:xfrm>
          <a:prstGeom prst="rect">
            <a:avLst/>
          </a:prstGeom>
          <a:noFill/>
          <a:ln/>
        </p:spPr>
        <p:txBody>
          <a:bodyPr wrap="square" lIns="0" tIns="0" rIns="0" bIns="0" rtlCol="0" anchor="ctr"/>
          <a:lstStyle/>
          <a:p>
            <a:pPr algn="ctr" indent="0" marL="0">
              <a:buNone/>
            </a:pPr>
            <a:r>
              <a:rPr lang="en-US" sz="1000" b="1" dirty="0">
                <a:solidFill>
                  <a:srgbClr val="FFFFFF"/>
                </a:solidFill>
              </a:rPr>
              <a:t>3</a:t>
            </a:r>
            <a:endParaRPr lang="en-US" sz="1000" dirty="0"/>
          </a:p>
        </p:txBody>
      </p:sp>
      <p:sp>
        <p:nvSpPr>
          <p:cNvPr id="54" name="Shape 52"/>
          <p:cNvSpPr/>
          <p:nvPr/>
        </p:nvSpPr>
        <p:spPr>
          <a:xfrm>
            <a:off x="2331720" y="3154680"/>
            <a:ext cx="347472" cy="310896"/>
          </a:xfrm>
          <a:prstGeom prst="rect">
            <a:avLst/>
          </a:prstGeom>
          <a:solidFill>
            <a:srgbClr val="3A7480"/>
          </a:solidFill>
          <a:ln w="6350">
            <a:solidFill>
              <a:srgbClr val="F2F7F7"/>
            </a:solidFill>
            <a:prstDash val="solid"/>
          </a:ln>
        </p:spPr>
      </p:sp>
      <p:sp>
        <p:nvSpPr>
          <p:cNvPr id="55" name="Text 53"/>
          <p:cNvSpPr txBox="1"/>
          <p:nvPr/>
        </p:nvSpPr>
        <p:spPr>
          <a:xfrm>
            <a:off x="2331720" y="3154680"/>
            <a:ext cx="347472" cy="310896"/>
          </a:xfrm>
          <a:prstGeom prst="rect">
            <a:avLst/>
          </a:prstGeom>
          <a:noFill/>
          <a:ln/>
        </p:spPr>
        <p:txBody>
          <a:bodyPr wrap="square" lIns="0" tIns="0" rIns="0" bIns="0" rtlCol="0" anchor="ctr"/>
          <a:lstStyle/>
          <a:p>
            <a:pPr algn="ctr" indent="0" marL="0">
              <a:buNone/>
            </a:pPr>
            <a:r>
              <a:rPr lang="en-US" sz="1000" b="1" dirty="0">
                <a:solidFill>
                  <a:srgbClr val="FFFFFF"/>
                </a:solidFill>
              </a:rPr>
              <a:t>9</a:t>
            </a:r>
            <a:endParaRPr lang="en-US" sz="1000" dirty="0"/>
          </a:p>
        </p:txBody>
      </p:sp>
      <p:sp>
        <p:nvSpPr>
          <p:cNvPr id="56" name="Shape 54"/>
          <p:cNvSpPr/>
          <p:nvPr/>
        </p:nvSpPr>
        <p:spPr>
          <a:xfrm>
            <a:off x="2788920" y="3154680"/>
            <a:ext cx="347472" cy="310896"/>
          </a:xfrm>
          <a:prstGeom prst="rect">
            <a:avLst/>
          </a:prstGeom>
          <a:solidFill>
            <a:srgbClr val="3A7480"/>
          </a:solidFill>
          <a:ln w="6350">
            <a:solidFill>
              <a:srgbClr val="F2F7F7"/>
            </a:solidFill>
            <a:prstDash val="solid"/>
          </a:ln>
        </p:spPr>
      </p:sp>
      <p:sp>
        <p:nvSpPr>
          <p:cNvPr id="57" name="Text 55"/>
          <p:cNvSpPr txBox="1"/>
          <p:nvPr/>
        </p:nvSpPr>
        <p:spPr>
          <a:xfrm>
            <a:off x="2788920" y="3154680"/>
            <a:ext cx="347472" cy="310896"/>
          </a:xfrm>
          <a:prstGeom prst="rect">
            <a:avLst/>
          </a:prstGeom>
          <a:noFill/>
          <a:ln/>
        </p:spPr>
        <p:txBody>
          <a:bodyPr wrap="square" lIns="0" tIns="0" rIns="0" bIns="0" rtlCol="0" anchor="ctr"/>
          <a:lstStyle/>
          <a:p>
            <a:pPr algn="ctr" indent="0" marL="0">
              <a:buNone/>
            </a:pPr>
            <a:r>
              <a:rPr lang="en-US" sz="1000" b="1" dirty="0">
                <a:solidFill>
                  <a:srgbClr val="FFFFFF"/>
                </a:solidFill>
              </a:rPr>
              <a:t>82</a:t>
            </a:r>
            <a:endParaRPr lang="en-US" sz="1000" dirty="0"/>
          </a:p>
        </p:txBody>
      </p:sp>
      <p:sp>
        <p:nvSpPr>
          <p:cNvPr id="58" name="Shape 56"/>
          <p:cNvSpPr/>
          <p:nvPr/>
        </p:nvSpPr>
        <p:spPr>
          <a:xfrm>
            <a:off x="3246120" y="3154680"/>
            <a:ext cx="347472" cy="310896"/>
          </a:xfrm>
          <a:prstGeom prst="rect">
            <a:avLst/>
          </a:prstGeom>
          <a:solidFill>
            <a:srgbClr val="3A7480"/>
          </a:solidFill>
          <a:ln w="6350">
            <a:solidFill>
              <a:srgbClr val="F2F7F7"/>
            </a:solidFill>
            <a:prstDash val="solid"/>
          </a:ln>
        </p:spPr>
      </p:sp>
      <p:sp>
        <p:nvSpPr>
          <p:cNvPr id="59" name="Text 57"/>
          <p:cNvSpPr txBox="1"/>
          <p:nvPr/>
        </p:nvSpPr>
        <p:spPr>
          <a:xfrm>
            <a:off x="3246120" y="3154680"/>
            <a:ext cx="347472" cy="310896"/>
          </a:xfrm>
          <a:prstGeom prst="rect">
            <a:avLst/>
          </a:prstGeom>
          <a:noFill/>
          <a:ln/>
        </p:spPr>
        <p:txBody>
          <a:bodyPr wrap="square" lIns="0" tIns="0" rIns="0" bIns="0" rtlCol="0" anchor="ctr"/>
          <a:lstStyle/>
          <a:p>
            <a:pPr algn="ctr" indent="0" marL="0">
              <a:buNone/>
            </a:pPr>
            <a:r>
              <a:rPr lang="en-US" sz="1000" b="1" dirty="0">
                <a:solidFill>
                  <a:srgbClr val="FFFFFF"/>
                </a:solidFill>
              </a:rPr>
              <a:t>10</a:t>
            </a:r>
            <a:endParaRPr lang="en-US" sz="1000" dirty="0"/>
          </a:p>
        </p:txBody>
      </p:sp>
      <p:sp>
        <p:nvSpPr>
          <p:cNvPr id="60" name="Text 58"/>
          <p:cNvSpPr txBox="1"/>
          <p:nvPr/>
        </p:nvSpPr>
        <p:spPr>
          <a:xfrm>
            <a:off x="4114800" y="1993392"/>
            <a:ext cx="914400" cy="274320"/>
          </a:xfrm>
          <a:prstGeom prst="rect">
            <a:avLst/>
          </a:prstGeom>
          <a:noFill/>
          <a:ln/>
        </p:spPr>
        <p:txBody>
          <a:bodyPr wrap="square" lIns="0" tIns="0" rIns="0" bIns="0" rtlCol="0" anchor="ctr"/>
          <a:lstStyle/>
          <a:p>
            <a:pPr indent="0" marL="0">
              <a:buNone/>
            </a:pPr>
            <a:r>
              <a:rPr lang="en-US" sz="1000" dirty="0">
                <a:solidFill>
                  <a:srgbClr val="5B7479"/>
                </a:solidFill>
              </a:rPr>
              <a:t>Split 1</a:t>
            </a:r>
            <a:endParaRPr lang="en-US" sz="1000" dirty="0"/>
          </a:p>
        </p:txBody>
      </p:sp>
      <p:sp>
        <p:nvSpPr>
          <p:cNvPr id="61" name="Text 59"/>
          <p:cNvSpPr txBox="1"/>
          <p:nvPr/>
        </p:nvSpPr>
        <p:spPr>
          <a:xfrm>
            <a:off x="4114800" y="2587752"/>
            <a:ext cx="914400" cy="274320"/>
          </a:xfrm>
          <a:prstGeom prst="rect">
            <a:avLst/>
          </a:prstGeom>
          <a:noFill/>
          <a:ln/>
        </p:spPr>
        <p:txBody>
          <a:bodyPr wrap="square" lIns="0" tIns="0" rIns="0" bIns="0" rtlCol="0" anchor="ctr"/>
          <a:lstStyle/>
          <a:p>
            <a:pPr indent="0" marL="0">
              <a:buNone/>
            </a:pPr>
            <a:r>
              <a:rPr lang="en-US" sz="1000" dirty="0">
                <a:solidFill>
                  <a:srgbClr val="5B7479"/>
                </a:solidFill>
              </a:rPr>
              <a:t>Split 2</a:t>
            </a:r>
            <a:endParaRPr lang="en-US" sz="1000" dirty="0"/>
          </a:p>
        </p:txBody>
      </p:sp>
      <p:sp>
        <p:nvSpPr>
          <p:cNvPr id="62" name="Text 60"/>
          <p:cNvSpPr txBox="1"/>
          <p:nvPr/>
        </p:nvSpPr>
        <p:spPr>
          <a:xfrm>
            <a:off x="4114800" y="3182112"/>
            <a:ext cx="914400" cy="274320"/>
          </a:xfrm>
          <a:prstGeom prst="rect">
            <a:avLst/>
          </a:prstGeom>
          <a:noFill/>
          <a:ln/>
        </p:spPr>
        <p:txBody>
          <a:bodyPr wrap="square" lIns="0" tIns="0" rIns="0" bIns="0" rtlCol="0" anchor="ctr"/>
          <a:lstStyle/>
          <a:p>
            <a:pPr indent="0" marL="0">
              <a:buNone/>
            </a:pPr>
            <a:r>
              <a:rPr lang="en-US" sz="1000" dirty="0">
                <a:solidFill>
                  <a:srgbClr val="5B7479"/>
                </a:solidFill>
              </a:rPr>
              <a:t>Split 3</a:t>
            </a:r>
            <a:endParaRPr lang="en-US" sz="1000" dirty="0"/>
          </a:p>
        </p:txBody>
      </p:sp>
      <p:sp>
        <p:nvSpPr>
          <p:cNvPr id="63" name="Text 61"/>
          <p:cNvSpPr txBox="1"/>
          <p:nvPr/>
        </p:nvSpPr>
        <p:spPr>
          <a:xfrm>
            <a:off x="411480" y="3657600"/>
            <a:ext cx="4114800" cy="274320"/>
          </a:xfrm>
          <a:prstGeom prst="rect">
            <a:avLst/>
          </a:prstGeom>
          <a:noFill/>
          <a:ln/>
        </p:spPr>
        <p:txBody>
          <a:bodyPr wrap="square" lIns="0" tIns="0" rIns="0" bIns="0" rtlCol="0" anchor="ctr"/>
          <a:lstStyle/>
          <a:p>
            <a:pPr indent="0" marL="0">
              <a:buNone/>
            </a:pPr>
            <a:r>
              <a:rPr lang="en-US" sz="1100" dirty="0">
                <a:solidFill>
                  <a:srgbClr val="5B7479"/>
                </a:solidFill>
              </a:rPr>
              <a:t>Start: [38, 27, 43, 3, 9, 82, 10]</a:t>
            </a:r>
            <a:endParaRPr lang="en-US" sz="1100" dirty="0"/>
          </a:p>
        </p:txBody>
      </p:sp>
      <p:sp>
        <p:nvSpPr>
          <p:cNvPr id="64" name="Shape 62"/>
          <p:cNvSpPr/>
          <p:nvPr/>
        </p:nvSpPr>
        <p:spPr>
          <a:xfrm>
            <a:off x="5394960" y="1371600"/>
            <a:ext cx="3291840" cy="2560320"/>
          </a:xfrm>
          <a:prstGeom prst="rect">
            <a:avLst/>
          </a:prstGeom>
          <a:solidFill>
            <a:srgbClr val="0B2B33"/>
          </a:solidFill>
          <a:ln w="12700">
            <a:solidFill>
              <a:srgbClr val="0B2B33"/>
            </a:solidFill>
            <a:prstDash val="solid"/>
          </a:ln>
        </p:spPr>
      </p:sp>
      <p:sp>
        <p:nvSpPr>
          <p:cNvPr id="65" name="Text 63"/>
          <p:cNvSpPr txBox="1"/>
          <p:nvPr/>
        </p:nvSpPr>
        <p:spPr>
          <a:xfrm>
            <a:off x="5577840" y="1508760"/>
            <a:ext cx="2926080" cy="2286000"/>
          </a:xfrm>
          <a:prstGeom prst="rect">
            <a:avLst/>
          </a:prstGeom>
          <a:noFill/>
          <a:ln/>
        </p:spPr>
        <p:txBody>
          <a:bodyPr wrap="square" lIns="0" tIns="0" rIns="0" bIns="0" rtlCol="0" anchor="t"/>
          <a:lstStyle/>
          <a:p>
            <a:pPr indent="0" marL="0">
              <a:buNone/>
            </a:pPr>
            <a:r>
              <a:rPr lang="en-US" sz="1300" b="1" dirty="0">
                <a:solidFill>
                  <a:srgbClr val="FF7A59"/>
                </a:solidFill>
              </a:rPr>
              <a:t>Goal</a:t>
            </a:r>
            <a:endParaRPr lang="en-US" sz="1300" dirty="0"/>
          </a:p>
          <a:p>
            <a:pPr indent="0" marL="0">
              <a:spcAft>
                <a:spcPts val="1000"/>
              </a:spcAft>
              <a:buNone/>
            </a:pPr>
            <a:r>
              <a:rPr lang="en-US" sz="1200" dirty="0">
                <a:solidFill>
                  <a:srgbClr val="FFFFFF"/>
                </a:solidFill>
              </a:rPr>
              <a:t>Sort the seven numbers into ascending order.</a:t>
            </a:r>
            <a:endParaRPr lang="en-US" sz="1300" dirty="0"/>
          </a:p>
          <a:p>
            <a:pPr indent="0" marL="0">
              <a:buNone/>
            </a:pPr>
            <a:r>
              <a:rPr lang="en-US" sz="1300" b="1" dirty="0">
                <a:solidFill>
                  <a:srgbClr val="FF7A59"/>
                </a:solidFill>
              </a:rPr>
              <a:t>Split rule</a:t>
            </a:r>
            <a:endParaRPr lang="en-US" sz="1300" dirty="0"/>
          </a:p>
          <a:p>
            <a:pPr indent="0" marL="0">
              <a:buNone/>
            </a:pPr>
            <a:r>
              <a:rPr lang="en-US" sz="1200" dirty="0">
                <a:solidFill>
                  <a:srgbClr val="FFFFFF"/>
                </a:solidFill>
              </a:rPr>
              <a:t>The left half takes the extra item when the size is odd. Splitting continues until every piece holds one number.</a:t>
            </a:r>
            <a:endParaRPr lang="en-US" sz="1300" dirty="0"/>
          </a:p>
        </p:txBody>
      </p:sp>
      <p:sp>
        <p:nvSpPr>
          <p:cNvPr id="25" name="Slide Number Placeholder 0"/>
          <p:cNvSpPr>
            <a:spLocks noGrp="1"/>
          </p:cNvSpPr>
          <p:nvPr>
            <p:ph type="sldNum" sz="quarter" idx="4294967295"/>
          </p:nvPr>
        </p:nvSpPr>
        <p:spPr>
          <a:xfrm>
            <a:off x="8138160" y="4754880"/>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7479"/>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320040"/>
            <a:ext cx="5486400" cy="228600"/>
          </a:xfrm>
          <a:prstGeom prst="rect">
            <a:avLst/>
          </a:prstGeom>
          <a:noFill/>
          <a:ln/>
        </p:spPr>
        <p:txBody>
          <a:bodyPr wrap="square" lIns="0" tIns="0" rIns="0" bIns="0" rtlCol="0" anchor="ctr"/>
          <a:lstStyle/>
          <a:p>
            <a:pPr indent="0" marL="0">
              <a:buNone/>
            </a:pPr>
            <a:r>
              <a:rPr lang="en-US" sz="1000" b="1" spc="300" kern="0" dirty="0">
                <a:solidFill>
                  <a:srgbClr val="14808A"/>
                </a:solidFill>
              </a:rPr>
              <a:t>WORKED EXAMPLE</a:t>
            </a:r>
            <a:endParaRPr lang="en-US" sz="10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600" b="1" dirty="0">
                <a:solidFill>
                  <a:srgbClr val="0B2B33"/>
                </a:solidFill>
                <a:latin typeface="Trebuchet MS" pitchFamily="34" charset="0"/>
                <a:ea typeface="Trebuchet MS" pitchFamily="34" charset="-122"/>
                <a:cs typeface="Trebuchet MS" pitchFamily="34" charset="-120"/>
              </a:rPr>
              <a:t>Merging the pieces back together</a:t>
            </a:r>
            <a:endParaRPr lang="en-US" sz="2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8229600" cy="914400"/>
        </p:xfrm>
        <a:graphic>
          <a:graphicData uri="http://schemas.openxmlformats.org/drawingml/2006/table">
            <a:tbl>
              <a:tblPr/>
              <a:tblGrid>
                <a:gridCol w="1188720"/>
                <a:gridCol w="2468880"/>
                <a:gridCol w="4572000"/>
              </a:tblGrid>
              <a:tr h="347472">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Step</a:t>
                      </a:r>
                      <a:endParaRPr lang="en-US" sz="1200" dirty="0">
                        <a:latin typeface="Calibri" charset="0"/>
                        <a:ea typeface="Calibri" charset="0"/>
                        <a:cs typeface="Calibri" charset="0"/>
                      </a:endParaRPr>
                    </a:p>
                  </a:txBody>
                  <a:tcPr marL="91440" marR="91440" marT="36576" marB="36576" anchor="ctr">
                    <a:lnL w="9525" cap="flat" cmpd="sng" algn="ctr">
                      <a:solidFill>
                        <a:srgbClr val="D5E4E6"/>
                      </a:solidFill>
                      <a:prstDash val="solid"/>
                      <a:round/>
                      <a:headEnd type="none" w="med" len="med"/>
                      <a:tailEnd type="none" w="med" len="med"/>
                    </a:lnL>
                    <a:lnR w="9525" cap="flat" cmpd="sng" algn="ctr">
                      <a:solidFill>
                        <a:srgbClr val="D5E4E6"/>
                      </a:solidFill>
                      <a:prstDash val="solid"/>
                      <a:round/>
                      <a:headEnd type="none" w="med" len="med"/>
                      <a:tailEnd type="none" w="med" len="med"/>
                    </a:lnR>
                    <a:lnT w="9525" cap="flat" cmpd="sng" algn="ctr">
                      <a:solidFill>
                        <a:srgbClr val="D5E4E6"/>
                      </a:solidFill>
                      <a:prstDash val="solid"/>
                      <a:round/>
                      <a:headEnd type="none" w="med" len="med"/>
                      <a:tailEnd type="none" w="med" len="med"/>
                    </a:lnT>
                    <a:lnB w="9525" cap="flat" cmpd="sng" algn="ctr">
                      <a:solidFill>
                        <a:srgbClr val="D5E4E6"/>
                      </a:solidFill>
                      <a:prstDash val="solid"/>
                      <a:round/>
                      <a:headEnd type="none" w="med" len="med"/>
                      <a:tailEnd type="none" w="med" len="med"/>
                    </a:lnB>
                    <a:solidFill>
                      <a:srgbClr val="123F4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Action</a:t>
                      </a:r>
                      <a:endParaRPr lang="en-US" sz="1200" dirty="0">
                        <a:latin typeface="Calibri" charset="0"/>
                        <a:ea typeface="Calibri" charset="0"/>
                        <a:cs typeface="Calibri" charset="0"/>
                      </a:endParaRPr>
                    </a:p>
                  </a:txBody>
                  <a:tcPr marL="91440" marR="91440" marT="36576" marB="36576" anchor="ctr">
                    <a:lnL w="9525" cap="flat" cmpd="sng" algn="ctr">
                      <a:solidFill>
                        <a:srgbClr val="D5E4E6"/>
                      </a:solidFill>
                      <a:prstDash val="solid"/>
                      <a:round/>
                      <a:headEnd type="none" w="med" len="med"/>
                      <a:tailEnd type="none" w="med" len="med"/>
                    </a:lnL>
                    <a:lnR w="9525" cap="flat" cmpd="sng" algn="ctr">
                      <a:solidFill>
                        <a:srgbClr val="D5E4E6"/>
                      </a:solidFill>
                      <a:prstDash val="solid"/>
                      <a:round/>
                      <a:headEnd type="none" w="med" len="med"/>
                      <a:tailEnd type="none" w="med" len="med"/>
                    </a:lnR>
                    <a:lnT w="9525" cap="flat" cmpd="sng" algn="ctr">
                      <a:solidFill>
                        <a:srgbClr val="D5E4E6"/>
                      </a:solidFill>
                      <a:prstDash val="solid"/>
                      <a:round/>
                      <a:headEnd type="none" w="med" len="med"/>
                      <a:tailEnd type="none" w="med" len="med"/>
                    </a:lnT>
                    <a:lnB w="9525" cap="flat" cmpd="sng" algn="ctr">
                      <a:solidFill>
                        <a:srgbClr val="D5E4E6"/>
                      </a:solidFill>
                      <a:prstDash val="solid"/>
                      <a:round/>
                      <a:headEnd type="none" w="med" len="med"/>
                      <a:tailEnd type="none" w="med" len="med"/>
                    </a:lnB>
                    <a:solidFill>
                      <a:srgbClr val="123F4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Pieces after the step</a:t>
                      </a:r>
                      <a:endParaRPr lang="en-US" sz="1200" dirty="0">
                        <a:latin typeface="Calibri" charset="0"/>
                        <a:ea typeface="Calibri" charset="0"/>
                        <a:cs typeface="Calibri" charset="0"/>
                      </a:endParaRPr>
                    </a:p>
                  </a:txBody>
                  <a:tcPr marL="91440" marR="91440" marT="36576" marB="36576" anchor="ctr">
                    <a:lnL w="9525" cap="flat" cmpd="sng" algn="ctr">
                      <a:solidFill>
                        <a:srgbClr val="D5E4E6"/>
                      </a:solidFill>
                      <a:prstDash val="solid"/>
                      <a:round/>
                      <a:headEnd type="none" w="med" len="med"/>
                      <a:tailEnd type="none" w="med" len="med"/>
                    </a:lnL>
                    <a:lnR w="9525" cap="flat" cmpd="sng" algn="ctr">
                      <a:solidFill>
                        <a:srgbClr val="D5E4E6"/>
                      </a:solidFill>
                      <a:prstDash val="solid"/>
                      <a:round/>
                      <a:headEnd type="none" w="med" len="med"/>
                      <a:tailEnd type="none" w="med" len="med"/>
                    </a:lnR>
                    <a:lnT w="9525" cap="flat" cmpd="sng" algn="ctr">
                      <a:solidFill>
                        <a:srgbClr val="D5E4E6"/>
                      </a:solidFill>
                      <a:prstDash val="solid"/>
                      <a:round/>
                      <a:headEnd type="none" w="med" len="med"/>
                      <a:tailEnd type="none" w="med" len="med"/>
                    </a:lnT>
                    <a:lnB w="9525" cap="flat" cmpd="sng" algn="ctr">
                      <a:solidFill>
                        <a:srgbClr val="D5E4E6"/>
                      </a:solidFill>
                      <a:prstDash val="solid"/>
                      <a:round/>
                      <a:headEnd type="none" w="med" len="med"/>
                      <a:tailEnd type="none" w="med" len="med"/>
                    </a:lnB>
                    <a:solidFill>
                      <a:srgbClr val="123F4A"/>
                    </a:solidFill>
                  </a:tcPr>
                </a:tc>
              </a:tr>
              <a:tr h="347472">
                <a:tc>
                  <a:txBody>
                    <a:bodyPr/>
                    <a:lstStyle/>
                    <a:p>
                      <a:pPr indent="0" marL="0">
                        <a:buNone/>
                      </a:pPr>
                      <a:r>
                        <a:rPr lang="en-US" sz="1200" dirty="0">
                          <a:solidFill>
                            <a:srgbClr val="0B2B33"/>
                          </a:solidFill>
                          <a:latin typeface="Calibri" pitchFamily="34" charset="0"/>
                          <a:ea typeface="Calibri" pitchFamily="34" charset="-122"/>
                          <a:cs typeface="Calibri" pitchFamily="34" charset="-120"/>
                        </a:rPr>
                        <a:t>Start</a:t>
                      </a:r>
                      <a:endParaRPr lang="en-US" sz="1200" dirty="0">
                        <a:latin typeface="Calibri" charset="0"/>
                        <a:ea typeface="Calibri" charset="0"/>
                        <a:cs typeface="Calibri" charset="0"/>
                      </a:endParaRPr>
                    </a:p>
                  </a:txBody>
                  <a:tcPr marL="91440" marR="91440" marT="36576" marB="36576" anchor="ctr">
                    <a:lnL w="9525" cap="flat" cmpd="sng" algn="ctr">
                      <a:solidFill>
                        <a:srgbClr val="D5E4E6"/>
                      </a:solidFill>
                      <a:prstDash val="solid"/>
                      <a:round/>
                      <a:headEnd type="none" w="med" len="med"/>
                      <a:tailEnd type="none" w="med" len="med"/>
                    </a:lnL>
                    <a:lnR w="9525" cap="flat" cmpd="sng" algn="ctr">
                      <a:solidFill>
                        <a:srgbClr val="D5E4E6"/>
                      </a:solidFill>
                      <a:prstDash val="solid"/>
                      <a:round/>
                      <a:headEnd type="none" w="med" len="med"/>
                      <a:tailEnd type="none" w="med" len="med"/>
                    </a:lnR>
                    <a:lnT w="9525" cap="flat" cmpd="sng" algn="ctr">
                      <a:solidFill>
                        <a:srgbClr val="D5E4E6"/>
                      </a:solidFill>
                      <a:prstDash val="solid"/>
                      <a:round/>
                      <a:headEnd type="none" w="med" len="med"/>
                      <a:tailEnd type="none" w="med" len="med"/>
                    </a:lnT>
                    <a:lnB w="9525" cap="flat" cmpd="sng" algn="ctr">
                      <a:solidFill>
                        <a:srgbClr val="D5E4E6"/>
                      </a:solidFill>
                      <a:prstDash val="solid"/>
                      <a:round/>
                      <a:headEnd type="none" w="med" len="med"/>
                      <a:tailEnd type="none" w="med" len="med"/>
                    </a:lnB>
                    <a:solidFill>
                      <a:srgbClr val="FFFFFF"/>
                    </a:solidFill>
                  </a:tcPr>
                </a:tc>
                <a:tc>
                  <a:txBody>
                    <a:bodyPr/>
                    <a:lstStyle/>
                    <a:p>
                      <a:pPr indent="0" marL="0">
                        <a:buNone/>
                      </a:pPr>
                      <a:r>
                        <a:rPr lang="en-US" sz="1200" dirty="0">
                          <a:solidFill>
                            <a:srgbClr val="0B2B33"/>
                          </a:solidFill>
                          <a:latin typeface="Calibri" pitchFamily="34" charset="0"/>
                          <a:ea typeface="Calibri" pitchFamily="34" charset="-122"/>
                          <a:cs typeface="Calibri" pitchFamily="34" charset="-120"/>
                        </a:rPr>
                        <a:t>Unsorted array</a:t>
                      </a:r>
                      <a:endParaRPr lang="en-US" sz="1200" dirty="0">
                        <a:latin typeface="Calibri" charset="0"/>
                        <a:ea typeface="Calibri" charset="0"/>
                        <a:cs typeface="Calibri" charset="0"/>
                      </a:endParaRPr>
                    </a:p>
                  </a:txBody>
                  <a:tcPr marL="91440" marR="91440" marT="36576" marB="36576" anchor="ctr">
                    <a:lnL w="9525" cap="flat" cmpd="sng" algn="ctr">
                      <a:solidFill>
                        <a:srgbClr val="D5E4E6"/>
                      </a:solidFill>
                      <a:prstDash val="solid"/>
                      <a:round/>
                      <a:headEnd type="none" w="med" len="med"/>
                      <a:tailEnd type="none" w="med" len="med"/>
                    </a:lnL>
                    <a:lnR w="9525" cap="flat" cmpd="sng" algn="ctr">
                      <a:solidFill>
                        <a:srgbClr val="D5E4E6"/>
                      </a:solidFill>
                      <a:prstDash val="solid"/>
                      <a:round/>
                      <a:headEnd type="none" w="med" len="med"/>
                      <a:tailEnd type="none" w="med" len="med"/>
                    </a:lnR>
                    <a:lnT w="9525" cap="flat" cmpd="sng" algn="ctr">
                      <a:solidFill>
                        <a:srgbClr val="D5E4E6"/>
                      </a:solidFill>
                      <a:prstDash val="solid"/>
                      <a:round/>
                      <a:headEnd type="none" w="med" len="med"/>
                      <a:tailEnd type="none" w="med" len="med"/>
                    </a:lnT>
                    <a:lnB w="9525" cap="flat" cmpd="sng" algn="ctr">
                      <a:solidFill>
                        <a:srgbClr val="D5E4E6"/>
                      </a:solidFill>
                      <a:prstDash val="solid"/>
                      <a:round/>
                      <a:headEnd type="none" w="med" len="med"/>
                      <a:tailEnd type="none" w="med" len="med"/>
                    </a:lnB>
                    <a:solidFill>
                      <a:srgbClr val="FFFFFF"/>
                    </a:solidFill>
                  </a:tcPr>
                </a:tc>
                <a:tc>
                  <a:txBody>
                    <a:bodyPr/>
                    <a:lstStyle/>
                    <a:p>
                      <a:pPr indent="0" marL="0">
                        <a:buNone/>
                      </a:pPr>
                      <a:r>
                        <a:rPr lang="en-US" sz="1200" dirty="0">
                          <a:solidFill>
                            <a:srgbClr val="0B2B33"/>
                          </a:solidFill>
                          <a:latin typeface="Calibri" pitchFamily="34" charset="0"/>
                          <a:ea typeface="Calibri" pitchFamily="34" charset="-122"/>
                          <a:cs typeface="Calibri" pitchFamily="34" charset="-120"/>
                        </a:rPr>
                        <a:t>[38, 27, 43, 3, 9, 82, 10]</a:t>
                      </a:r>
                      <a:endParaRPr lang="en-US" sz="1200" dirty="0">
                        <a:latin typeface="Calibri" charset="0"/>
                        <a:ea typeface="Calibri" charset="0"/>
                        <a:cs typeface="Calibri" charset="0"/>
                      </a:endParaRPr>
                    </a:p>
                  </a:txBody>
                  <a:tcPr marL="91440" marR="91440" marT="36576" marB="36576" anchor="ctr">
                    <a:lnL w="9525" cap="flat" cmpd="sng" algn="ctr">
                      <a:solidFill>
                        <a:srgbClr val="D5E4E6"/>
                      </a:solidFill>
                      <a:prstDash val="solid"/>
                      <a:round/>
                      <a:headEnd type="none" w="med" len="med"/>
                      <a:tailEnd type="none" w="med" len="med"/>
                    </a:lnL>
                    <a:lnR w="9525" cap="flat" cmpd="sng" algn="ctr">
                      <a:solidFill>
                        <a:srgbClr val="D5E4E6"/>
                      </a:solidFill>
                      <a:prstDash val="solid"/>
                      <a:round/>
                      <a:headEnd type="none" w="med" len="med"/>
                      <a:tailEnd type="none" w="med" len="med"/>
                    </a:lnR>
                    <a:lnT w="9525" cap="flat" cmpd="sng" algn="ctr">
                      <a:solidFill>
                        <a:srgbClr val="D5E4E6"/>
                      </a:solidFill>
                      <a:prstDash val="solid"/>
                      <a:round/>
                      <a:headEnd type="none" w="med" len="med"/>
                      <a:tailEnd type="none" w="med" len="med"/>
                    </a:lnT>
                    <a:lnB w="9525" cap="flat" cmpd="sng" algn="ctr">
                      <a:solidFill>
                        <a:srgbClr val="D5E4E6"/>
                      </a:solidFill>
                      <a:prstDash val="solid"/>
                      <a:round/>
                      <a:headEnd type="none" w="med" len="med"/>
                      <a:tailEnd type="none" w="med" len="med"/>
                    </a:lnB>
                    <a:solidFill>
                      <a:srgbClr val="FFFFFF"/>
                    </a:solidFill>
                  </a:tcPr>
                </a:tc>
              </a:tr>
              <a:tr h="347472">
                <a:tc>
                  <a:txBody>
                    <a:bodyPr/>
                    <a:lstStyle/>
                    <a:p>
                      <a:pPr indent="0" marL="0">
                        <a:buNone/>
                      </a:pPr>
                      <a:r>
                        <a:rPr lang="en-US" sz="1200" dirty="0">
                          <a:solidFill>
                            <a:srgbClr val="0B2B33"/>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91440" marR="91440" marT="36576" marB="36576" anchor="ctr">
                    <a:lnL w="9525" cap="flat" cmpd="sng" algn="ctr">
                      <a:solidFill>
                        <a:srgbClr val="D5E4E6"/>
                      </a:solidFill>
                      <a:prstDash val="solid"/>
                      <a:round/>
                      <a:headEnd type="none" w="med" len="med"/>
                      <a:tailEnd type="none" w="med" len="med"/>
                    </a:lnL>
                    <a:lnR w="9525" cap="flat" cmpd="sng" algn="ctr">
                      <a:solidFill>
                        <a:srgbClr val="D5E4E6"/>
                      </a:solidFill>
                      <a:prstDash val="solid"/>
                      <a:round/>
                      <a:headEnd type="none" w="med" len="med"/>
                      <a:tailEnd type="none" w="med" len="med"/>
                    </a:lnR>
                    <a:lnT w="9525" cap="flat" cmpd="sng" algn="ctr">
                      <a:solidFill>
                        <a:srgbClr val="D5E4E6"/>
                      </a:solidFill>
                      <a:prstDash val="solid"/>
                      <a:round/>
                      <a:headEnd type="none" w="med" len="med"/>
                      <a:tailEnd type="none" w="med" len="med"/>
                    </a:lnT>
                    <a:lnB w="9525" cap="flat" cmpd="sng" algn="ctr">
                      <a:solidFill>
                        <a:srgbClr val="D5E4E6"/>
                      </a:solidFill>
                      <a:prstDash val="solid"/>
                      <a:round/>
                      <a:headEnd type="none" w="med" len="med"/>
                      <a:tailEnd type="none" w="med" len="med"/>
                    </a:lnB>
                    <a:solidFill>
                      <a:srgbClr val="E8F1F2"/>
                    </a:solidFill>
                  </a:tcPr>
                </a:tc>
                <a:tc>
                  <a:txBody>
                    <a:bodyPr/>
                    <a:lstStyle/>
                    <a:p>
                      <a:pPr indent="0" marL="0">
                        <a:buNone/>
                      </a:pPr>
                      <a:r>
                        <a:rPr lang="en-US" sz="1200" dirty="0">
                          <a:solidFill>
                            <a:srgbClr val="0B2B33"/>
                          </a:solidFill>
                          <a:latin typeface="Calibri" pitchFamily="34" charset="0"/>
                          <a:ea typeface="Calibri" pitchFamily="34" charset="-122"/>
                          <a:cs typeface="Calibri" pitchFamily="34" charset="-120"/>
                        </a:rPr>
                        <a:t>Split in two</a:t>
                      </a:r>
                      <a:endParaRPr lang="en-US" sz="1200" dirty="0">
                        <a:latin typeface="Calibri" charset="0"/>
                        <a:ea typeface="Calibri" charset="0"/>
                        <a:cs typeface="Calibri" charset="0"/>
                      </a:endParaRPr>
                    </a:p>
                  </a:txBody>
                  <a:tcPr marL="91440" marR="91440" marT="36576" marB="36576" anchor="ctr">
                    <a:lnL w="9525" cap="flat" cmpd="sng" algn="ctr">
                      <a:solidFill>
                        <a:srgbClr val="D5E4E6"/>
                      </a:solidFill>
                      <a:prstDash val="solid"/>
                      <a:round/>
                      <a:headEnd type="none" w="med" len="med"/>
                      <a:tailEnd type="none" w="med" len="med"/>
                    </a:lnL>
                    <a:lnR w="9525" cap="flat" cmpd="sng" algn="ctr">
                      <a:solidFill>
                        <a:srgbClr val="D5E4E6"/>
                      </a:solidFill>
                      <a:prstDash val="solid"/>
                      <a:round/>
                      <a:headEnd type="none" w="med" len="med"/>
                      <a:tailEnd type="none" w="med" len="med"/>
                    </a:lnR>
                    <a:lnT w="9525" cap="flat" cmpd="sng" algn="ctr">
                      <a:solidFill>
                        <a:srgbClr val="D5E4E6"/>
                      </a:solidFill>
                      <a:prstDash val="solid"/>
                      <a:round/>
                      <a:headEnd type="none" w="med" len="med"/>
                      <a:tailEnd type="none" w="med" len="med"/>
                    </a:lnT>
                    <a:lnB w="9525" cap="flat" cmpd="sng" algn="ctr">
                      <a:solidFill>
                        <a:srgbClr val="D5E4E6"/>
                      </a:solidFill>
                      <a:prstDash val="solid"/>
                      <a:round/>
                      <a:headEnd type="none" w="med" len="med"/>
                      <a:tailEnd type="none" w="med" len="med"/>
                    </a:lnB>
                    <a:solidFill>
                      <a:srgbClr val="E8F1F2"/>
                    </a:solidFill>
                  </a:tcPr>
                </a:tc>
                <a:tc>
                  <a:txBody>
                    <a:bodyPr/>
                    <a:lstStyle/>
                    <a:p>
                      <a:pPr indent="0" marL="0">
                        <a:buNone/>
                      </a:pPr>
                      <a:r>
                        <a:rPr lang="en-US" sz="1200" dirty="0">
                          <a:solidFill>
                            <a:srgbClr val="0B2B33"/>
                          </a:solidFill>
                          <a:latin typeface="Calibri" pitchFamily="34" charset="0"/>
                          <a:ea typeface="Calibri" pitchFamily="34" charset="-122"/>
                          <a:cs typeface="Calibri" pitchFamily="34" charset="-120"/>
                        </a:rPr>
                        <a:t>[38, 27, 43, 3]  [9, 82, 10]</a:t>
                      </a:r>
                      <a:endParaRPr lang="en-US" sz="1200" dirty="0">
                        <a:latin typeface="Calibri" charset="0"/>
                        <a:ea typeface="Calibri" charset="0"/>
                        <a:cs typeface="Calibri" charset="0"/>
                      </a:endParaRPr>
                    </a:p>
                  </a:txBody>
                  <a:tcPr marL="91440" marR="91440" marT="36576" marB="36576" anchor="ctr">
                    <a:lnL w="9525" cap="flat" cmpd="sng" algn="ctr">
                      <a:solidFill>
                        <a:srgbClr val="D5E4E6"/>
                      </a:solidFill>
                      <a:prstDash val="solid"/>
                      <a:round/>
                      <a:headEnd type="none" w="med" len="med"/>
                      <a:tailEnd type="none" w="med" len="med"/>
                    </a:lnL>
                    <a:lnR w="9525" cap="flat" cmpd="sng" algn="ctr">
                      <a:solidFill>
                        <a:srgbClr val="D5E4E6"/>
                      </a:solidFill>
                      <a:prstDash val="solid"/>
                      <a:round/>
                      <a:headEnd type="none" w="med" len="med"/>
                      <a:tailEnd type="none" w="med" len="med"/>
                    </a:lnR>
                    <a:lnT w="9525" cap="flat" cmpd="sng" algn="ctr">
                      <a:solidFill>
                        <a:srgbClr val="D5E4E6"/>
                      </a:solidFill>
                      <a:prstDash val="solid"/>
                      <a:round/>
                      <a:headEnd type="none" w="med" len="med"/>
                      <a:tailEnd type="none" w="med" len="med"/>
                    </a:lnT>
                    <a:lnB w="9525" cap="flat" cmpd="sng" algn="ctr">
                      <a:solidFill>
                        <a:srgbClr val="D5E4E6"/>
                      </a:solidFill>
                      <a:prstDash val="solid"/>
                      <a:round/>
                      <a:headEnd type="none" w="med" len="med"/>
                      <a:tailEnd type="none" w="med" len="med"/>
                    </a:lnB>
                    <a:solidFill>
                      <a:srgbClr val="E8F1F2"/>
                    </a:solidFill>
                  </a:tcPr>
                </a:tc>
              </a:tr>
              <a:tr h="347472">
                <a:tc>
                  <a:txBody>
                    <a:bodyPr/>
                    <a:lstStyle/>
                    <a:p>
                      <a:pPr indent="0" marL="0">
                        <a:buNone/>
                      </a:pPr>
                      <a:r>
                        <a:rPr lang="en-US" sz="1200" dirty="0">
                          <a:solidFill>
                            <a:srgbClr val="0B2B33"/>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91440" marR="91440" marT="36576" marB="36576" anchor="ctr">
                    <a:lnL w="9525" cap="flat" cmpd="sng" algn="ctr">
                      <a:solidFill>
                        <a:srgbClr val="D5E4E6"/>
                      </a:solidFill>
                      <a:prstDash val="solid"/>
                      <a:round/>
                      <a:headEnd type="none" w="med" len="med"/>
                      <a:tailEnd type="none" w="med" len="med"/>
                    </a:lnL>
                    <a:lnR w="9525" cap="flat" cmpd="sng" algn="ctr">
                      <a:solidFill>
                        <a:srgbClr val="D5E4E6"/>
                      </a:solidFill>
                      <a:prstDash val="solid"/>
                      <a:round/>
                      <a:headEnd type="none" w="med" len="med"/>
                      <a:tailEnd type="none" w="med" len="med"/>
                    </a:lnR>
                    <a:lnT w="9525" cap="flat" cmpd="sng" algn="ctr">
                      <a:solidFill>
                        <a:srgbClr val="D5E4E6"/>
                      </a:solidFill>
                      <a:prstDash val="solid"/>
                      <a:round/>
                      <a:headEnd type="none" w="med" len="med"/>
                      <a:tailEnd type="none" w="med" len="med"/>
                    </a:lnT>
                    <a:lnB w="9525" cap="flat" cmpd="sng" algn="ctr">
                      <a:solidFill>
                        <a:srgbClr val="D5E4E6"/>
                      </a:solidFill>
                      <a:prstDash val="solid"/>
                      <a:round/>
                      <a:headEnd type="none" w="med" len="med"/>
                      <a:tailEnd type="none" w="med" len="med"/>
                    </a:lnB>
                    <a:solidFill>
                      <a:srgbClr val="FFFFFF"/>
                    </a:solidFill>
                  </a:tcPr>
                </a:tc>
                <a:tc>
                  <a:txBody>
                    <a:bodyPr/>
                    <a:lstStyle/>
                    <a:p>
                      <a:pPr indent="0" marL="0">
                        <a:buNone/>
                      </a:pPr>
                      <a:r>
                        <a:rPr lang="en-US" sz="1200" dirty="0">
                          <a:solidFill>
                            <a:srgbClr val="0B2B33"/>
                          </a:solidFill>
                          <a:latin typeface="Calibri" pitchFamily="34" charset="0"/>
                          <a:ea typeface="Calibri" pitchFamily="34" charset="-122"/>
                          <a:cs typeface="Calibri" pitchFamily="34" charset="-120"/>
                        </a:rPr>
                        <a:t>Split again</a:t>
                      </a:r>
                      <a:endParaRPr lang="en-US" sz="1200" dirty="0">
                        <a:latin typeface="Calibri" charset="0"/>
                        <a:ea typeface="Calibri" charset="0"/>
                        <a:cs typeface="Calibri" charset="0"/>
                      </a:endParaRPr>
                    </a:p>
                  </a:txBody>
                  <a:tcPr marL="91440" marR="91440" marT="36576" marB="36576" anchor="ctr">
                    <a:lnL w="9525" cap="flat" cmpd="sng" algn="ctr">
                      <a:solidFill>
                        <a:srgbClr val="D5E4E6"/>
                      </a:solidFill>
                      <a:prstDash val="solid"/>
                      <a:round/>
                      <a:headEnd type="none" w="med" len="med"/>
                      <a:tailEnd type="none" w="med" len="med"/>
                    </a:lnL>
                    <a:lnR w="9525" cap="flat" cmpd="sng" algn="ctr">
                      <a:solidFill>
                        <a:srgbClr val="D5E4E6"/>
                      </a:solidFill>
                      <a:prstDash val="solid"/>
                      <a:round/>
                      <a:headEnd type="none" w="med" len="med"/>
                      <a:tailEnd type="none" w="med" len="med"/>
                    </a:lnR>
                    <a:lnT w="9525" cap="flat" cmpd="sng" algn="ctr">
                      <a:solidFill>
                        <a:srgbClr val="D5E4E6"/>
                      </a:solidFill>
                      <a:prstDash val="solid"/>
                      <a:round/>
                      <a:headEnd type="none" w="med" len="med"/>
                      <a:tailEnd type="none" w="med" len="med"/>
                    </a:lnT>
                    <a:lnB w="9525" cap="flat" cmpd="sng" algn="ctr">
                      <a:solidFill>
                        <a:srgbClr val="D5E4E6"/>
                      </a:solidFill>
                      <a:prstDash val="solid"/>
                      <a:round/>
                      <a:headEnd type="none" w="med" len="med"/>
                      <a:tailEnd type="none" w="med" len="med"/>
                    </a:lnB>
                    <a:solidFill>
                      <a:srgbClr val="FFFFFF"/>
                    </a:solidFill>
                  </a:tcPr>
                </a:tc>
                <a:tc>
                  <a:txBody>
                    <a:bodyPr/>
                    <a:lstStyle/>
                    <a:p>
                      <a:pPr indent="0" marL="0">
                        <a:buNone/>
                      </a:pPr>
                      <a:r>
                        <a:rPr lang="en-US" sz="1200" dirty="0">
                          <a:solidFill>
                            <a:srgbClr val="0B2B33"/>
                          </a:solidFill>
                          <a:latin typeface="Calibri" pitchFamily="34" charset="0"/>
                          <a:ea typeface="Calibri" pitchFamily="34" charset="-122"/>
                          <a:cs typeface="Calibri" pitchFamily="34" charset="-120"/>
                        </a:rPr>
                        <a:t>[38, 27]  [43, 3]  [9, 82]  [10]</a:t>
                      </a:r>
                      <a:endParaRPr lang="en-US" sz="1200" dirty="0">
                        <a:latin typeface="Calibri" charset="0"/>
                        <a:ea typeface="Calibri" charset="0"/>
                        <a:cs typeface="Calibri" charset="0"/>
                      </a:endParaRPr>
                    </a:p>
                  </a:txBody>
                  <a:tcPr marL="91440" marR="91440" marT="36576" marB="36576" anchor="ctr">
                    <a:lnL w="9525" cap="flat" cmpd="sng" algn="ctr">
                      <a:solidFill>
                        <a:srgbClr val="D5E4E6"/>
                      </a:solidFill>
                      <a:prstDash val="solid"/>
                      <a:round/>
                      <a:headEnd type="none" w="med" len="med"/>
                      <a:tailEnd type="none" w="med" len="med"/>
                    </a:lnL>
                    <a:lnR w="9525" cap="flat" cmpd="sng" algn="ctr">
                      <a:solidFill>
                        <a:srgbClr val="D5E4E6"/>
                      </a:solidFill>
                      <a:prstDash val="solid"/>
                      <a:round/>
                      <a:headEnd type="none" w="med" len="med"/>
                      <a:tailEnd type="none" w="med" len="med"/>
                    </a:lnR>
                    <a:lnT w="9525" cap="flat" cmpd="sng" algn="ctr">
                      <a:solidFill>
                        <a:srgbClr val="D5E4E6"/>
                      </a:solidFill>
                      <a:prstDash val="solid"/>
                      <a:round/>
                      <a:headEnd type="none" w="med" len="med"/>
                      <a:tailEnd type="none" w="med" len="med"/>
                    </a:lnT>
                    <a:lnB w="9525" cap="flat" cmpd="sng" algn="ctr">
                      <a:solidFill>
                        <a:srgbClr val="D5E4E6"/>
                      </a:solidFill>
                      <a:prstDash val="solid"/>
                      <a:round/>
                      <a:headEnd type="none" w="med" len="med"/>
                      <a:tailEnd type="none" w="med" len="med"/>
                    </a:lnB>
                    <a:solidFill>
                      <a:srgbClr val="FFFFFF"/>
                    </a:solidFill>
                  </a:tcPr>
                </a:tc>
              </a:tr>
              <a:tr h="347472">
                <a:tc>
                  <a:txBody>
                    <a:bodyPr/>
                    <a:lstStyle/>
                    <a:p>
                      <a:pPr indent="0" marL="0">
                        <a:buNone/>
                      </a:pPr>
                      <a:r>
                        <a:rPr lang="en-US" sz="1200" dirty="0">
                          <a:solidFill>
                            <a:srgbClr val="0B2B33"/>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91440" marR="91440" marT="36576" marB="36576" anchor="ctr">
                    <a:lnL w="9525" cap="flat" cmpd="sng" algn="ctr">
                      <a:solidFill>
                        <a:srgbClr val="D5E4E6"/>
                      </a:solidFill>
                      <a:prstDash val="solid"/>
                      <a:round/>
                      <a:headEnd type="none" w="med" len="med"/>
                      <a:tailEnd type="none" w="med" len="med"/>
                    </a:lnL>
                    <a:lnR w="9525" cap="flat" cmpd="sng" algn="ctr">
                      <a:solidFill>
                        <a:srgbClr val="D5E4E6"/>
                      </a:solidFill>
                      <a:prstDash val="solid"/>
                      <a:round/>
                      <a:headEnd type="none" w="med" len="med"/>
                      <a:tailEnd type="none" w="med" len="med"/>
                    </a:lnR>
                    <a:lnT w="9525" cap="flat" cmpd="sng" algn="ctr">
                      <a:solidFill>
                        <a:srgbClr val="D5E4E6"/>
                      </a:solidFill>
                      <a:prstDash val="solid"/>
                      <a:round/>
                      <a:headEnd type="none" w="med" len="med"/>
                      <a:tailEnd type="none" w="med" len="med"/>
                    </a:lnT>
                    <a:lnB w="9525" cap="flat" cmpd="sng" algn="ctr">
                      <a:solidFill>
                        <a:srgbClr val="D5E4E6"/>
                      </a:solidFill>
                      <a:prstDash val="solid"/>
                      <a:round/>
                      <a:headEnd type="none" w="med" len="med"/>
                      <a:tailEnd type="none" w="med" len="med"/>
                    </a:lnB>
                    <a:solidFill>
                      <a:srgbClr val="E8F1F2"/>
                    </a:solidFill>
                  </a:tcPr>
                </a:tc>
                <a:tc>
                  <a:txBody>
                    <a:bodyPr/>
                    <a:lstStyle/>
                    <a:p>
                      <a:pPr indent="0" marL="0">
                        <a:buNone/>
                      </a:pPr>
                      <a:r>
                        <a:rPr lang="en-US" sz="1200" dirty="0">
                          <a:solidFill>
                            <a:srgbClr val="0B2B33"/>
                          </a:solidFill>
                          <a:latin typeface="Calibri" pitchFamily="34" charset="0"/>
                          <a:ea typeface="Calibri" pitchFamily="34" charset="-122"/>
                          <a:cs typeface="Calibri" pitchFamily="34" charset="-120"/>
                        </a:rPr>
                        <a:t>Split to single items</a:t>
                      </a:r>
                      <a:endParaRPr lang="en-US" sz="1200" dirty="0">
                        <a:latin typeface="Calibri" charset="0"/>
                        <a:ea typeface="Calibri" charset="0"/>
                        <a:cs typeface="Calibri" charset="0"/>
                      </a:endParaRPr>
                    </a:p>
                  </a:txBody>
                  <a:tcPr marL="91440" marR="91440" marT="36576" marB="36576" anchor="ctr">
                    <a:lnL w="9525" cap="flat" cmpd="sng" algn="ctr">
                      <a:solidFill>
                        <a:srgbClr val="D5E4E6"/>
                      </a:solidFill>
                      <a:prstDash val="solid"/>
                      <a:round/>
                      <a:headEnd type="none" w="med" len="med"/>
                      <a:tailEnd type="none" w="med" len="med"/>
                    </a:lnL>
                    <a:lnR w="9525" cap="flat" cmpd="sng" algn="ctr">
                      <a:solidFill>
                        <a:srgbClr val="D5E4E6"/>
                      </a:solidFill>
                      <a:prstDash val="solid"/>
                      <a:round/>
                      <a:headEnd type="none" w="med" len="med"/>
                      <a:tailEnd type="none" w="med" len="med"/>
                    </a:lnR>
                    <a:lnT w="9525" cap="flat" cmpd="sng" algn="ctr">
                      <a:solidFill>
                        <a:srgbClr val="D5E4E6"/>
                      </a:solidFill>
                      <a:prstDash val="solid"/>
                      <a:round/>
                      <a:headEnd type="none" w="med" len="med"/>
                      <a:tailEnd type="none" w="med" len="med"/>
                    </a:lnT>
                    <a:lnB w="9525" cap="flat" cmpd="sng" algn="ctr">
                      <a:solidFill>
                        <a:srgbClr val="D5E4E6"/>
                      </a:solidFill>
                      <a:prstDash val="solid"/>
                      <a:round/>
                      <a:headEnd type="none" w="med" len="med"/>
                      <a:tailEnd type="none" w="med" len="med"/>
                    </a:lnB>
                    <a:solidFill>
                      <a:srgbClr val="E8F1F2"/>
                    </a:solidFill>
                  </a:tcPr>
                </a:tc>
                <a:tc>
                  <a:txBody>
                    <a:bodyPr/>
                    <a:lstStyle/>
                    <a:p>
                      <a:pPr indent="0" marL="0">
                        <a:buNone/>
                      </a:pPr>
                      <a:r>
                        <a:rPr lang="en-US" sz="1200" dirty="0">
                          <a:solidFill>
                            <a:srgbClr val="0B2B33"/>
                          </a:solidFill>
                          <a:latin typeface="Calibri" pitchFamily="34" charset="0"/>
                          <a:ea typeface="Calibri" pitchFamily="34" charset="-122"/>
                          <a:cs typeface="Calibri" pitchFamily="34" charset="-120"/>
                        </a:rPr>
                        <a:t>[38] [27] [43] [3] [9] [82] [10]</a:t>
                      </a:r>
                      <a:endParaRPr lang="en-US" sz="1200" dirty="0">
                        <a:latin typeface="Calibri" charset="0"/>
                        <a:ea typeface="Calibri" charset="0"/>
                        <a:cs typeface="Calibri" charset="0"/>
                      </a:endParaRPr>
                    </a:p>
                  </a:txBody>
                  <a:tcPr marL="91440" marR="91440" marT="36576" marB="36576" anchor="ctr">
                    <a:lnL w="9525" cap="flat" cmpd="sng" algn="ctr">
                      <a:solidFill>
                        <a:srgbClr val="D5E4E6"/>
                      </a:solidFill>
                      <a:prstDash val="solid"/>
                      <a:round/>
                      <a:headEnd type="none" w="med" len="med"/>
                      <a:tailEnd type="none" w="med" len="med"/>
                    </a:lnL>
                    <a:lnR w="9525" cap="flat" cmpd="sng" algn="ctr">
                      <a:solidFill>
                        <a:srgbClr val="D5E4E6"/>
                      </a:solidFill>
                      <a:prstDash val="solid"/>
                      <a:round/>
                      <a:headEnd type="none" w="med" len="med"/>
                      <a:tailEnd type="none" w="med" len="med"/>
                    </a:lnR>
                    <a:lnT w="9525" cap="flat" cmpd="sng" algn="ctr">
                      <a:solidFill>
                        <a:srgbClr val="D5E4E6"/>
                      </a:solidFill>
                      <a:prstDash val="solid"/>
                      <a:round/>
                      <a:headEnd type="none" w="med" len="med"/>
                      <a:tailEnd type="none" w="med" len="med"/>
                    </a:lnT>
                    <a:lnB w="9525" cap="flat" cmpd="sng" algn="ctr">
                      <a:solidFill>
                        <a:srgbClr val="D5E4E6"/>
                      </a:solidFill>
                      <a:prstDash val="solid"/>
                      <a:round/>
                      <a:headEnd type="none" w="med" len="med"/>
                      <a:tailEnd type="none" w="med" len="med"/>
                    </a:lnB>
                    <a:solidFill>
                      <a:srgbClr val="E8F1F2"/>
                    </a:solidFill>
                  </a:tcPr>
                </a:tc>
              </a:tr>
              <a:tr h="347472">
                <a:tc>
                  <a:txBody>
                    <a:bodyPr/>
                    <a:lstStyle/>
                    <a:p>
                      <a:pPr indent="0" marL="0">
                        <a:buNone/>
                      </a:pPr>
                      <a:r>
                        <a:rPr lang="en-US" sz="1200" dirty="0">
                          <a:solidFill>
                            <a:srgbClr val="0B2B33"/>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91440" marR="91440" marT="36576" marB="36576" anchor="ctr">
                    <a:lnL w="9525" cap="flat" cmpd="sng" algn="ctr">
                      <a:solidFill>
                        <a:srgbClr val="D5E4E6"/>
                      </a:solidFill>
                      <a:prstDash val="solid"/>
                      <a:round/>
                      <a:headEnd type="none" w="med" len="med"/>
                      <a:tailEnd type="none" w="med" len="med"/>
                    </a:lnL>
                    <a:lnR w="9525" cap="flat" cmpd="sng" algn="ctr">
                      <a:solidFill>
                        <a:srgbClr val="D5E4E6"/>
                      </a:solidFill>
                      <a:prstDash val="solid"/>
                      <a:round/>
                      <a:headEnd type="none" w="med" len="med"/>
                      <a:tailEnd type="none" w="med" len="med"/>
                    </a:lnR>
                    <a:lnT w="9525" cap="flat" cmpd="sng" algn="ctr">
                      <a:solidFill>
                        <a:srgbClr val="D5E4E6"/>
                      </a:solidFill>
                      <a:prstDash val="solid"/>
                      <a:round/>
                      <a:headEnd type="none" w="med" len="med"/>
                      <a:tailEnd type="none" w="med" len="med"/>
                    </a:lnT>
                    <a:lnB w="9525" cap="flat" cmpd="sng" algn="ctr">
                      <a:solidFill>
                        <a:srgbClr val="D5E4E6"/>
                      </a:solidFill>
                      <a:prstDash val="solid"/>
                      <a:round/>
                      <a:headEnd type="none" w="med" len="med"/>
                      <a:tailEnd type="none" w="med" len="med"/>
                    </a:lnB>
                    <a:solidFill>
                      <a:srgbClr val="FFFFFF"/>
                    </a:solidFill>
                  </a:tcPr>
                </a:tc>
                <a:tc>
                  <a:txBody>
                    <a:bodyPr/>
                    <a:lstStyle/>
                    <a:p>
                      <a:pPr indent="0" marL="0">
                        <a:buNone/>
                      </a:pPr>
                      <a:r>
                        <a:rPr lang="en-US" sz="1200" dirty="0">
                          <a:solidFill>
                            <a:srgbClr val="0B2B33"/>
                          </a:solidFill>
                          <a:latin typeface="Calibri" pitchFamily="34" charset="0"/>
                          <a:ea typeface="Calibri" pitchFamily="34" charset="-122"/>
                          <a:cs typeface="Calibri" pitchFamily="34" charset="-120"/>
                        </a:rPr>
                        <a:t>Merge pairs</a:t>
                      </a:r>
                      <a:endParaRPr lang="en-US" sz="1200" dirty="0">
                        <a:latin typeface="Calibri" charset="0"/>
                        <a:ea typeface="Calibri" charset="0"/>
                        <a:cs typeface="Calibri" charset="0"/>
                      </a:endParaRPr>
                    </a:p>
                  </a:txBody>
                  <a:tcPr marL="91440" marR="91440" marT="36576" marB="36576" anchor="ctr">
                    <a:lnL w="9525" cap="flat" cmpd="sng" algn="ctr">
                      <a:solidFill>
                        <a:srgbClr val="D5E4E6"/>
                      </a:solidFill>
                      <a:prstDash val="solid"/>
                      <a:round/>
                      <a:headEnd type="none" w="med" len="med"/>
                      <a:tailEnd type="none" w="med" len="med"/>
                    </a:lnL>
                    <a:lnR w="9525" cap="flat" cmpd="sng" algn="ctr">
                      <a:solidFill>
                        <a:srgbClr val="D5E4E6"/>
                      </a:solidFill>
                      <a:prstDash val="solid"/>
                      <a:round/>
                      <a:headEnd type="none" w="med" len="med"/>
                      <a:tailEnd type="none" w="med" len="med"/>
                    </a:lnR>
                    <a:lnT w="9525" cap="flat" cmpd="sng" algn="ctr">
                      <a:solidFill>
                        <a:srgbClr val="D5E4E6"/>
                      </a:solidFill>
                      <a:prstDash val="solid"/>
                      <a:round/>
                      <a:headEnd type="none" w="med" len="med"/>
                      <a:tailEnd type="none" w="med" len="med"/>
                    </a:lnT>
                    <a:lnB w="9525" cap="flat" cmpd="sng" algn="ctr">
                      <a:solidFill>
                        <a:srgbClr val="D5E4E6"/>
                      </a:solidFill>
                      <a:prstDash val="solid"/>
                      <a:round/>
                      <a:headEnd type="none" w="med" len="med"/>
                      <a:tailEnd type="none" w="med" len="med"/>
                    </a:lnB>
                    <a:solidFill>
                      <a:srgbClr val="FFFFFF"/>
                    </a:solidFill>
                  </a:tcPr>
                </a:tc>
                <a:tc>
                  <a:txBody>
                    <a:bodyPr/>
                    <a:lstStyle/>
                    <a:p>
                      <a:pPr indent="0" marL="0">
                        <a:buNone/>
                      </a:pPr>
                      <a:r>
                        <a:rPr lang="en-US" sz="1200" dirty="0">
                          <a:solidFill>
                            <a:srgbClr val="0B2B33"/>
                          </a:solidFill>
                          <a:latin typeface="Calibri" pitchFamily="34" charset="0"/>
                          <a:ea typeface="Calibri" pitchFamily="34" charset="-122"/>
                          <a:cs typeface="Calibri" pitchFamily="34" charset="-120"/>
                        </a:rPr>
                        <a:t>[27, 38]  [3, 43]  [9, 82]  [10]</a:t>
                      </a:r>
                      <a:endParaRPr lang="en-US" sz="1200" dirty="0">
                        <a:latin typeface="Calibri" charset="0"/>
                        <a:ea typeface="Calibri" charset="0"/>
                        <a:cs typeface="Calibri" charset="0"/>
                      </a:endParaRPr>
                    </a:p>
                  </a:txBody>
                  <a:tcPr marL="91440" marR="91440" marT="36576" marB="36576" anchor="ctr">
                    <a:lnL w="9525" cap="flat" cmpd="sng" algn="ctr">
                      <a:solidFill>
                        <a:srgbClr val="D5E4E6"/>
                      </a:solidFill>
                      <a:prstDash val="solid"/>
                      <a:round/>
                      <a:headEnd type="none" w="med" len="med"/>
                      <a:tailEnd type="none" w="med" len="med"/>
                    </a:lnL>
                    <a:lnR w="9525" cap="flat" cmpd="sng" algn="ctr">
                      <a:solidFill>
                        <a:srgbClr val="D5E4E6"/>
                      </a:solidFill>
                      <a:prstDash val="solid"/>
                      <a:round/>
                      <a:headEnd type="none" w="med" len="med"/>
                      <a:tailEnd type="none" w="med" len="med"/>
                    </a:lnR>
                    <a:lnT w="9525" cap="flat" cmpd="sng" algn="ctr">
                      <a:solidFill>
                        <a:srgbClr val="D5E4E6"/>
                      </a:solidFill>
                      <a:prstDash val="solid"/>
                      <a:round/>
                      <a:headEnd type="none" w="med" len="med"/>
                      <a:tailEnd type="none" w="med" len="med"/>
                    </a:lnT>
                    <a:lnB w="9525" cap="flat" cmpd="sng" algn="ctr">
                      <a:solidFill>
                        <a:srgbClr val="D5E4E6"/>
                      </a:solidFill>
                      <a:prstDash val="solid"/>
                      <a:round/>
                      <a:headEnd type="none" w="med" len="med"/>
                      <a:tailEnd type="none" w="med" len="med"/>
                    </a:lnB>
                    <a:solidFill>
                      <a:srgbClr val="FFFFFF"/>
                    </a:solidFill>
                  </a:tcPr>
                </a:tc>
              </a:tr>
              <a:tr h="347472">
                <a:tc>
                  <a:txBody>
                    <a:bodyPr/>
                    <a:lstStyle/>
                    <a:p>
                      <a:pPr indent="0" marL="0">
                        <a:buNone/>
                      </a:pPr>
                      <a:r>
                        <a:rPr lang="en-US" sz="1200" dirty="0">
                          <a:solidFill>
                            <a:srgbClr val="0B2B33"/>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91440" marR="91440" marT="36576" marB="36576" anchor="ctr">
                    <a:lnL w="9525" cap="flat" cmpd="sng" algn="ctr">
                      <a:solidFill>
                        <a:srgbClr val="D5E4E6"/>
                      </a:solidFill>
                      <a:prstDash val="solid"/>
                      <a:round/>
                      <a:headEnd type="none" w="med" len="med"/>
                      <a:tailEnd type="none" w="med" len="med"/>
                    </a:lnL>
                    <a:lnR w="9525" cap="flat" cmpd="sng" algn="ctr">
                      <a:solidFill>
                        <a:srgbClr val="D5E4E6"/>
                      </a:solidFill>
                      <a:prstDash val="solid"/>
                      <a:round/>
                      <a:headEnd type="none" w="med" len="med"/>
                      <a:tailEnd type="none" w="med" len="med"/>
                    </a:lnR>
                    <a:lnT w="9525" cap="flat" cmpd="sng" algn="ctr">
                      <a:solidFill>
                        <a:srgbClr val="D5E4E6"/>
                      </a:solidFill>
                      <a:prstDash val="solid"/>
                      <a:round/>
                      <a:headEnd type="none" w="med" len="med"/>
                      <a:tailEnd type="none" w="med" len="med"/>
                    </a:lnT>
                    <a:lnB w="9525" cap="flat" cmpd="sng" algn="ctr">
                      <a:solidFill>
                        <a:srgbClr val="D5E4E6"/>
                      </a:solidFill>
                      <a:prstDash val="solid"/>
                      <a:round/>
                      <a:headEnd type="none" w="med" len="med"/>
                      <a:tailEnd type="none" w="med" len="med"/>
                    </a:lnB>
                    <a:solidFill>
                      <a:srgbClr val="E8F1F2"/>
                    </a:solidFill>
                  </a:tcPr>
                </a:tc>
                <a:tc>
                  <a:txBody>
                    <a:bodyPr/>
                    <a:lstStyle/>
                    <a:p>
                      <a:pPr indent="0" marL="0">
                        <a:buNone/>
                      </a:pPr>
                      <a:r>
                        <a:rPr lang="en-US" sz="1200" dirty="0">
                          <a:solidFill>
                            <a:srgbClr val="0B2B33"/>
                          </a:solidFill>
                          <a:latin typeface="Calibri" pitchFamily="34" charset="0"/>
                          <a:ea typeface="Calibri" pitchFamily="34" charset="-122"/>
                          <a:cs typeface="Calibri" pitchFamily="34" charset="-120"/>
                        </a:rPr>
                        <a:t>Merge again</a:t>
                      </a:r>
                      <a:endParaRPr lang="en-US" sz="1200" dirty="0">
                        <a:latin typeface="Calibri" charset="0"/>
                        <a:ea typeface="Calibri" charset="0"/>
                        <a:cs typeface="Calibri" charset="0"/>
                      </a:endParaRPr>
                    </a:p>
                  </a:txBody>
                  <a:tcPr marL="91440" marR="91440" marT="36576" marB="36576" anchor="ctr">
                    <a:lnL w="9525" cap="flat" cmpd="sng" algn="ctr">
                      <a:solidFill>
                        <a:srgbClr val="D5E4E6"/>
                      </a:solidFill>
                      <a:prstDash val="solid"/>
                      <a:round/>
                      <a:headEnd type="none" w="med" len="med"/>
                      <a:tailEnd type="none" w="med" len="med"/>
                    </a:lnL>
                    <a:lnR w="9525" cap="flat" cmpd="sng" algn="ctr">
                      <a:solidFill>
                        <a:srgbClr val="D5E4E6"/>
                      </a:solidFill>
                      <a:prstDash val="solid"/>
                      <a:round/>
                      <a:headEnd type="none" w="med" len="med"/>
                      <a:tailEnd type="none" w="med" len="med"/>
                    </a:lnR>
                    <a:lnT w="9525" cap="flat" cmpd="sng" algn="ctr">
                      <a:solidFill>
                        <a:srgbClr val="D5E4E6"/>
                      </a:solidFill>
                      <a:prstDash val="solid"/>
                      <a:round/>
                      <a:headEnd type="none" w="med" len="med"/>
                      <a:tailEnd type="none" w="med" len="med"/>
                    </a:lnT>
                    <a:lnB w="9525" cap="flat" cmpd="sng" algn="ctr">
                      <a:solidFill>
                        <a:srgbClr val="D5E4E6"/>
                      </a:solidFill>
                      <a:prstDash val="solid"/>
                      <a:round/>
                      <a:headEnd type="none" w="med" len="med"/>
                      <a:tailEnd type="none" w="med" len="med"/>
                    </a:lnB>
                    <a:solidFill>
                      <a:srgbClr val="E8F1F2"/>
                    </a:solidFill>
                  </a:tcPr>
                </a:tc>
                <a:tc>
                  <a:txBody>
                    <a:bodyPr/>
                    <a:lstStyle/>
                    <a:p>
                      <a:pPr indent="0" marL="0">
                        <a:buNone/>
                      </a:pPr>
                      <a:r>
                        <a:rPr lang="en-US" sz="1200" dirty="0">
                          <a:solidFill>
                            <a:srgbClr val="0B2B33"/>
                          </a:solidFill>
                          <a:latin typeface="Calibri" pitchFamily="34" charset="0"/>
                          <a:ea typeface="Calibri" pitchFamily="34" charset="-122"/>
                          <a:cs typeface="Calibri" pitchFamily="34" charset="-120"/>
                        </a:rPr>
                        <a:t>[3, 27, 38, 43]  [9, 10, 82]</a:t>
                      </a:r>
                      <a:endParaRPr lang="en-US" sz="1200" dirty="0">
                        <a:latin typeface="Calibri" charset="0"/>
                        <a:ea typeface="Calibri" charset="0"/>
                        <a:cs typeface="Calibri" charset="0"/>
                      </a:endParaRPr>
                    </a:p>
                  </a:txBody>
                  <a:tcPr marL="91440" marR="91440" marT="36576" marB="36576" anchor="ctr">
                    <a:lnL w="9525" cap="flat" cmpd="sng" algn="ctr">
                      <a:solidFill>
                        <a:srgbClr val="D5E4E6"/>
                      </a:solidFill>
                      <a:prstDash val="solid"/>
                      <a:round/>
                      <a:headEnd type="none" w="med" len="med"/>
                      <a:tailEnd type="none" w="med" len="med"/>
                    </a:lnL>
                    <a:lnR w="9525" cap="flat" cmpd="sng" algn="ctr">
                      <a:solidFill>
                        <a:srgbClr val="D5E4E6"/>
                      </a:solidFill>
                      <a:prstDash val="solid"/>
                      <a:round/>
                      <a:headEnd type="none" w="med" len="med"/>
                      <a:tailEnd type="none" w="med" len="med"/>
                    </a:lnR>
                    <a:lnT w="9525" cap="flat" cmpd="sng" algn="ctr">
                      <a:solidFill>
                        <a:srgbClr val="D5E4E6"/>
                      </a:solidFill>
                      <a:prstDash val="solid"/>
                      <a:round/>
                      <a:headEnd type="none" w="med" len="med"/>
                      <a:tailEnd type="none" w="med" len="med"/>
                    </a:lnT>
                    <a:lnB w="9525" cap="flat" cmpd="sng" algn="ctr">
                      <a:solidFill>
                        <a:srgbClr val="D5E4E6"/>
                      </a:solidFill>
                      <a:prstDash val="solid"/>
                      <a:round/>
                      <a:headEnd type="none" w="med" len="med"/>
                      <a:tailEnd type="none" w="med" len="med"/>
                    </a:lnB>
                    <a:solidFill>
                      <a:srgbClr val="E8F1F2"/>
                    </a:solidFill>
                  </a:tcPr>
                </a:tc>
              </a:tr>
              <a:tr h="347472">
                <a:tc>
                  <a:txBody>
                    <a:bodyPr/>
                    <a:lstStyle/>
                    <a:p>
                      <a:pPr indent="0" marL="0">
                        <a:buNone/>
                      </a:pPr>
                      <a:r>
                        <a:rPr lang="en-US" sz="1200" b="1" dirty="0">
                          <a:solidFill>
                            <a:srgbClr val="0B2B33"/>
                          </a:solidFill>
                          <a:latin typeface="Calibri" pitchFamily="34" charset="0"/>
                          <a:ea typeface="Calibri" pitchFamily="34" charset="-122"/>
                          <a:cs typeface="Calibri" pitchFamily="34" charset="-120"/>
                        </a:rPr>
                        <a:t>6 (final)</a:t>
                      </a:r>
                      <a:endParaRPr lang="en-US" sz="1200" dirty="0">
                        <a:latin typeface="Calibri" charset="0"/>
                        <a:ea typeface="Calibri" charset="0"/>
                        <a:cs typeface="Calibri" charset="0"/>
                      </a:endParaRPr>
                    </a:p>
                  </a:txBody>
                  <a:tcPr marL="91440" marR="91440" marT="36576" marB="36576" anchor="ctr">
                    <a:lnL w="9525" cap="flat" cmpd="sng" algn="ctr">
                      <a:solidFill>
                        <a:srgbClr val="D5E4E6"/>
                      </a:solidFill>
                      <a:prstDash val="solid"/>
                      <a:round/>
                      <a:headEnd type="none" w="med" len="med"/>
                      <a:tailEnd type="none" w="med" len="med"/>
                    </a:lnL>
                    <a:lnR w="9525" cap="flat" cmpd="sng" algn="ctr">
                      <a:solidFill>
                        <a:srgbClr val="D5E4E6"/>
                      </a:solidFill>
                      <a:prstDash val="solid"/>
                      <a:round/>
                      <a:headEnd type="none" w="med" len="med"/>
                      <a:tailEnd type="none" w="med" len="med"/>
                    </a:lnR>
                    <a:lnT w="9525" cap="flat" cmpd="sng" algn="ctr">
                      <a:solidFill>
                        <a:srgbClr val="D5E4E6"/>
                      </a:solidFill>
                      <a:prstDash val="solid"/>
                      <a:round/>
                      <a:headEnd type="none" w="med" len="med"/>
                      <a:tailEnd type="none" w="med" len="med"/>
                    </a:lnT>
                    <a:lnB w="9525" cap="flat" cmpd="sng" algn="ctr">
                      <a:solidFill>
                        <a:srgbClr val="D5E4E6"/>
                      </a:solidFill>
                      <a:prstDash val="solid"/>
                      <a:round/>
                      <a:headEnd type="none" w="med" len="med"/>
                      <a:tailEnd type="none" w="med" len="med"/>
                    </a:lnB>
                    <a:solidFill>
                      <a:srgbClr val="FFD9CE"/>
                    </a:solidFill>
                  </a:tcPr>
                </a:tc>
                <a:tc>
                  <a:txBody>
                    <a:bodyPr/>
                    <a:lstStyle/>
                    <a:p>
                      <a:pPr indent="0" marL="0">
                        <a:buNone/>
                      </a:pPr>
                      <a:r>
                        <a:rPr lang="en-US" sz="1200" b="1" dirty="0">
                          <a:solidFill>
                            <a:srgbClr val="0B2B33"/>
                          </a:solidFill>
                          <a:latin typeface="Calibri" pitchFamily="34" charset="0"/>
                          <a:ea typeface="Calibri" pitchFamily="34" charset="-122"/>
                          <a:cs typeface="Calibri" pitchFamily="34" charset="-120"/>
                        </a:rPr>
                        <a:t>Merge the halves</a:t>
                      </a:r>
                      <a:endParaRPr lang="en-US" sz="1200" dirty="0">
                        <a:latin typeface="Calibri" charset="0"/>
                        <a:ea typeface="Calibri" charset="0"/>
                        <a:cs typeface="Calibri" charset="0"/>
                      </a:endParaRPr>
                    </a:p>
                  </a:txBody>
                  <a:tcPr marL="91440" marR="91440" marT="36576" marB="36576" anchor="ctr">
                    <a:lnL w="9525" cap="flat" cmpd="sng" algn="ctr">
                      <a:solidFill>
                        <a:srgbClr val="D5E4E6"/>
                      </a:solidFill>
                      <a:prstDash val="solid"/>
                      <a:round/>
                      <a:headEnd type="none" w="med" len="med"/>
                      <a:tailEnd type="none" w="med" len="med"/>
                    </a:lnL>
                    <a:lnR w="9525" cap="flat" cmpd="sng" algn="ctr">
                      <a:solidFill>
                        <a:srgbClr val="D5E4E6"/>
                      </a:solidFill>
                      <a:prstDash val="solid"/>
                      <a:round/>
                      <a:headEnd type="none" w="med" len="med"/>
                      <a:tailEnd type="none" w="med" len="med"/>
                    </a:lnR>
                    <a:lnT w="9525" cap="flat" cmpd="sng" algn="ctr">
                      <a:solidFill>
                        <a:srgbClr val="D5E4E6"/>
                      </a:solidFill>
                      <a:prstDash val="solid"/>
                      <a:round/>
                      <a:headEnd type="none" w="med" len="med"/>
                      <a:tailEnd type="none" w="med" len="med"/>
                    </a:lnT>
                    <a:lnB w="9525" cap="flat" cmpd="sng" algn="ctr">
                      <a:solidFill>
                        <a:srgbClr val="D5E4E6"/>
                      </a:solidFill>
                      <a:prstDash val="solid"/>
                      <a:round/>
                      <a:headEnd type="none" w="med" len="med"/>
                      <a:tailEnd type="none" w="med" len="med"/>
                    </a:lnB>
                    <a:solidFill>
                      <a:srgbClr val="FFD9CE"/>
                    </a:solidFill>
                  </a:tcPr>
                </a:tc>
                <a:tc>
                  <a:txBody>
                    <a:bodyPr/>
                    <a:lstStyle/>
                    <a:p>
                      <a:pPr indent="0" marL="0">
                        <a:buNone/>
                      </a:pPr>
                      <a:r>
                        <a:rPr lang="en-US" sz="1200" b="1" dirty="0">
                          <a:solidFill>
                            <a:srgbClr val="0B2B33"/>
                          </a:solidFill>
                          <a:latin typeface="Calibri" pitchFamily="34" charset="0"/>
                          <a:ea typeface="Calibri" pitchFamily="34" charset="-122"/>
                          <a:cs typeface="Calibri" pitchFamily="34" charset="-120"/>
                        </a:rPr>
                        <a:t>[3, 9, 10, 27, 38, 43, 82]</a:t>
                      </a:r>
                      <a:endParaRPr lang="en-US" sz="1200" dirty="0">
                        <a:latin typeface="Calibri" charset="0"/>
                        <a:ea typeface="Calibri" charset="0"/>
                        <a:cs typeface="Calibri" charset="0"/>
                      </a:endParaRPr>
                    </a:p>
                  </a:txBody>
                  <a:tcPr marL="91440" marR="91440" marT="36576" marB="36576" anchor="ctr">
                    <a:lnL w="9525" cap="flat" cmpd="sng" algn="ctr">
                      <a:solidFill>
                        <a:srgbClr val="D5E4E6"/>
                      </a:solidFill>
                      <a:prstDash val="solid"/>
                      <a:round/>
                      <a:headEnd type="none" w="med" len="med"/>
                      <a:tailEnd type="none" w="med" len="med"/>
                    </a:lnL>
                    <a:lnR w="9525" cap="flat" cmpd="sng" algn="ctr">
                      <a:solidFill>
                        <a:srgbClr val="D5E4E6"/>
                      </a:solidFill>
                      <a:prstDash val="solid"/>
                      <a:round/>
                      <a:headEnd type="none" w="med" len="med"/>
                      <a:tailEnd type="none" w="med" len="med"/>
                    </a:lnR>
                    <a:lnT w="9525" cap="flat" cmpd="sng" algn="ctr">
                      <a:solidFill>
                        <a:srgbClr val="D5E4E6"/>
                      </a:solidFill>
                      <a:prstDash val="solid"/>
                      <a:round/>
                      <a:headEnd type="none" w="med" len="med"/>
                      <a:tailEnd type="none" w="med" len="med"/>
                    </a:lnT>
                    <a:lnB w="9525" cap="flat" cmpd="sng" algn="ctr">
                      <a:solidFill>
                        <a:srgbClr val="D5E4E6"/>
                      </a:solidFill>
                      <a:prstDash val="solid"/>
                      <a:round/>
                      <a:headEnd type="none" w="med" len="med"/>
                      <a:tailEnd type="none" w="med" len="med"/>
                    </a:lnB>
                    <a:solidFill>
                      <a:srgbClr val="FFD9CE"/>
                    </a:solidFill>
                  </a:tcPr>
                </a:tc>
              </a:tr>
            </a:tbl>
          </a:graphicData>
        </a:graphic>
      </p:graphicFrame>
      <p:sp>
        <p:nvSpPr>
          <p:cNvPr id="5" name="Text 2"/>
          <p:cNvSpPr txBox="1"/>
          <p:nvPr/>
        </p:nvSpPr>
        <p:spPr>
          <a:xfrm>
            <a:off x="457200" y="4114800"/>
            <a:ext cx="8229600" cy="274320"/>
          </a:xfrm>
          <a:prstGeom prst="rect">
            <a:avLst/>
          </a:prstGeom>
          <a:noFill/>
          <a:ln/>
        </p:spPr>
        <p:txBody>
          <a:bodyPr wrap="square" lIns="0" tIns="0" rIns="0" bIns="0" rtlCol="0" anchor="ctr"/>
          <a:lstStyle/>
          <a:p>
            <a:pPr indent="0" marL="0">
              <a:buNone/>
            </a:pPr>
            <a:r>
              <a:rPr lang="en-US" sz="1200" dirty="0">
                <a:solidFill>
                  <a:srgbClr val="5B7479"/>
                </a:solidFill>
              </a:rPr>
              <a:t>Each merge compares only the front items of two sorted pieces and takes the smaller.</a:t>
            </a:r>
            <a:endParaRPr lang="en-US" sz="1200" dirty="0"/>
          </a:p>
        </p:txBody>
      </p:sp>
      <p:sp>
        <p:nvSpPr>
          <p:cNvPr id="25" name="Slide Number Placeholder 0"/>
          <p:cNvSpPr>
            <a:spLocks noGrp="1"/>
          </p:cNvSpPr>
          <p:nvPr>
            <p:ph type="sldNum" sz="quarter" idx="4294967295"/>
          </p:nvPr>
        </p:nvSpPr>
        <p:spPr>
          <a:xfrm>
            <a:off x="8138160" y="4754880"/>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7479"/>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57200" y="320040"/>
            <a:ext cx="5486400" cy="228600"/>
          </a:xfrm>
          <a:prstGeom prst="rect">
            <a:avLst/>
          </a:prstGeom>
          <a:noFill/>
          <a:ln/>
        </p:spPr>
        <p:txBody>
          <a:bodyPr wrap="square" lIns="0" tIns="0" rIns="0" bIns="0" rtlCol="0" anchor="ctr"/>
          <a:lstStyle/>
          <a:p>
            <a:pPr indent="0" marL="0">
              <a:buNone/>
            </a:pPr>
            <a:r>
              <a:rPr lang="en-US" sz="1000" b="1" spc="300" kern="0" dirty="0">
                <a:solidFill>
                  <a:srgbClr val="FF7A59"/>
                </a:solidFill>
              </a:rPr>
              <a:t>HOW IT WORKS</a:t>
            </a:r>
            <a:endParaRPr lang="en-US" sz="10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600" b="1" dirty="0">
                <a:solidFill>
                  <a:srgbClr val="FFFFFF"/>
                </a:solidFill>
                <a:latin typeface="Trebuchet MS" pitchFamily="34" charset="0"/>
                <a:ea typeface="Trebuchet MS" pitchFamily="34" charset="-122"/>
                <a:cs typeface="Trebuchet MS" pitchFamily="34" charset="-120"/>
              </a:rPr>
              <a:t>Pseudocode</a:t>
            </a:r>
            <a:endParaRPr lang="en-US" sz="2600" dirty="0"/>
          </a:p>
        </p:txBody>
      </p:sp>
      <p:sp>
        <p:nvSpPr>
          <p:cNvPr id="4" name="Shape 2"/>
          <p:cNvSpPr/>
          <p:nvPr/>
        </p:nvSpPr>
        <p:spPr>
          <a:xfrm>
            <a:off x="457200" y="1280160"/>
            <a:ext cx="5120640" cy="3246120"/>
          </a:xfrm>
          <a:prstGeom prst="rect">
            <a:avLst/>
          </a:prstGeom>
          <a:solidFill>
            <a:srgbClr val="071C22"/>
          </a:solidFill>
          <a:ln w="12700">
            <a:solidFill>
              <a:srgbClr val="071C22"/>
            </a:solidFill>
            <a:prstDash val="solid"/>
          </a:ln>
        </p:spPr>
      </p:sp>
      <p:sp>
        <p:nvSpPr>
          <p:cNvPr id="5" name="Text 3"/>
          <p:cNvSpPr txBox="1"/>
          <p:nvPr/>
        </p:nvSpPr>
        <p:spPr>
          <a:xfrm>
            <a:off x="640080" y="1371600"/>
            <a:ext cx="4846320" cy="3063240"/>
          </a:xfrm>
          <a:prstGeom prst="rect">
            <a:avLst/>
          </a:prstGeom>
          <a:noFill/>
          <a:ln/>
        </p:spPr>
        <p:txBody>
          <a:bodyPr wrap="square" lIns="0" tIns="0" rIns="0" bIns="0" rtlCol="0" anchor="t"/>
          <a:lstStyle/>
          <a:p>
            <a:pPr indent="0" marL="0">
              <a:buNone/>
            </a:pPr>
            <a:r>
              <a:rPr lang="en-US" sz="1000" dirty="0">
                <a:solidFill>
                  <a:srgbClr val="BFE6EA"/>
                </a:solidFill>
                <a:latin typeface="Consolas" pitchFamily="34" charset="0"/>
                <a:ea typeface="Consolas" pitchFamily="34" charset="-122"/>
                <a:cs typeface="Consolas" pitchFamily="34" charset="-120"/>
              </a:rPr>
              <a:t>function MergeSort(A):</a:t>
            </a:r>
            <a:endParaRPr lang="en-US" sz="1000" dirty="0"/>
          </a:p>
          <a:p>
            <a:pPr indent="0" marL="0">
              <a:buNone/>
            </a:pPr>
            <a:r>
              <a:rPr lang="en-US" sz="1000" dirty="0">
                <a:solidFill>
                  <a:srgbClr val="BFE6EA"/>
                </a:solidFill>
                <a:latin typeface="Consolas" pitchFamily="34" charset="0"/>
                <a:ea typeface="Consolas" pitchFamily="34" charset="-122"/>
                <a:cs typeface="Consolas" pitchFamily="34" charset="-120"/>
              </a:rPr>
              <a:t>  if length(A) &lt;= 1:</a:t>
            </a:r>
            <a:endParaRPr lang="en-US" sz="1000" dirty="0"/>
          </a:p>
          <a:p>
            <a:pPr indent="0" marL="0">
              <a:buNone/>
            </a:pPr>
            <a:r>
              <a:rPr lang="en-US" sz="1000" dirty="0">
                <a:solidFill>
                  <a:srgbClr val="BFE6EA"/>
                </a:solidFill>
                <a:latin typeface="Consolas" pitchFamily="34" charset="0"/>
                <a:ea typeface="Consolas" pitchFamily="34" charset="-122"/>
                <a:cs typeface="Consolas" pitchFamily="34" charset="-120"/>
              </a:rPr>
              <a:t>    return A</a:t>
            </a:r>
            <a:endParaRPr lang="en-US" sz="1000" dirty="0"/>
          </a:p>
          <a:p>
            <a:pPr indent="0" marL="0">
              <a:buNone/>
            </a:pPr>
            <a:r>
              <a:rPr lang="en-US" sz="1000" dirty="0">
                <a:solidFill>
                  <a:srgbClr val="BFE6EA"/>
                </a:solidFill>
                <a:latin typeface="Consolas" pitchFamily="34" charset="0"/>
                <a:ea typeface="Consolas" pitchFamily="34" charset="-122"/>
                <a:cs typeface="Consolas" pitchFamily="34" charset="-120"/>
              </a:rPr>
              <a:t>  mid = length(A) / 2</a:t>
            </a:r>
            <a:endParaRPr lang="en-US" sz="1000" dirty="0"/>
          </a:p>
          <a:p>
            <a:pPr indent="0" marL="0">
              <a:buNone/>
            </a:pPr>
            <a:r>
              <a:rPr lang="en-US" sz="1000" dirty="0">
                <a:solidFill>
                  <a:srgbClr val="BFE6EA"/>
                </a:solidFill>
                <a:latin typeface="Consolas" pitchFamily="34" charset="0"/>
                <a:ea typeface="Consolas" pitchFamily="34" charset="-122"/>
                <a:cs typeface="Consolas" pitchFamily="34" charset="-120"/>
              </a:rPr>
              <a:t>  left  = MergeSort(A[0 .. mid])</a:t>
            </a:r>
            <a:endParaRPr lang="en-US" sz="1000" dirty="0"/>
          </a:p>
          <a:p>
            <a:pPr indent="0" marL="0">
              <a:buNone/>
            </a:pPr>
            <a:r>
              <a:rPr lang="en-US" sz="1000" dirty="0">
                <a:solidFill>
                  <a:srgbClr val="BFE6EA"/>
                </a:solidFill>
                <a:latin typeface="Consolas" pitchFamily="34" charset="0"/>
                <a:ea typeface="Consolas" pitchFamily="34" charset="-122"/>
                <a:cs typeface="Consolas" pitchFamily="34" charset="-120"/>
              </a:rPr>
              <a:t>  right = MergeSort(A[mid .. end])</a:t>
            </a:r>
            <a:endParaRPr lang="en-US" sz="1000" dirty="0"/>
          </a:p>
          <a:p>
            <a:pPr indent="0" marL="0">
              <a:buNone/>
            </a:pPr>
            <a:r>
              <a:rPr lang="en-US" sz="1000" dirty="0">
                <a:solidFill>
                  <a:srgbClr val="BFE6EA"/>
                </a:solidFill>
                <a:latin typeface="Consolas" pitchFamily="34" charset="0"/>
                <a:ea typeface="Consolas" pitchFamily="34" charset="-122"/>
                <a:cs typeface="Consolas" pitchFamily="34" charset="-120"/>
              </a:rPr>
              <a:t>  return Merge(left, right)</a:t>
            </a:r>
            <a:endParaRPr lang="en-US" sz="1000" dirty="0"/>
          </a:p>
          <a:p>
            <a:pPr indent="0" marL="0">
              <a:buNone/>
            </a:pPr>
            <a:endParaRPr lang="en-US" sz="1000" dirty="0"/>
          </a:p>
          <a:p>
            <a:pPr indent="0" marL="0">
              <a:buNone/>
            </a:pPr>
            <a:r>
              <a:rPr lang="en-US" sz="1000" dirty="0">
                <a:solidFill>
                  <a:srgbClr val="BFE6EA"/>
                </a:solidFill>
                <a:latin typeface="Consolas" pitchFamily="34" charset="0"/>
                <a:ea typeface="Consolas" pitchFamily="34" charset="-122"/>
                <a:cs typeface="Consolas" pitchFamily="34" charset="-120"/>
              </a:rPr>
              <a:t>function Merge(left, right):</a:t>
            </a:r>
            <a:endParaRPr lang="en-US" sz="1000" dirty="0"/>
          </a:p>
          <a:p>
            <a:pPr indent="0" marL="0">
              <a:buNone/>
            </a:pPr>
            <a:r>
              <a:rPr lang="en-US" sz="1000" dirty="0">
                <a:solidFill>
                  <a:srgbClr val="BFE6EA"/>
                </a:solidFill>
                <a:latin typeface="Consolas" pitchFamily="34" charset="0"/>
                <a:ea typeface="Consolas" pitchFamily="34" charset="-122"/>
                <a:cs typeface="Consolas" pitchFamily="34" charset="-120"/>
              </a:rPr>
              <a:t>  result = empty list</a:t>
            </a:r>
            <a:endParaRPr lang="en-US" sz="1000" dirty="0"/>
          </a:p>
          <a:p>
            <a:pPr indent="0" marL="0">
              <a:buNone/>
            </a:pPr>
            <a:r>
              <a:rPr lang="en-US" sz="1000" dirty="0">
                <a:solidFill>
                  <a:srgbClr val="BFE6EA"/>
                </a:solidFill>
                <a:latin typeface="Consolas" pitchFamily="34" charset="0"/>
                <a:ea typeface="Consolas" pitchFamily="34" charset="-122"/>
                <a:cs typeface="Consolas" pitchFamily="34" charset="-120"/>
              </a:rPr>
              <a:t>  while left and right not empty:</a:t>
            </a:r>
            <a:endParaRPr lang="en-US" sz="1000" dirty="0"/>
          </a:p>
          <a:p>
            <a:pPr indent="0" marL="0">
              <a:buNone/>
            </a:pPr>
            <a:r>
              <a:rPr lang="en-US" sz="1000" dirty="0">
                <a:solidFill>
                  <a:srgbClr val="BFE6EA"/>
                </a:solidFill>
                <a:latin typeface="Consolas" pitchFamily="34" charset="0"/>
                <a:ea typeface="Consolas" pitchFamily="34" charset="-122"/>
                <a:cs typeface="Consolas" pitchFamily="34" charset="-120"/>
              </a:rPr>
              <a:t>    if left[0] &lt;= right[0]:</a:t>
            </a:r>
            <a:endParaRPr lang="en-US" sz="1000" dirty="0"/>
          </a:p>
          <a:p>
            <a:pPr indent="0" marL="0">
              <a:buNone/>
            </a:pPr>
            <a:r>
              <a:rPr lang="en-US" sz="1000" dirty="0">
                <a:solidFill>
                  <a:srgbClr val="BFE6EA"/>
                </a:solidFill>
                <a:latin typeface="Consolas" pitchFamily="34" charset="0"/>
                <a:ea typeface="Consolas" pitchFamily="34" charset="-122"/>
                <a:cs typeface="Consolas" pitchFamily="34" charset="-120"/>
              </a:rPr>
              <a:t>      append left[0] to result</a:t>
            </a:r>
            <a:endParaRPr lang="en-US" sz="1000" dirty="0"/>
          </a:p>
          <a:p>
            <a:pPr indent="0" marL="0">
              <a:buNone/>
            </a:pPr>
            <a:r>
              <a:rPr lang="en-US" sz="1000" dirty="0">
                <a:solidFill>
                  <a:srgbClr val="BFE6EA"/>
                </a:solidFill>
                <a:latin typeface="Consolas" pitchFamily="34" charset="0"/>
                <a:ea typeface="Consolas" pitchFamily="34" charset="-122"/>
                <a:cs typeface="Consolas" pitchFamily="34" charset="-120"/>
              </a:rPr>
              <a:t>    else:</a:t>
            </a:r>
            <a:endParaRPr lang="en-US" sz="1000" dirty="0"/>
          </a:p>
          <a:p>
            <a:pPr indent="0" marL="0">
              <a:buNone/>
            </a:pPr>
            <a:r>
              <a:rPr lang="en-US" sz="1000" dirty="0">
                <a:solidFill>
                  <a:srgbClr val="BFE6EA"/>
                </a:solidFill>
                <a:latin typeface="Consolas" pitchFamily="34" charset="0"/>
                <a:ea typeface="Consolas" pitchFamily="34" charset="-122"/>
                <a:cs typeface="Consolas" pitchFamily="34" charset="-120"/>
              </a:rPr>
              <a:t>      append right[0] to result</a:t>
            </a:r>
            <a:endParaRPr lang="en-US" sz="1000" dirty="0"/>
          </a:p>
          <a:p>
            <a:pPr indent="0" marL="0">
              <a:buNone/>
            </a:pPr>
            <a:r>
              <a:rPr lang="en-US" sz="1000" dirty="0">
                <a:solidFill>
                  <a:srgbClr val="BFE6EA"/>
                </a:solidFill>
                <a:latin typeface="Consolas" pitchFamily="34" charset="0"/>
                <a:ea typeface="Consolas" pitchFamily="34" charset="-122"/>
                <a:cs typeface="Consolas" pitchFamily="34" charset="-120"/>
              </a:rPr>
              <a:t>  append whatever remains</a:t>
            </a:r>
            <a:endParaRPr lang="en-US" sz="1000" dirty="0"/>
          </a:p>
          <a:p>
            <a:pPr indent="0" marL="0">
              <a:buNone/>
            </a:pPr>
            <a:r>
              <a:rPr lang="en-US" sz="1000" dirty="0">
                <a:solidFill>
                  <a:srgbClr val="BFE6EA"/>
                </a:solidFill>
                <a:latin typeface="Consolas" pitchFamily="34" charset="0"/>
                <a:ea typeface="Consolas" pitchFamily="34" charset="-122"/>
                <a:cs typeface="Consolas" pitchFamily="34" charset="-120"/>
              </a:rPr>
              <a:t>  return result</a:t>
            </a:r>
            <a:endParaRPr lang="en-US" sz="1000" dirty="0"/>
          </a:p>
        </p:txBody>
      </p:sp>
      <p:sp>
        <p:nvSpPr>
          <p:cNvPr id="6" name="Text 4"/>
          <p:cNvSpPr txBox="1"/>
          <p:nvPr/>
        </p:nvSpPr>
        <p:spPr>
          <a:xfrm>
            <a:off x="5852160" y="1325880"/>
            <a:ext cx="2834640" cy="960120"/>
          </a:xfrm>
          <a:prstGeom prst="rect">
            <a:avLst/>
          </a:prstGeom>
          <a:noFill/>
          <a:ln/>
        </p:spPr>
        <p:txBody>
          <a:bodyPr wrap="square" lIns="0" tIns="0" rIns="0" bIns="0" rtlCol="0" anchor="t"/>
          <a:lstStyle/>
          <a:p>
            <a:pPr indent="0" marL="0">
              <a:buNone/>
            </a:pPr>
            <a:r>
              <a:rPr lang="en-US" sz="1300" b="1" dirty="0">
                <a:solidFill>
                  <a:srgbClr val="FF7A59"/>
                </a:solidFill>
              </a:rPr>
              <a:t>mid</a:t>
            </a:r>
            <a:endParaRPr lang="en-US" sz="1300" dirty="0"/>
          </a:p>
          <a:p>
            <a:pPr indent="0" marL="0">
              <a:buNone/>
            </a:pPr>
            <a:r>
              <a:rPr lang="en-US" sz="1150" dirty="0">
                <a:solidFill>
                  <a:srgbClr val="FFFFFF"/>
                </a:solidFill>
              </a:rPr>
              <a:t>The index that splits the array into two halves.</a:t>
            </a:r>
            <a:endParaRPr lang="en-US" sz="1300" dirty="0"/>
          </a:p>
        </p:txBody>
      </p:sp>
      <p:sp>
        <p:nvSpPr>
          <p:cNvPr id="7" name="Text 5"/>
          <p:cNvSpPr txBox="1"/>
          <p:nvPr/>
        </p:nvSpPr>
        <p:spPr>
          <a:xfrm>
            <a:off x="5852160" y="2377440"/>
            <a:ext cx="2834640" cy="960120"/>
          </a:xfrm>
          <a:prstGeom prst="rect">
            <a:avLst/>
          </a:prstGeom>
          <a:noFill/>
          <a:ln/>
        </p:spPr>
        <p:txBody>
          <a:bodyPr wrap="square" lIns="0" tIns="0" rIns="0" bIns="0" rtlCol="0" anchor="t"/>
          <a:lstStyle/>
          <a:p>
            <a:pPr indent="0" marL="0">
              <a:buNone/>
            </a:pPr>
            <a:r>
              <a:rPr lang="en-US" sz="1300" b="1" dirty="0">
                <a:solidFill>
                  <a:srgbClr val="FF7A59"/>
                </a:solidFill>
              </a:rPr>
              <a:t>Merge</a:t>
            </a:r>
            <a:endParaRPr lang="en-US" sz="1300" dirty="0"/>
          </a:p>
          <a:p>
            <a:pPr indent="0" marL="0">
              <a:buNone/>
            </a:pPr>
            <a:r>
              <a:rPr lang="en-US" sz="1150" dirty="0">
                <a:solidFill>
                  <a:srgbClr val="FFFFFF"/>
                </a:solidFill>
              </a:rPr>
              <a:t>Combines two sorted lists into one sorted list in a single pass.</a:t>
            </a:r>
            <a:endParaRPr lang="en-US" sz="1300" dirty="0"/>
          </a:p>
        </p:txBody>
      </p:sp>
      <p:sp>
        <p:nvSpPr>
          <p:cNvPr id="8" name="Text 6"/>
          <p:cNvSpPr txBox="1"/>
          <p:nvPr/>
        </p:nvSpPr>
        <p:spPr>
          <a:xfrm>
            <a:off x="5852160" y="3429000"/>
            <a:ext cx="2834640" cy="960120"/>
          </a:xfrm>
          <a:prstGeom prst="rect">
            <a:avLst/>
          </a:prstGeom>
          <a:noFill/>
          <a:ln/>
        </p:spPr>
        <p:txBody>
          <a:bodyPr wrap="square" lIns="0" tIns="0" rIns="0" bIns="0" rtlCol="0" anchor="t"/>
          <a:lstStyle/>
          <a:p>
            <a:pPr indent="0" marL="0">
              <a:buNone/>
            </a:pPr>
            <a:r>
              <a:rPr lang="en-US" sz="1300" b="1" dirty="0">
                <a:solidFill>
                  <a:srgbClr val="FF7A59"/>
                </a:solidFill>
              </a:rPr>
              <a:t>&lt;=</a:t>
            </a:r>
            <a:endParaRPr lang="en-US" sz="1300" dirty="0"/>
          </a:p>
          <a:p>
            <a:pPr indent="0" marL="0">
              <a:buNone/>
            </a:pPr>
            <a:r>
              <a:rPr lang="en-US" sz="1150" dirty="0">
                <a:solidFill>
                  <a:srgbClr val="FFFFFF"/>
                </a:solidFill>
              </a:rPr>
              <a:t>Taking the left item on ties keeps equal items in order, so the sort is stable.</a:t>
            </a:r>
            <a:endParaRPr lang="en-US" sz="1300" dirty="0"/>
          </a:p>
        </p:txBody>
      </p:sp>
      <p:sp>
        <p:nvSpPr>
          <p:cNvPr id="25" name="Slide Number Placeholder 0"/>
          <p:cNvSpPr>
            <a:spLocks noGrp="1"/>
          </p:cNvSpPr>
          <p:nvPr>
            <p:ph type="sldNum" sz="quarter" idx="4294967295"/>
          </p:nvPr>
        </p:nvSpPr>
        <p:spPr>
          <a:xfrm>
            <a:off x="8138160" y="4754880"/>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A9C4C8"/>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457200" y="320040"/>
            <a:ext cx="5486400" cy="228600"/>
          </a:xfrm>
          <a:prstGeom prst="rect">
            <a:avLst/>
          </a:prstGeom>
          <a:noFill/>
          <a:ln/>
        </p:spPr>
        <p:txBody>
          <a:bodyPr wrap="square" lIns="0" tIns="0" rIns="0" bIns="0" rtlCol="0" anchor="ctr"/>
          <a:lstStyle/>
          <a:p>
            <a:pPr indent="0" marL="0">
              <a:buNone/>
            </a:pPr>
            <a:r>
              <a:rPr lang="en-US" sz="1000" b="1" spc="300" kern="0" dirty="0">
                <a:solidFill>
                  <a:srgbClr val="14808A"/>
                </a:solidFill>
              </a:rPr>
              <a:t>ANALYSIS</a:t>
            </a:r>
            <a:endParaRPr lang="en-US" sz="10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600" b="1" dirty="0">
                <a:solidFill>
                  <a:srgbClr val="0B2B33"/>
                </a:solidFill>
                <a:latin typeface="Trebuchet MS" pitchFamily="34" charset="0"/>
                <a:ea typeface="Trebuchet MS" pitchFamily="34" charset="-122"/>
                <a:cs typeface="Trebuchet MS" pitchFamily="34" charset="-120"/>
              </a:rPr>
              <a:t>Time and space complexity</a:t>
            </a:r>
            <a:endParaRPr lang="en-US" sz="26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1828800"/>
                <a:gridCol w="2011680"/>
                <a:gridCol w="4389120"/>
              </a:tblGrid>
              <a:tr h="347472">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Case</a:t>
                      </a:r>
                      <a:endParaRPr lang="en-US" sz="1200" dirty="0">
                        <a:latin typeface="Calibri" charset="0"/>
                        <a:ea typeface="Calibri" charset="0"/>
                        <a:cs typeface="Calibri" charset="0"/>
                      </a:endParaRPr>
                    </a:p>
                  </a:txBody>
                  <a:tcPr marL="91440" marR="91440" marT="36576" marB="36576" anchor="ctr">
                    <a:lnL w="9525" cap="flat" cmpd="sng" algn="ctr">
                      <a:solidFill>
                        <a:srgbClr val="D5E4E6"/>
                      </a:solidFill>
                      <a:prstDash val="solid"/>
                      <a:round/>
                      <a:headEnd type="none" w="med" len="med"/>
                      <a:tailEnd type="none" w="med" len="med"/>
                    </a:lnL>
                    <a:lnR w="9525" cap="flat" cmpd="sng" algn="ctr">
                      <a:solidFill>
                        <a:srgbClr val="D5E4E6"/>
                      </a:solidFill>
                      <a:prstDash val="solid"/>
                      <a:round/>
                      <a:headEnd type="none" w="med" len="med"/>
                      <a:tailEnd type="none" w="med" len="med"/>
                    </a:lnR>
                    <a:lnT w="9525" cap="flat" cmpd="sng" algn="ctr">
                      <a:solidFill>
                        <a:srgbClr val="D5E4E6"/>
                      </a:solidFill>
                      <a:prstDash val="solid"/>
                      <a:round/>
                      <a:headEnd type="none" w="med" len="med"/>
                      <a:tailEnd type="none" w="med" len="med"/>
                    </a:lnT>
                    <a:lnB w="9525" cap="flat" cmpd="sng" algn="ctr">
                      <a:solidFill>
                        <a:srgbClr val="D5E4E6"/>
                      </a:solidFill>
                      <a:prstDash val="solid"/>
                      <a:round/>
                      <a:headEnd type="none" w="med" len="med"/>
                      <a:tailEnd type="none" w="med" len="med"/>
                    </a:lnB>
                    <a:solidFill>
                      <a:srgbClr val="123F4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Running time</a:t>
                      </a:r>
                      <a:endParaRPr lang="en-US" sz="1200" dirty="0">
                        <a:latin typeface="Calibri" charset="0"/>
                        <a:ea typeface="Calibri" charset="0"/>
                        <a:cs typeface="Calibri" charset="0"/>
                      </a:endParaRPr>
                    </a:p>
                  </a:txBody>
                  <a:tcPr marL="91440" marR="91440" marT="36576" marB="36576" anchor="ctr">
                    <a:lnL w="9525" cap="flat" cmpd="sng" algn="ctr">
                      <a:solidFill>
                        <a:srgbClr val="D5E4E6"/>
                      </a:solidFill>
                      <a:prstDash val="solid"/>
                      <a:round/>
                      <a:headEnd type="none" w="med" len="med"/>
                      <a:tailEnd type="none" w="med" len="med"/>
                    </a:lnL>
                    <a:lnR w="9525" cap="flat" cmpd="sng" algn="ctr">
                      <a:solidFill>
                        <a:srgbClr val="D5E4E6"/>
                      </a:solidFill>
                      <a:prstDash val="solid"/>
                      <a:round/>
                      <a:headEnd type="none" w="med" len="med"/>
                      <a:tailEnd type="none" w="med" len="med"/>
                    </a:lnR>
                    <a:lnT w="9525" cap="flat" cmpd="sng" algn="ctr">
                      <a:solidFill>
                        <a:srgbClr val="D5E4E6"/>
                      </a:solidFill>
                      <a:prstDash val="solid"/>
                      <a:round/>
                      <a:headEnd type="none" w="med" len="med"/>
                      <a:tailEnd type="none" w="med" len="med"/>
                    </a:lnT>
                    <a:lnB w="9525" cap="flat" cmpd="sng" algn="ctr">
                      <a:solidFill>
                        <a:srgbClr val="D5E4E6"/>
                      </a:solidFill>
                      <a:prstDash val="solid"/>
                      <a:round/>
                      <a:headEnd type="none" w="med" len="med"/>
                      <a:tailEnd type="none" w="med" len="med"/>
                    </a:lnB>
                    <a:solidFill>
                      <a:srgbClr val="123F4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Why</a:t>
                      </a:r>
                      <a:endParaRPr lang="en-US" sz="1200" dirty="0">
                        <a:latin typeface="Calibri" charset="0"/>
                        <a:ea typeface="Calibri" charset="0"/>
                        <a:cs typeface="Calibri" charset="0"/>
                      </a:endParaRPr>
                    </a:p>
                  </a:txBody>
                  <a:tcPr marL="91440" marR="91440" marT="36576" marB="36576" anchor="ctr">
                    <a:lnL w="9525" cap="flat" cmpd="sng" algn="ctr">
                      <a:solidFill>
                        <a:srgbClr val="D5E4E6"/>
                      </a:solidFill>
                      <a:prstDash val="solid"/>
                      <a:round/>
                      <a:headEnd type="none" w="med" len="med"/>
                      <a:tailEnd type="none" w="med" len="med"/>
                    </a:lnL>
                    <a:lnR w="9525" cap="flat" cmpd="sng" algn="ctr">
                      <a:solidFill>
                        <a:srgbClr val="D5E4E6"/>
                      </a:solidFill>
                      <a:prstDash val="solid"/>
                      <a:round/>
                      <a:headEnd type="none" w="med" len="med"/>
                      <a:tailEnd type="none" w="med" len="med"/>
                    </a:lnR>
                    <a:lnT w="9525" cap="flat" cmpd="sng" algn="ctr">
                      <a:solidFill>
                        <a:srgbClr val="D5E4E6"/>
                      </a:solidFill>
                      <a:prstDash val="solid"/>
                      <a:round/>
                      <a:headEnd type="none" w="med" len="med"/>
                      <a:tailEnd type="none" w="med" len="med"/>
                    </a:lnT>
                    <a:lnB w="9525" cap="flat" cmpd="sng" algn="ctr">
                      <a:solidFill>
                        <a:srgbClr val="D5E4E6"/>
                      </a:solidFill>
                      <a:prstDash val="solid"/>
                      <a:round/>
                      <a:headEnd type="none" w="med" len="med"/>
                      <a:tailEnd type="none" w="med" len="med"/>
                    </a:lnB>
                    <a:solidFill>
                      <a:srgbClr val="123F4A"/>
                    </a:solidFill>
                  </a:tcPr>
                </a:tc>
              </a:tr>
              <a:tr h="347472">
                <a:tc>
                  <a:txBody>
                    <a:bodyPr/>
                    <a:lstStyle/>
                    <a:p>
                      <a:pPr indent="0" marL="0">
                        <a:buNone/>
                      </a:pPr>
                      <a:r>
                        <a:rPr lang="en-US" sz="1200" dirty="0">
                          <a:solidFill>
                            <a:srgbClr val="0B2B33"/>
                          </a:solidFill>
                          <a:latin typeface="Calibri" pitchFamily="34" charset="0"/>
                          <a:ea typeface="Calibri" pitchFamily="34" charset="-122"/>
                          <a:cs typeface="Calibri" pitchFamily="34" charset="-120"/>
                        </a:rPr>
                        <a:t>Best case</a:t>
                      </a:r>
                      <a:endParaRPr lang="en-US" sz="1200" dirty="0">
                        <a:latin typeface="Calibri" charset="0"/>
                        <a:ea typeface="Calibri" charset="0"/>
                        <a:cs typeface="Calibri" charset="0"/>
                      </a:endParaRPr>
                    </a:p>
                  </a:txBody>
                  <a:tcPr marL="91440" marR="91440" marT="36576" marB="36576" anchor="ctr">
                    <a:lnL w="9525" cap="flat" cmpd="sng" algn="ctr">
                      <a:solidFill>
                        <a:srgbClr val="D5E4E6"/>
                      </a:solidFill>
                      <a:prstDash val="solid"/>
                      <a:round/>
                      <a:headEnd type="none" w="med" len="med"/>
                      <a:tailEnd type="none" w="med" len="med"/>
                    </a:lnL>
                    <a:lnR w="9525" cap="flat" cmpd="sng" algn="ctr">
                      <a:solidFill>
                        <a:srgbClr val="D5E4E6"/>
                      </a:solidFill>
                      <a:prstDash val="solid"/>
                      <a:round/>
                      <a:headEnd type="none" w="med" len="med"/>
                      <a:tailEnd type="none" w="med" len="med"/>
                    </a:lnR>
                    <a:lnT w="9525" cap="flat" cmpd="sng" algn="ctr">
                      <a:solidFill>
                        <a:srgbClr val="D5E4E6"/>
                      </a:solidFill>
                      <a:prstDash val="solid"/>
                      <a:round/>
                      <a:headEnd type="none" w="med" len="med"/>
                      <a:tailEnd type="none" w="med" len="med"/>
                    </a:lnT>
                    <a:lnB w="9525" cap="flat" cmpd="sng" algn="ctr">
                      <a:solidFill>
                        <a:srgbClr val="D5E4E6"/>
                      </a:solidFill>
                      <a:prstDash val="solid"/>
                      <a:round/>
                      <a:headEnd type="none" w="med" len="med"/>
                      <a:tailEnd type="none" w="med" len="med"/>
                    </a:lnB>
                    <a:solidFill>
                      <a:srgbClr val="FFFFFF"/>
                    </a:solidFill>
                  </a:tcPr>
                </a:tc>
                <a:tc>
                  <a:txBody>
                    <a:bodyPr/>
                    <a:lstStyle/>
                    <a:p>
                      <a:pPr indent="0" marL="0">
                        <a:buNone/>
                      </a:pPr>
                      <a:r>
                        <a:rPr lang="en-US" sz="1200" dirty="0">
                          <a:solidFill>
                            <a:srgbClr val="0B2B33"/>
                          </a:solidFill>
                          <a:latin typeface="Calibri" pitchFamily="34" charset="0"/>
                          <a:ea typeface="Calibri" pitchFamily="34" charset="-122"/>
                          <a:cs typeface="Calibri" pitchFamily="34" charset="-120"/>
                        </a:rPr>
                        <a:t>O(n log n)</a:t>
                      </a:r>
                      <a:endParaRPr lang="en-US" sz="1200" dirty="0">
                        <a:latin typeface="Calibri" charset="0"/>
                        <a:ea typeface="Calibri" charset="0"/>
                        <a:cs typeface="Calibri" charset="0"/>
                      </a:endParaRPr>
                    </a:p>
                  </a:txBody>
                  <a:tcPr marL="91440" marR="91440" marT="36576" marB="36576" anchor="ctr">
                    <a:lnL w="9525" cap="flat" cmpd="sng" algn="ctr">
                      <a:solidFill>
                        <a:srgbClr val="D5E4E6"/>
                      </a:solidFill>
                      <a:prstDash val="solid"/>
                      <a:round/>
                      <a:headEnd type="none" w="med" len="med"/>
                      <a:tailEnd type="none" w="med" len="med"/>
                    </a:lnL>
                    <a:lnR w="9525" cap="flat" cmpd="sng" algn="ctr">
                      <a:solidFill>
                        <a:srgbClr val="D5E4E6"/>
                      </a:solidFill>
                      <a:prstDash val="solid"/>
                      <a:round/>
                      <a:headEnd type="none" w="med" len="med"/>
                      <a:tailEnd type="none" w="med" len="med"/>
                    </a:lnR>
                    <a:lnT w="9525" cap="flat" cmpd="sng" algn="ctr">
                      <a:solidFill>
                        <a:srgbClr val="D5E4E6"/>
                      </a:solidFill>
                      <a:prstDash val="solid"/>
                      <a:round/>
                      <a:headEnd type="none" w="med" len="med"/>
                      <a:tailEnd type="none" w="med" len="med"/>
                    </a:lnT>
                    <a:lnB w="9525" cap="flat" cmpd="sng" algn="ctr">
                      <a:solidFill>
                        <a:srgbClr val="D5E4E6"/>
                      </a:solidFill>
                      <a:prstDash val="solid"/>
                      <a:round/>
                      <a:headEnd type="none" w="med" len="med"/>
                      <a:tailEnd type="none" w="med" len="med"/>
                    </a:lnB>
                    <a:solidFill>
                      <a:srgbClr val="FFFFFF"/>
                    </a:solidFill>
                  </a:tcPr>
                </a:tc>
                <a:tc>
                  <a:txBody>
                    <a:bodyPr/>
                    <a:lstStyle/>
                    <a:p>
                      <a:pPr indent="0" marL="0">
                        <a:buNone/>
                      </a:pPr>
                      <a:r>
                        <a:rPr lang="en-US" sz="1200" dirty="0">
                          <a:solidFill>
                            <a:srgbClr val="0B2B33"/>
                          </a:solidFill>
                          <a:latin typeface="Calibri" pitchFamily="34" charset="0"/>
                          <a:ea typeface="Calibri" pitchFamily="34" charset="-122"/>
                          <a:cs typeface="Calibri" pitchFamily="34" charset="-120"/>
                        </a:rPr>
                        <a:t>The array is still split and merged at every level.</a:t>
                      </a:r>
                      <a:endParaRPr lang="en-US" sz="1200" dirty="0">
                        <a:latin typeface="Calibri" charset="0"/>
                        <a:ea typeface="Calibri" charset="0"/>
                        <a:cs typeface="Calibri" charset="0"/>
                      </a:endParaRPr>
                    </a:p>
                  </a:txBody>
                  <a:tcPr marL="91440" marR="91440" marT="36576" marB="36576" anchor="ctr">
                    <a:lnL w="9525" cap="flat" cmpd="sng" algn="ctr">
                      <a:solidFill>
                        <a:srgbClr val="D5E4E6"/>
                      </a:solidFill>
                      <a:prstDash val="solid"/>
                      <a:round/>
                      <a:headEnd type="none" w="med" len="med"/>
                      <a:tailEnd type="none" w="med" len="med"/>
                    </a:lnL>
                    <a:lnR w="9525" cap="flat" cmpd="sng" algn="ctr">
                      <a:solidFill>
                        <a:srgbClr val="D5E4E6"/>
                      </a:solidFill>
                      <a:prstDash val="solid"/>
                      <a:round/>
                      <a:headEnd type="none" w="med" len="med"/>
                      <a:tailEnd type="none" w="med" len="med"/>
                    </a:lnR>
                    <a:lnT w="9525" cap="flat" cmpd="sng" algn="ctr">
                      <a:solidFill>
                        <a:srgbClr val="D5E4E6"/>
                      </a:solidFill>
                      <a:prstDash val="solid"/>
                      <a:round/>
                      <a:headEnd type="none" w="med" len="med"/>
                      <a:tailEnd type="none" w="med" len="med"/>
                    </a:lnT>
                    <a:lnB w="9525" cap="flat" cmpd="sng" algn="ctr">
                      <a:solidFill>
                        <a:srgbClr val="D5E4E6"/>
                      </a:solidFill>
                      <a:prstDash val="solid"/>
                      <a:round/>
                      <a:headEnd type="none" w="med" len="med"/>
                      <a:tailEnd type="none" w="med" len="med"/>
                    </a:lnB>
                    <a:solidFill>
                      <a:srgbClr val="FFFFFF"/>
                    </a:solidFill>
                  </a:tcPr>
                </a:tc>
              </a:tr>
              <a:tr h="347472">
                <a:tc>
                  <a:txBody>
                    <a:bodyPr/>
                    <a:lstStyle/>
                    <a:p>
                      <a:pPr indent="0" marL="0">
                        <a:buNone/>
                      </a:pPr>
                      <a:r>
                        <a:rPr lang="en-US" sz="1200" dirty="0">
                          <a:solidFill>
                            <a:srgbClr val="0B2B33"/>
                          </a:solidFill>
                          <a:latin typeface="Calibri" pitchFamily="34" charset="0"/>
                          <a:ea typeface="Calibri" pitchFamily="34" charset="-122"/>
                          <a:cs typeface="Calibri" pitchFamily="34" charset="-120"/>
                        </a:rPr>
                        <a:t>Average case</a:t>
                      </a:r>
                      <a:endParaRPr lang="en-US" sz="1200" dirty="0">
                        <a:latin typeface="Calibri" charset="0"/>
                        <a:ea typeface="Calibri" charset="0"/>
                        <a:cs typeface="Calibri" charset="0"/>
                      </a:endParaRPr>
                    </a:p>
                  </a:txBody>
                  <a:tcPr marL="91440" marR="91440" marT="36576" marB="36576" anchor="ctr">
                    <a:lnL w="9525" cap="flat" cmpd="sng" algn="ctr">
                      <a:solidFill>
                        <a:srgbClr val="D5E4E6"/>
                      </a:solidFill>
                      <a:prstDash val="solid"/>
                      <a:round/>
                      <a:headEnd type="none" w="med" len="med"/>
                      <a:tailEnd type="none" w="med" len="med"/>
                    </a:lnL>
                    <a:lnR w="9525" cap="flat" cmpd="sng" algn="ctr">
                      <a:solidFill>
                        <a:srgbClr val="D5E4E6"/>
                      </a:solidFill>
                      <a:prstDash val="solid"/>
                      <a:round/>
                      <a:headEnd type="none" w="med" len="med"/>
                      <a:tailEnd type="none" w="med" len="med"/>
                    </a:lnR>
                    <a:lnT w="9525" cap="flat" cmpd="sng" algn="ctr">
                      <a:solidFill>
                        <a:srgbClr val="D5E4E6"/>
                      </a:solidFill>
                      <a:prstDash val="solid"/>
                      <a:round/>
                      <a:headEnd type="none" w="med" len="med"/>
                      <a:tailEnd type="none" w="med" len="med"/>
                    </a:lnT>
                    <a:lnB w="9525" cap="flat" cmpd="sng" algn="ctr">
                      <a:solidFill>
                        <a:srgbClr val="D5E4E6"/>
                      </a:solidFill>
                      <a:prstDash val="solid"/>
                      <a:round/>
                      <a:headEnd type="none" w="med" len="med"/>
                      <a:tailEnd type="none" w="med" len="med"/>
                    </a:lnB>
                    <a:solidFill>
                      <a:srgbClr val="E8F1F2"/>
                    </a:solidFill>
                  </a:tcPr>
                </a:tc>
                <a:tc>
                  <a:txBody>
                    <a:bodyPr/>
                    <a:lstStyle/>
                    <a:p>
                      <a:pPr indent="0" marL="0">
                        <a:buNone/>
                      </a:pPr>
                      <a:r>
                        <a:rPr lang="en-US" sz="1200" dirty="0">
                          <a:solidFill>
                            <a:srgbClr val="0B2B33"/>
                          </a:solidFill>
                          <a:latin typeface="Calibri" pitchFamily="34" charset="0"/>
                          <a:ea typeface="Calibri" pitchFamily="34" charset="-122"/>
                          <a:cs typeface="Calibri" pitchFamily="34" charset="-120"/>
                        </a:rPr>
                        <a:t>O(n log n)</a:t>
                      </a:r>
                      <a:endParaRPr lang="en-US" sz="1200" dirty="0">
                        <a:latin typeface="Calibri" charset="0"/>
                        <a:ea typeface="Calibri" charset="0"/>
                        <a:cs typeface="Calibri" charset="0"/>
                      </a:endParaRPr>
                    </a:p>
                  </a:txBody>
                  <a:tcPr marL="91440" marR="91440" marT="36576" marB="36576" anchor="ctr">
                    <a:lnL w="9525" cap="flat" cmpd="sng" algn="ctr">
                      <a:solidFill>
                        <a:srgbClr val="D5E4E6"/>
                      </a:solidFill>
                      <a:prstDash val="solid"/>
                      <a:round/>
                      <a:headEnd type="none" w="med" len="med"/>
                      <a:tailEnd type="none" w="med" len="med"/>
                    </a:lnL>
                    <a:lnR w="9525" cap="flat" cmpd="sng" algn="ctr">
                      <a:solidFill>
                        <a:srgbClr val="D5E4E6"/>
                      </a:solidFill>
                      <a:prstDash val="solid"/>
                      <a:round/>
                      <a:headEnd type="none" w="med" len="med"/>
                      <a:tailEnd type="none" w="med" len="med"/>
                    </a:lnR>
                    <a:lnT w="9525" cap="flat" cmpd="sng" algn="ctr">
                      <a:solidFill>
                        <a:srgbClr val="D5E4E6"/>
                      </a:solidFill>
                      <a:prstDash val="solid"/>
                      <a:round/>
                      <a:headEnd type="none" w="med" len="med"/>
                      <a:tailEnd type="none" w="med" len="med"/>
                    </a:lnT>
                    <a:lnB w="9525" cap="flat" cmpd="sng" algn="ctr">
                      <a:solidFill>
                        <a:srgbClr val="D5E4E6"/>
                      </a:solidFill>
                      <a:prstDash val="solid"/>
                      <a:round/>
                      <a:headEnd type="none" w="med" len="med"/>
                      <a:tailEnd type="none" w="med" len="med"/>
                    </a:lnB>
                    <a:solidFill>
                      <a:srgbClr val="E8F1F2"/>
                    </a:solidFill>
                  </a:tcPr>
                </a:tc>
                <a:tc>
                  <a:txBody>
                    <a:bodyPr/>
                    <a:lstStyle/>
                    <a:p>
                      <a:pPr indent="0" marL="0">
                        <a:buNone/>
                      </a:pPr>
                      <a:r>
                        <a:rPr lang="en-US" sz="1200" dirty="0">
                          <a:solidFill>
                            <a:srgbClr val="0B2B33"/>
                          </a:solidFill>
                          <a:latin typeface="Calibri" pitchFamily="34" charset="0"/>
                          <a:ea typeface="Calibri" pitchFamily="34" charset="-122"/>
                          <a:cs typeface="Calibri" pitchFamily="34" charset="-120"/>
                        </a:rPr>
                        <a:t>About log n levels, each doing O(n) work to merge.</a:t>
                      </a:r>
                      <a:endParaRPr lang="en-US" sz="1200" dirty="0">
                        <a:latin typeface="Calibri" charset="0"/>
                        <a:ea typeface="Calibri" charset="0"/>
                        <a:cs typeface="Calibri" charset="0"/>
                      </a:endParaRPr>
                    </a:p>
                  </a:txBody>
                  <a:tcPr marL="91440" marR="91440" marT="36576" marB="36576" anchor="ctr">
                    <a:lnL w="9525" cap="flat" cmpd="sng" algn="ctr">
                      <a:solidFill>
                        <a:srgbClr val="D5E4E6"/>
                      </a:solidFill>
                      <a:prstDash val="solid"/>
                      <a:round/>
                      <a:headEnd type="none" w="med" len="med"/>
                      <a:tailEnd type="none" w="med" len="med"/>
                    </a:lnL>
                    <a:lnR w="9525" cap="flat" cmpd="sng" algn="ctr">
                      <a:solidFill>
                        <a:srgbClr val="D5E4E6"/>
                      </a:solidFill>
                      <a:prstDash val="solid"/>
                      <a:round/>
                      <a:headEnd type="none" w="med" len="med"/>
                      <a:tailEnd type="none" w="med" len="med"/>
                    </a:lnR>
                    <a:lnT w="9525" cap="flat" cmpd="sng" algn="ctr">
                      <a:solidFill>
                        <a:srgbClr val="D5E4E6"/>
                      </a:solidFill>
                      <a:prstDash val="solid"/>
                      <a:round/>
                      <a:headEnd type="none" w="med" len="med"/>
                      <a:tailEnd type="none" w="med" len="med"/>
                    </a:lnT>
                    <a:lnB w="9525" cap="flat" cmpd="sng" algn="ctr">
                      <a:solidFill>
                        <a:srgbClr val="D5E4E6"/>
                      </a:solidFill>
                      <a:prstDash val="solid"/>
                      <a:round/>
                      <a:headEnd type="none" w="med" len="med"/>
                      <a:tailEnd type="none" w="med" len="med"/>
                    </a:lnB>
                    <a:solidFill>
                      <a:srgbClr val="E8F1F2"/>
                    </a:solidFill>
                  </a:tcPr>
                </a:tc>
              </a:tr>
              <a:tr h="347472">
                <a:tc>
                  <a:txBody>
                    <a:bodyPr/>
                    <a:lstStyle/>
                    <a:p>
                      <a:pPr indent="0" marL="0">
                        <a:buNone/>
                      </a:pPr>
                      <a:r>
                        <a:rPr lang="en-US" sz="1200" dirty="0">
                          <a:solidFill>
                            <a:srgbClr val="0B2B33"/>
                          </a:solidFill>
                          <a:latin typeface="Calibri" pitchFamily="34" charset="0"/>
                          <a:ea typeface="Calibri" pitchFamily="34" charset="-122"/>
                          <a:cs typeface="Calibri" pitchFamily="34" charset="-120"/>
                        </a:rPr>
                        <a:t>Worst case</a:t>
                      </a:r>
                      <a:endParaRPr lang="en-US" sz="1200" dirty="0">
                        <a:latin typeface="Calibri" charset="0"/>
                        <a:ea typeface="Calibri" charset="0"/>
                        <a:cs typeface="Calibri" charset="0"/>
                      </a:endParaRPr>
                    </a:p>
                  </a:txBody>
                  <a:tcPr marL="91440" marR="91440" marT="36576" marB="36576" anchor="ctr">
                    <a:lnL w="9525" cap="flat" cmpd="sng" algn="ctr">
                      <a:solidFill>
                        <a:srgbClr val="D5E4E6"/>
                      </a:solidFill>
                      <a:prstDash val="solid"/>
                      <a:round/>
                      <a:headEnd type="none" w="med" len="med"/>
                      <a:tailEnd type="none" w="med" len="med"/>
                    </a:lnL>
                    <a:lnR w="9525" cap="flat" cmpd="sng" algn="ctr">
                      <a:solidFill>
                        <a:srgbClr val="D5E4E6"/>
                      </a:solidFill>
                      <a:prstDash val="solid"/>
                      <a:round/>
                      <a:headEnd type="none" w="med" len="med"/>
                      <a:tailEnd type="none" w="med" len="med"/>
                    </a:lnR>
                    <a:lnT w="9525" cap="flat" cmpd="sng" algn="ctr">
                      <a:solidFill>
                        <a:srgbClr val="D5E4E6"/>
                      </a:solidFill>
                      <a:prstDash val="solid"/>
                      <a:round/>
                      <a:headEnd type="none" w="med" len="med"/>
                      <a:tailEnd type="none" w="med" len="med"/>
                    </a:lnT>
                    <a:lnB w="9525" cap="flat" cmpd="sng" algn="ctr">
                      <a:solidFill>
                        <a:srgbClr val="D5E4E6"/>
                      </a:solidFill>
                      <a:prstDash val="solid"/>
                      <a:round/>
                      <a:headEnd type="none" w="med" len="med"/>
                      <a:tailEnd type="none" w="med" len="med"/>
                    </a:lnB>
                    <a:solidFill>
                      <a:srgbClr val="FFFFFF"/>
                    </a:solidFill>
                  </a:tcPr>
                </a:tc>
                <a:tc>
                  <a:txBody>
                    <a:bodyPr/>
                    <a:lstStyle/>
                    <a:p>
                      <a:pPr indent="0" marL="0">
                        <a:buNone/>
                      </a:pPr>
                      <a:r>
                        <a:rPr lang="en-US" sz="1200" dirty="0">
                          <a:solidFill>
                            <a:srgbClr val="0B2B33"/>
                          </a:solidFill>
                          <a:latin typeface="Calibri" pitchFamily="34" charset="0"/>
                          <a:ea typeface="Calibri" pitchFamily="34" charset="-122"/>
                          <a:cs typeface="Calibri" pitchFamily="34" charset="-120"/>
                        </a:rPr>
                        <a:t>O(n log n)</a:t>
                      </a:r>
                      <a:endParaRPr lang="en-US" sz="1200" dirty="0">
                        <a:latin typeface="Calibri" charset="0"/>
                        <a:ea typeface="Calibri" charset="0"/>
                        <a:cs typeface="Calibri" charset="0"/>
                      </a:endParaRPr>
                    </a:p>
                  </a:txBody>
                  <a:tcPr marL="91440" marR="91440" marT="36576" marB="36576" anchor="ctr">
                    <a:lnL w="9525" cap="flat" cmpd="sng" algn="ctr">
                      <a:solidFill>
                        <a:srgbClr val="D5E4E6"/>
                      </a:solidFill>
                      <a:prstDash val="solid"/>
                      <a:round/>
                      <a:headEnd type="none" w="med" len="med"/>
                      <a:tailEnd type="none" w="med" len="med"/>
                    </a:lnL>
                    <a:lnR w="9525" cap="flat" cmpd="sng" algn="ctr">
                      <a:solidFill>
                        <a:srgbClr val="D5E4E6"/>
                      </a:solidFill>
                      <a:prstDash val="solid"/>
                      <a:round/>
                      <a:headEnd type="none" w="med" len="med"/>
                      <a:tailEnd type="none" w="med" len="med"/>
                    </a:lnR>
                    <a:lnT w="9525" cap="flat" cmpd="sng" algn="ctr">
                      <a:solidFill>
                        <a:srgbClr val="D5E4E6"/>
                      </a:solidFill>
                      <a:prstDash val="solid"/>
                      <a:round/>
                      <a:headEnd type="none" w="med" len="med"/>
                      <a:tailEnd type="none" w="med" len="med"/>
                    </a:lnT>
                    <a:lnB w="9525" cap="flat" cmpd="sng" algn="ctr">
                      <a:solidFill>
                        <a:srgbClr val="D5E4E6"/>
                      </a:solidFill>
                      <a:prstDash val="solid"/>
                      <a:round/>
                      <a:headEnd type="none" w="med" len="med"/>
                      <a:tailEnd type="none" w="med" len="med"/>
                    </a:lnB>
                    <a:solidFill>
                      <a:srgbClr val="FFFFFF"/>
                    </a:solidFill>
                  </a:tcPr>
                </a:tc>
                <a:tc>
                  <a:txBody>
                    <a:bodyPr/>
                    <a:lstStyle/>
                    <a:p>
                      <a:pPr indent="0" marL="0">
                        <a:buNone/>
                      </a:pPr>
                      <a:r>
                        <a:rPr lang="en-US" sz="1200" dirty="0">
                          <a:solidFill>
                            <a:srgbClr val="0B2B33"/>
                          </a:solidFill>
                          <a:latin typeface="Calibri" pitchFamily="34" charset="0"/>
                          <a:ea typeface="Calibri" pitchFamily="34" charset="-122"/>
                          <a:cs typeface="Calibri" pitchFamily="34" charset="-120"/>
                        </a:rPr>
                        <a:t>The split is always even, so input order never hurts.</a:t>
                      </a:r>
                      <a:endParaRPr lang="en-US" sz="1200" dirty="0">
                        <a:latin typeface="Calibri" charset="0"/>
                        <a:ea typeface="Calibri" charset="0"/>
                        <a:cs typeface="Calibri" charset="0"/>
                      </a:endParaRPr>
                    </a:p>
                  </a:txBody>
                  <a:tcPr marL="91440" marR="91440" marT="36576" marB="36576" anchor="ctr">
                    <a:lnL w="9525" cap="flat" cmpd="sng" algn="ctr">
                      <a:solidFill>
                        <a:srgbClr val="D5E4E6"/>
                      </a:solidFill>
                      <a:prstDash val="solid"/>
                      <a:round/>
                      <a:headEnd type="none" w="med" len="med"/>
                      <a:tailEnd type="none" w="med" len="med"/>
                    </a:lnL>
                    <a:lnR w="9525" cap="flat" cmpd="sng" algn="ctr">
                      <a:solidFill>
                        <a:srgbClr val="D5E4E6"/>
                      </a:solidFill>
                      <a:prstDash val="solid"/>
                      <a:round/>
                      <a:headEnd type="none" w="med" len="med"/>
                      <a:tailEnd type="none" w="med" len="med"/>
                    </a:lnR>
                    <a:lnT w="9525" cap="flat" cmpd="sng" algn="ctr">
                      <a:solidFill>
                        <a:srgbClr val="D5E4E6"/>
                      </a:solidFill>
                      <a:prstDash val="solid"/>
                      <a:round/>
                      <a:headEnd type="none" w="med" len="med"/>
                      <a:tailEnd type="none" w="med" len="med"/>
                    </a:lnT>
                    <a:lnB w="9525" cap="flat" cmpd="sng" algn="ctr">
                      <a:solidFill>
                        <a:srgbClr val="D5E4E6"/>
                      </a:solidFill>
                      <a:prstDash val="solid"/>
                      <a:round/>
                      <a:headEnd type="none" w="med" len="med"/>
                      <a:tailEnd type="none" w="med" len="med"/>
                    </a:lnB>
                    <a:solidFill>
                      <a:srgbClr val="FFFFFF"/>
                    </a:solidFill>
                  </a:tcPr>
                </a:tc>
              </a:tr>
              <a:tr h="347472">
                <a:tc>
                  <a:txBody>
                    <a:bodyPr/>
                    <a:lstStyle/>
                    <a:p>
                      <a:pPr indent="0" marL="0">
                        <a:buNone/>
                      </a:pPr>
                      <a:r>
                        <a:rPr lang="en-US" sz="1200" dirty="0">
                          <a:solidFill>
                            <a:srgbClr val="0B2B33"/>
                          </a:solidFill>
                          <a:latin typeface="Calibri" pitchFamily="34" charset="0"/>
                          <a:ea typeface="Calibri" pitchFamily="34" charset="-122"/>
                          <a:cs typeface="Calibri" pitchFamily="34" charset="-120"/>
                        </a:rPr>
                        <a:t>Extra space</a:t>
                      </a:r>
                      <a:endParaRPr lang="en-US" sz="1200" dirty="0">
                        <a:latin typeface="Calibri" charset="0"/>
                        <a:ea typeface="Calibri" charset="0"/>
                        <a:cs typeface="Calibri" charset="0"/>
                      </a:endParaRPr>
                    </a:p>
                  </a:txBody>
                  <a:tcPr marL="91440" marR="91440" marT="36576" marB="36576" anchor="ctr">
                    <a:lnL w="9525" cap="flat" cmpd="sng" algn="ctr">
                      <a:solidFill>
                        <a:srgbClr val="D5E4E6"/>
                      </a:solidFill>
                      <a:prstDash val="solid"/>
                      <a:round/>
                      <a:headEnd type="none" w="med" len="med"/>
                      <a:tailEnd type="none" w="med" len="med"/>
                    </a:lnL>
                    <a:lnR w="9525" cap="flat" cmpd="sng" algn="ctr">
                      <a:solidFill>
                        <a:srgbClr val="D5E4E6"/>
                      </a:solidFill>
                      <a:prstDash val="solid"/>
                      <a:round/>
                      <a:headEnd type="none" w="med" len="med"/>
                      <a:tailEnd type="none" w="med" len="med"/>
                    </a:lnR>
                    <a:lnT w="9525" cap="flat" cmpd="sng" algn="ctr">
                      <a:solidFill>
                        <a:srgbClr val="D5E4E6"/>
                      </a:solidFill>
                      <a:prstDash val="solid"/>
                      <a:round/>
                      <a:headEnd type="none" w="med" len="med"/>
                      <a:tailEnd type="none" w="med" len="med"/>
                    </a:lnT>
                    <a:lnB w="9525" cap="flat" cmpd="sng" algn="ctr">
                      <a:solidFill>
                        <a:srgbClr val="D5E4E6"/>
                      </a:solidFill>
                      <a:prstDash val="solid"/>
                      <a:round/>
                      <a:headEnd type="none" w="med" len="med"/>
                      <a:tailEnd type="none" w="med" len="med"/>
                    </a:lnB>
                    <a:solidFill>
                      <a:srgbClr val="E8F1F2"/>
                    </a:solidFill>
                  </a:tcPr>
                </a:tc>
                <a:tc>
                  <a:txBody>
                    <a:bodyPr/>
                    <a:lstStyle/>
                    <a:p>
                      <a:pPr indent="0" marL="0">
                        <a:buNone/>
                      </a:pPr>
                      <a:r>
                        <a:rPr lang="en-US" sz="1200" dirty="0">
                          <a:solidFill>
                            <a:srgbClr val="0B2B33"/>
                          </a:solidFill>
                          <a:latin typeface="Calibri" pitchFamily="34" charset="0"/>
                          <a:ea typeface="Calibri" pitchFamily="34" charset="-122"/>
                          <a:cs typeface="Calibri" pitchFamily="34" charset="-120"/>
                        </a:rPr>
                        <a:t>O(n)</a:t>
                      </a:r>
                      <a:endParaRPr lang="en-US" sz="1200" dirty="0">
                        <a:latin typeface="Calibri" charset="0"/>
                        <a:ea typeface="Calibri" charset="0"/>
                        <a:cs typeface="Calibri" charset="0"/>
                      </a:endParaRPr>
                    </a:p>
                  </a:txBody>
                  <a:tcPr marL="91440" marR="91440" marT="36576" marB="36576" anchor="ctr">
                    <a:lnL w="9525" cap="flat" cmpd="sng" algn="ctr">
                      <a:solidFill>
                        <a:srgbClr val="D5E4E6"/>
                      </a:solidFill>
                      <a:prstDash val="solid"/>
                      <a:round/>
                      <a:headEnd type="none" w="med" len="med"/>
                      <a:tailEnd type="none" w="med" len="med"/>
                    </a:lnL>
                    <a:lnR w="9525" cap="flat" cmpd="sng" algn="ctr">
                      <a:solidFill>
                        <a:srgbClr val="D5E4E6"/>
                      </a:solidFill>
                      <a:prstDash val="solid"/>
                      <a:round/>
                      <a:headEnd type="none" w="med" len="med"/>
                      <a:tailEnd type="none" w="med" len="med"/>
                    </a:lnR>
                    <a:lnT w="9525" cap="flat" cmpd="sng" algn="ctr">
                      <a:solidFill>
                        <a:srgbClr val="D5E4E6"/>
                      </a:solidFill>
                      <a:prstDash val="solid"/>
                      <a:round/>
                      <a:headEnd type="none" w="med" len="med"/>
                      <a:tailEnd type="none" w="med" len="med"/>
                    </a:lnT>
                    <a:lnB w="9525" cap="flat" cmpd="sng" algn="ctr">
                      <a:solidFill>
                        <a:srgbClr val="D5E4E6"/>
                      </a:solidFill>
                      <a:prstDash val="solid"/>
                      <a:round/>
                      <a:headEnd type="none" w="med" len="med"/>
                      <a:tailEnd type="none" w="med" len="med"/>
                    </a:lnB>
                    <a:solidFill>
                      <a:srgbClr val="E8F1F2"/>
                    </a:solidFill>
                  </a:tcPr>
                </a:tc>
                <a:tc>
                  <a:txBody>
                    <a:bodyPr/>
                    <a:lstStyle/>
                    <a:p>
                      <a:pPr indent="0" marL="0">
                        <a:buNone/>
                      </a:pPr>
                      <a:r>
                        <a:rPr lang="en-US" sz="1200" dirty="0">
                          <a:solidFill>
                            <a:srgbClr val="0B2B33"/>
                          </a:solidFill>
                          <a:latin typeface="Calibri" pitchFamily="34" charset="0"/>
                          <a:ea typeface="Calibri" pitchFamily="34" charset="-122"/>
                          <a:cs typeface="Calibri" pitchFamily="34" charset="-120"/>
                        </a:rPr>
                        <a:t>A temporary array is needed while merging.</a:t>
                      </a:r>
                      <a:endParaRPr lang="en-US" sz="1200" dirty="0">
                        <a:latin typeface="Calibri" charset="0"/>
                        <a:ea typeface="Calibri" charset="0"/>
                        <a:cs typeface="Calibri" charset="0"/>
                      </a:endParaRPr>
                    </a:p>
                  </a:txBody>
                  <a:tcPr marL="91440" marR="91440" marT="36576" marB="36576" anchor="ctr">
                    <a:lnL w="9525" cap="flat" cmpd="sng" algn="ctr">
                      <a:solidFill>
                        <a:srgbClr val="D5E4E6"/>
                      </a:solidFill>
                      <a:prstDash val="solid"/>
                      <a:round/>
                      <a:headEnd type="none" w="med" len="med"/>
                      <a:tailEnd type="none" w="med" len="med"/>
                    </a:lnL>
                    <a:lnR w="9525" cap="flat" cmpd="sng" algn="ctr">
                      <a:solidFill>
                        <a:srgbClr val="D5E4E6"/>
                      </a:solidFill>
                      <a:prstDash val="solid"/>
                      <a:round/>
                      <a:headEnd type="none" w="med" len="med"/>
                      <a:tailEnd type="none" w="med" len="med"/>
                    </a:lnR>
                    <a:lnT w="9525" cap="flat" cmpd="sng" algn="ctr">
                      <a:solidFill>
                        <a:srgbClr val="D5E4E6"/>
                      </a:solidFill>
                      <a:prstDash val="solid"/>
                      <a:round/>
                      <a:headEnd type="none" w="med" len="med"/>
                      <a:tailEnd type="none" w="med" len="med"/>
                    </a:lnT>
                    <a:lnB w="9525" cap="flat" cmpd="sng" algn="ctr">
                      <a:solidFill>
                        <a:srgbClr val="D5E4E6"/>
                      </a:solidFill>
                      <a:prstDash val="solid"/>
                      <a:round/>
                      <a:headEnd type="none" w="med" len="med"/>
                      <a:tailEnd type="none" w="med" len="med"/>
                    </a:lnB>
                    <a:solidFill>
                      <a:srgbClr val="E8F1F2"/>
                    </a:solidFill>
                  </a:tcPr>
                </a:tc>
              </a:tr>
            </a:tbl>
          </a:graphicData>
        </a:graphic>
      </p:graphicFrame>
      <p:sp>
        <p:nvSpPr>
          <p:cNvPr id="5" name="Text 2"/>
          <p:cNvSpPr txBox="1"/>
          <p:nvPr/>
        </p:nvSpPr>
        <p:spPr>
          <a:xfrm>
            <a:off x="457200" y="3474720"/>
            <a:ext cx="8229600" cy="274320"/>
          </a:xfrm>
          <a:prstGeom prst="rect">
            <a:avLst/>
          </a:prstGeom>
          <a:noFill/>
          <a:ln/>
        </p:spPr>
        <p:txBody>
          <a:bodyPr wrap="square" lIns="0" tIns="0" rIns="0" bIns="0" rtlCol="0" anchor="ctr"/>
          <a:lstStyle/>
          <a:p>
            <a:pPr indent="0" marL="0">
              <a:buNone/>
            </a:pPr>
            <a:r>
              <a:rPr lang="en-US" sz="1200" dirty="0">
                <a:solidFill>
                  <a:srgbClr val="5B7479"/>
                </a:solidFill>
              </a:rPr>
              <a:t>n is the number of items. Halving gives log n levels, and every level merges n items in total.</a:t>
            </a:r>
            <a:endParaRPr lang="en-US" sz="1200" dirty="0"/>
          </a:p>
        </p:txBody>
      </p:sp>
      <p:sp>
        <p:nvSpPr>
          <p:cNvPr id="25" name="Slide Number Placeholder 0"/>
          <p:cNvSpPr>
            <a:spLocks noGrp="1"/>
          </p:cNvSpPr>
          <p:nvPr>
            <p:ph type="sldNum" sz="quarter" idx="4294967295"/>
          </p:nvPr>
        </p:nvSpPr>
        <p:spPr>
          <a:xfrm>
            <a:off x="8138160" y="4754880"/>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7479"/>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57200" y="320040"/>
            <a:ext cx="5486400" cy="228600"/>
          </a:xfrm>
          <a:prstGeom prst="rect">
            <a:avLst/>
          </a:prstGeom>
          <a:noFill/>
          <a:ln/>
        </p:spPr>
        <p:txBody>
          <a:bodyPr wrap="square" lIns="0" tIns="0" rIns="0" bIns="0" rtlCol="0" anchor="ctr"/>
          <a:lstStyle/>
          <a:p>
            <a:pPr indent="0" marL="0">
              <a:buNone/>
            </a:pPr>
            <a:r>
              <a:rPr lang="en-US" sz="1000" b="1" spc="300" kern="0" dirty="0">
                <a:solidFill>
                  <a:srgbClr val="FF7A59"/>
                </a:solidFill>
              </a:rPr>
              <a:t>COMPARISON</a:t>
            </a:r>
            <a:endParaRPr lang="en-US" sz="10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600" b="1" dirty="0">
                <a:solidFill>
                  <a:srgbClr val="FFFFFF"/>
                </a:solidFill>
                <a:latin typeface="Trebuchet MS" pitchFamily="34" charset="0"/>
                <a:ea typeface="Trebuchet MS" pitchFamily="34" charset="-122"/>
                <a:cs typeface="Trebuchet MS" pitchFamily="34" charset="-120"/>
              </a:rPr>
              <a:t>Limits and alternatives</a:t>
            </a:r>
            <a:endParaRPr lang="en-US" sz="2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8229600" cy="914400"/>
        </p:xfrm>
        <a:graphic>
          <a:graphicData uri="http://schemas.openxmlformats.org/drawingml/2006/table">
            <a:tbl>
              <a:tblPr/>
              <a:tblGrid>
                <a:gridCol w="1554480"/>
                <a:gridCol w="1280160"/>
                <a:gridCol w="1280160"/>
                <a:gridCol w="822960"/>
                <a:gridCol w="3291840"/>
              </a:tblGrid>
              <a:tr h="384048">
                <a:tc>
                  <a:txBody>
                    <a:bodyPr/>
                    <a:lstStyle/>
                    <a:p>
                      <a:pPr indent="0" marL="0">
                        <a:buNone/>
                      </a:pPr>
                      <a:r>
                        <a:rPr lang="en-US" sz="1200" b="1" dirty="0">
                          <a:solidFill>
                            <a:srgbClr val="0B2B33"/>
                          </a:solidFill>
                        </a:rPr>
                        <a:t>Algorithm</a:t>
                      </a:r>
                      <a:endParaRPr lang="en-US" sz="1200" dirty="0"/>
                    </a:p>
                  </a:txBody>
                  <a:tcPr marL="91440" marR="91440" marT="36576" marB="36576" anchor="ctr">
                    <a:lnL w="9525" cap="flat" cmpd="sng" algn="ctr">
                      <a:solidFill>
                        <a:srgbClr val="1C5B67"/>
                      </a:solidFill>
                      <a:prstDash val="solid"/>
                      <a:round/>
                      <a:headEnd type="none" w="med" len="med"/>
                      <a:tailEnd type="none" w="med" len="med"/>
                    </a:lnL>
                    <a:lnR w="9525" cap="flat" cmpd="sng" algn="ctr">
                      <a:solidFill>
                        <a:srgbClr val="1C5B67"/>
                      </a:solidFill>
                      <a:prstDash val="solid"/>
                      <a:round/>
                      <a:headEnd type="none" w="med" len="med"/>
                      <a:tailEnd type="none" w="med" len="med"/>
                    </a:lnR>
                    <a:lnT w="9525" cap="flat" cmpd="sng" algn="ctr">
                      <a:solidFill>
                        <a:srgbClr val="1C5B67"/>
                      </a:solidFill>
                      <a:prstDash val="solid"/>
                      <a:round/>
                      <a:headEnd type="none" w="med" len="med"/>
                      <a:tailEnd type="none" w="med" len="med"/>
                    </a:lnT>
                    <a:lnB w="9525" cap="flat" cmpd="sng" algn="ctr">
                      <a:solidFill>
                        <a:srgbClr val="1C5B67"/>
                      </a:solidFill>
                      <a:prstDash val="solid"/>
                      <a:round/>
                      <a:headEnd type="none" w="med" len="med"/>
                      <a:tailEnd type="none" w="med" len="med"/>
                    </a:lnB>
                    <a:solidFill>
                      <a:srgbClr val="FF7A59"/>
                    </a:solidFill>
                  </a:tcPr>
                </a:tc>
                <a:tc>
                  <a:txBody>
                    <a:bodyPr/>
                    <a:lstStyle/>
                    <a:p>
                      <a:pPr indent="0" marL="0">
                        <a:buNone/>
                      </a:pPr>
                      <a:r>
                        <a:rPr lang="en-US" sz="1200" b="1" dirty="0">
                          <a:solidFill>
                            <a:srgbClr val="0B2B33"/>
                          </a:solidFill>
                        </a:rPr>
                        <a:t>Worst time</a:t>
                      </a:r>
                      <a:endParaRPr lang="en-US" sz="1200" dirty="0"/>
                    </a:p>
                  </a:txBody>
                  <a:tcPr marL="91440" marR="91440" marT="36576" marB="36576" anchor="ctr">
                    <a:lnL w="9525" cap="flat" cmpd="sng" algn="ctr">
                      <a:solidFill>
                        <a:srgbClr val="1C5B67"/>
                      </a:solidFill>
                      <a:prstDash val="solid"/>
                      <a:round/>
                      <a:headEnd type="none" w="med" len="med"/>
                      <a:tailEnd type="none" w="med" len="med"/>
                    </a:lnL>
                    <a:lnR w="9525" cap="flat" cmpd="sng" algn="ctr">
                      <a:solidFill>
                        <a:srgbClr val="1C5B67"/>
                      </a:solidFill>
                      <a:prstDash val="solid"/>
                      <a:round/>
                      <a:headEnd type="none" w="med" len="med"/>
                      <a:tailEnd type="none" w="med" len="med"/>
                    </a:lnR>
                    <a:lnT w="9525" cap="flat" cmpd="sng" algn="ctr">
                      <a:solidFill>
                        <a:srgbClr val="1C5B67"/>
                      </a:solidFill>
                      <a:prstDash val="solid"/>
                      <a:round/>
                      <a:headEnd type="none" w="med" len="med"/>
                      <a:tailEnd type="none" w="med" len="med"/>
                    </a:lnT>
                    <a:lnB w="9525" cap="flat" cmpd="sng" algn="ctr">
                      <a:solidFill>
                        <a:srgbClr val="1C5B67"/>
                      </a:solidFill>
                      <a:prstDash val="solid"/>
                      <a:round/>
                      <a:headEnd type="none" w="med" len="med"/>
                      <a:tailEnd type="none" w="med" len="med"/>
                    </a:lnB>
                    <a:solidFill>
                      <a:srgbClr val="FF7A59"/>
                    </a:solidFill>
                  </a:tcPr>
                </a:tc>
                <a:tc>
                  <a:txBody>
                    <a:bodyPr/>
                    <a:lstStyle/>
                    <a:p>
                      <a:pPr indent="0" marL="0">
                        <a:buNone/>
                      </a:pPr>
                      <a:r>
                        <a:rPr lang="en-US" sz="1200" b="1" dirty="0">
                          <a:solidFill>
                            <a:srgbClr val="0B2B33"/>
                          </a:solidFill>
                        </a:rPr>
                        <a:t>Extra space</a:t>
                      </a:r>
                      <a:endParaRPr lang="en-US" sz="1200" dirty="0"/>
                    </a:p>
                  </a:txBody>
                  <a:tcPr marL="91440" marR="91440" marT="36576" marB="36576" anchor="ctr">
                    <a:lnL w="9525" cap="flat" cmpd="sng" algn="ctr">
                      <a:solidFill>
                        <a:srgbClr val="1C5B67"/>
                      </a:solidFill>
                      <a:prstDash val="solid"/>
                      <a:round/>
                      <a:headEnd type="none" w="med" len="med"/>
                      <a:tailEnd type="none" w="med" len="med"/>
                    </a:lnL>
                    <a:lnR w="9525" cap="flat" cmpd="sng" algn="ctr">
                      <a:solidFill>
                        <a:srgbClr val="1C5B67"/>
                      </a:solidFill>
                      <a:prstDash val="solid"/>
                      <a:round/>
                      <a:headEnd type="none" w="med" len="med"/>
                      <a:tailEnd type="none" w="med" len="med"/>
                    </a:lnR>
                    <a:lnT w="9525" cap="flat" cmpd="sng" algn="ctr">
                      <a:solidFill>
                        <a:srgbClr val="1C5B67"/>
                      </a:solidFill>
                      <a:prstDash val="solid"/>
                      <a:round/>
                      <a:headEnd type="none" w="med" len="med"/>
                      <a:tailEnd type="none" w="med" len="med"/>
                    </a:lnT>
                    <a:lnB w="9525" cap="flat" cmpd="sng" algn="ctr">
                      <a:solidFill>
                        <a:srgbClr val="1C5B67"/>
                      </a:solidFill>
                      <a:prstDash val="solid"/>
                      <a:round/>
                      <a:headEnd type="none" w="med" len="med"/>
                      <a:tailEnd type="none" w="med" len="med"/>
                    </a:lnB>
                    <a:solidFill>
                      <a:srgbClr val="FF7A59"/>
                    </a:solidFill>
                  </a:tcPr>
                </a:tc>
                <a:tc>
                  <a:txBody>
                    <a:bodyPr/>
                    <a:lstStyle/>
                    <a:p>
                      <a:pPr indent="0" marL="0">
                        <a:buNone/>
                      </a:pPr>
                      <a:r>
                        <a:rPr lang="en-US" sz="1200" b="1" dirty="0">
                          <a:solidFill>
                            <a:srgbClr val="0B2B33"/>
                          </a:solidFill>
                        </a:rPr>
                        <a:t>Stable</a:t>
                      </a:r>
                      <a:endParaRPr lang="en-US" sz="1200" dirty="0"/>
                    </a:p>
                  </a:txBody>
                  <a:tcPr marL="91440" marR="91440" marT="36576" marB="36576" anchor="ctr">
                    <a:lnL w="9525" cap="flat" cmpd="sng" algn="ctr">
                      <a:solidFill>
                        <a:srgbClr val="1C5B67"/>
                      </a:solidFill>
                      <a:prstDash val="solid"/>
                      <a:round/>
                      <a:headEnd type="none" w="med" len="med"/>
                      <a:tailEnd type="none" w="med" len="med"/>
                    </a:lnL>
                    <a:lnR w="9525" cap="flat" cmpd="sng" algn="ctr">
                      <a:solidFill>
                        <a:srgbClr val="1C5B67"/>
                      </a:solidFill>
                      <a:prstDash val="solid"/>
                      <a:round/>
                      <a:headEnd type="none" w="med" len="med"/>
                      <a:tailEnd type="none" w="med" len="med"/>
                    </a:lnR>
                    <a:lnT w="9525" cap="flat" cmpd="sng" algn="ctr">
                      <a:solidFill>
                        <a:srgbClr val="1C5B67"/>
                      </a:solidFill>
                      <a:prstDash val="solid"/>
                      <a:round/>
                      <a:headEnd type="none" w="med" len="med"/>
                      <a:tailEnd type="none" w="med" len="med"/>
                    </a:lnT>
                    <a:lnB w="9525" cap="flat" cmpd="sng" algn="ctr">
                      <a:solidFill>
                        <a:srgbClr val="1C5B67"/>
                      </a:solidFill>
                      <a:prstDash val="solid"/>
                      <a:round/>
                      <a:headEnd type="none" w="med" len="med"/>
                      <a:tailEnd type="none" w="med" len="med"/>
                    </a:lnB>
                    <a:solidFill>
                      <a:srgbClr val="FF7A59"/>
                    </a:solidFill>
                  </a:tcPr>
                </a:tc>
                <a:tc>
                  <a:txBody>
                    <a:bodyPr/>
                    <a:lstStyle/>
                    <a:p>
                      <a:pPr indent="0" marL="0">
                        <a:buNone/>
                      </a:pPr>
                      <a:r>
                        <a:rPr lang="en-US" sz="1200" b="1" dirty="0">
                          <a:solidFill>
                            <a:srgbClr val="0B2B33"/>
                          </a:solidFill>
                        </a:rPr>
                        <a:t>Best for</a:t>
                      </a:r>
                      <a:endParaRPr lang="en-US" sz="1200" dirty="0"/>
                    </a:p>
                  </a:txBody>
                  <a:tcPr marL="91440" marR="91440" marT="36576" marB="36576" anchor="ctr">
                    <a:lnL w="9525" cap="flat" cmpd="sng" algn="ctr">
                      <a:solidFill>
                        <a:srgbClr val="1C5B67"/>
                      </a:solidFill>
                      <a:prstDash val="solid"/>
                      <a:round/>
                      <a:headEnd type="none" w="med" len="med"/>
                      <a:tailEnd type="none" w="med" len="med"/>
                    </a:lnL>
                    <a:lnR w="9525" cap="flat" cmpd="sng" algn="ctr">
                      <a:solidFill>
                        <a:srgbClr val="1C5B67"/>
                      </a:solidFill>
                      <a:prstDash val="solid"/>
                      <a:round/>
                      <a:headEnd type="none" w="med" len="med"/>
                      <a:tailEnd type="none" w="med" len="med"/>
                    </a:lnR>
                    <a:lnT w="9525" cap="flat" cmpd="sng" algn="ctr">
                      <a:solidFill>
                        <a:srgbClr val="1C5B67"/>
                      </a:solidFill>
                      <a:prstDash val="solid"/>
                      <a:round/>
                      <a:headEnd type="none" w="med" len="med"/>
                      <a:tailEnd type="none" w="med" len="med"/>
                    </a:lnT>
                    <a:lnB w="9525" cap="flat" cmpd="sng" algn="ctr">
                      <a:solidFill>
                        <a:srgbClr val="1C5B67"/>
                      </a:solidFill>
                      <a:prstDash val="solid"/>
                      <a:round/>
                      <a:headEnd type="none" w="med" len="med"/>
                      <a:tailEnd type="none" w="med" len="med"/>
                    </a:lnB>
                    <a:solidFill>
                      <a:srgbClr val="FF7A59"/>
                    </a:solidFill>
                  </a:tcPr>
                </a:tc>
              </a:tr>
              <a:tr h="384048">
                <a:tc>
                  <a:txBody>
                    <a:bodyPr/>
                    <a:lstStyle/>
                    <a:p>
                      <a:pPr indent="0" marL="0">
                        <a:buNone/>
                      </a:pPr>
                      <a:r>
                        <a:rPr lang="en-US" sz="1200" dirty="0">
                          <a:solidFill>
                            <a:srgbClr val="FFFFFF"/>
                          </a:solidFill>
                        </a:rPr>
                        <a:t>Merge sort</a:t>
                      </a:r>
                      <a:endParaRPr lang="en-US" sz="1200" dirty="0"/>
                    </a:p>
                  </a:txBody>
                  <a:tcPr marL="91440" marR="91440" marT="36576" marB="36576" anchor="ctr">
                    <a:lnL w="9525" cap="flat" cmpd="sng" algn="ctr">
                      <a:solidFill>
                        <a:srgbClr val="1C5B67"/>
                      </a:solidFill>
                      <a:prstDash val="solid"/>
                      <a:round/>
                      <a:headEnd type="none" w="med" len="med"/>
                      <a:tailEnd type="none" w="med" len="med"/>
                    </a:lnL>
                    <a:lnR w="9525" cap="flat" cmpd="sng" algn="ctr">
                      <a:solidFill>
                        <a:srgbClr val="1C5B67"/>
                      </a:solidFill>
                      <a:prstDash val="solid"/>
                      <a:round/>
                      <a:headEnd type="none" w="med" len="med"/>
                      <a:tailEnd type="none" w="med" len="med"/>
                    </a:lnR>
                    <a:lnT w="9525" cap="flat" cmpd="sng" algn="ctr">
                      <a:solidFill>
                        <a:srgbClr val="1C5B67"/>
                      </a:solidFill>
                      <a:prstDash val="solid"/>
                      <a:round/>
                      <a:headEnd type="none" w="med" len="med"/>
                      <a:tailEnd type="none" w="med" len="med"/>
                    </a:lnT>
                    <a:lnB w="9525" cap="flat" cmpd="sng" algn="ctr">
                      <a:solidFill>
                        <a:srgbClr val="1C5B67"/>
                      </a:solidFill>
                      <a:prstDash val="solid"/>
                      <a:round/>
                      <a:headEnd type="none" w="med" len="med"/>
                      <a:tailEnd type="none" w="med" len="med"/>
                    </a:lnB>
                    <a:solidFill>
                      <a:srgbClr val="123F4A"/>
                    </a:solidFill>
                  </a:tcPr>
                </a:tc>
                <a:tc>
                  <a:txBody>
                    <a:bodyPr/>
                    <a:lstStyle/>
                    <a:p>
                      <a:pPr indent="0" marL="0">
                        <a:buNone/>
                      </a:pPr>
                      <a:r>
                        <a:rPr lang="en-US" sz="1200" dirty="0">
                          <a:solidFill>
                            <a:srgbClr val="FFFFFF"/>
                          </a:solidFill>
                        </a:rPr>
                        <a:t>O(n log n)</a:t>
                      </a:r>
                      <a:endParaRPr lang="en-US" sz="1200" dirty="0"/>
                    </a:p>
                  </a:txBody>
                  <a:tcPr marL="91440" marR="91440" marT="36576" marB="36576" anchor="ctr">
                    <a:lnL w="9525" cap="flat" cmpd="sng" algn="ctr">
                      <a:solidFill>
                        <a:srgbClr val="1C5B67"/>
                      </a:solidFill>
                      <a:prstDash val="solid"/>
                      <a:round/>
                      <a:headEnd type="none" w="med" len="med"/>
                      <a:tailEnd type="none" w="med" len="med"/>
                    </a:lnL>
                    <a:lnR w="9525" cap="flat" cmpd="sng" algn="ctr">
                      <a:solidFill>
                        <a:srgbClr val="1C5B67"/>
                      </a:solidFill>
                      <a:prstDash val="solid"/>
                      <a:round/>
                      <a:headEnd type="none" w="med" len="med"/>
                      <a:tailEnd type="none" w="med" len="med"/>
                    </a:lnR>
                    <a:lnT w="9525" cap="flat" cmpd="sng" algn="ctr">
                      <a:solidFill>
                        <a:srgbClr val="1C5B67"/>
                      </a:solidFill>
                      <a:prstDash val="solid"/>
                      <a:round/>
                      <a:headEnd type="none" w="med" len="med"/>
                      <a:tailEnd type="none" w="med" len="med"/>
                    </a:lnT>
                    <a:lnB w="9525" cap="flat" cmpd="sng" algn="ctr">
                      <a:solidFill>
                        <a:srgbClr val="1C5B67"/>
                      </a:solidFill>
                      <a:prstDash val="solid"/>
                      <a:round/>
                      <a:headEnd type="none" w="med" len="med"/>
                      <a:tailEnd type="none" w="med" len="med"/>
                    </a:lnB>
                    <a:solidFill>
                      <a:srgbClr val="123F4A"/>
                    </a:solidFill>
                  </a:tcPr>
                </a:tc>
                <a:tc>
                  <a:txBody>
                    <a:bodyPr/>
                    <a:lstStyle/>
                    <a:p>
                      <a:pPr indent="0" marL="0">
                        <a:buNone/>
                      </a:pPr>
                      <a:r>
                        <a:rPr lang="en-US" sz="1200" dirty="0">
                          <a:solidFill>
                            <a:srgbClr val="FFFFFF"/>
                          </a:solidFill>
                        </a:rPr>
                        <a:t>O(n)</a:t>
                      </a:r>
                      <a:endParaRPr lang="en-US" sz="1200" dirty="0"/>
                    </a:p>
                  </a:txBody>
                  <a:tcPr marL="91440" marR="91440" marT="36576" marB="36576" anchor="ctr">
                    <a:lnL w="9525" cap="flat" cmpd="sng" algn="ctr">
                      <a:solidFill>
                        <a:srgbClr val="1C5B67"/>
                      </a:solidFill>
                      <a:prstDash val="solid"/>
                      <a:round/>
                      <a:headEnd type="none" w="med" len="med"/>
                      <a:tailEnd type="none" w="med" len="med"/>
                    </a:lnL>
                    <a:lnR w="9525" cap="flat" cmpd="sng" algn="ctr">
                      <a:solidFill>
                        <a:srgbClr val="1C5B67"/>
                      </a:solidFill>
                      <a:prstDash val="solid"/>
                      <a:round/>
                      <a:headEnd type="none" w="med" len="med"/>
                      <a:tailEnd type="none" w="med" len="med"/>
                    </a:lnR>
                    <a:lnT w="9525" cap="flat" cmpd="sng" algn="ctr">
                      <a:solidFill>
                        <a:srgbClr val="1C5B67"/>
                      </a:solidFill>
                      <a:prstDash val="solid"/>
                      <a:round/>
                      <a:headEnd type="none" w="med" len="med"/>
                      <a:tailEnd type="none" w="med" len="med"/>
                    </a:lnT>
                    <a:lnB w="9525" cap="flat" cmpd="sng" algn="ctr">
                      <a:solidFill>
                        <a:srgbClr val="1C5B67"/>
                      </a:solidFill>
                      <a:prstDash val="solid"/>
                      <a:round/>
                      <a:headEnd type="none" w="med" len="med"/>
                      <a:tailEnd type="none" w="med" len="med"/>
                    </a:lnB>
                    <a:solidFill>
                      <a:srgbClr val="123F4A"/>
                    </a:solidFill>
                  </a:tcPr>
                </a:tc>
                <a:tc>
                  <a:txBody>
                    <a:bodyPr/>
                    <a:lstStyle/>
                    <a:p>
                      <a:pPr indent="0" marL="0">
                        <a:buNone/>
                      </a:pPr>
                      <a:r>
                        <a:rPr lang="en-US" sz="1200" dirty="0">
                          <a:solidFill>
                            <a:srgbClr val="FFFFFF"/>
                          </a:solidFill>
                        </a:rPr>
                        <a:t>Yes</a:t>
                      </a:r>
                      <a:endParaRPr lang="en-US" sz="1200" dirty="0"/>
                    </a:p>
                  </a:txBody>
                  <a:tcPr marL="91440" marR="91440" marT="36576" marB="36576" anchor="ctr">
                    <a:lnL w="9525" cap="flat" cmpd="sng" algn="ctr">
                      <a:solidFill>
                        <a:srgbClr val="1C5B67"/>
                      </a:solidFill>
                      <a:prstDash val="solid"/>
                      <a:round/>
                      <a:headEnd type="none" w="med" len="med"/>
                      <a:tailEnd type="none" w="med" len="med"/>
                    </a:lnL>
                    <a:lnR w="9525" cap="flat" cmpd="sng" algn="ctr">
                      <a:solidFill>
                        <a:srgbClr val="1C5B67"/>
                      </a:solidFill>
                      <a:prstDash val="solid"/>
                      <a:round/>
                      <a:headEnd type="none" w="med" len="med"/>
                      <a:tailEnd type="none" w="med" len="med"/>
                    </a:lnR>
                    <a:lnT w="9525" cap="flat" cmpd="sng" algn="ctr">
                      <a:solidFill>
                        <a:srgbClr val="1C5B67"/>
                      </a:solidFill>
                      <a:prstDash val="solid"/>
                      <a:round/>
                      <a:headEnd type="none" w="med" len="med"/>
                      <a:tailEnd type="none" w="med" len="med"/>
                    </a:lnT>
                    <a:lnB w="9525" cap="flat" cmpd="sng" algn="ctr">
                      <a:solidFill>
                        <a:srgbClr val="1C5B67"/>
                      </a:solidFill>
                      <a:prstDash val="solid"/>
                      <a:round/>
                      <a:headEnd type="none" w="med" len="med"/>
                      <a:tailEnd type="none" w="med" len="med"/>
                    </a:lnB>
                    <a:solidFill>
                      <a:srgbClr val="123F4A"/>
                    </a:solidFill>
                  </a:tcPr>
                </a:tc>
                <a:tc>
                  <a:txBody>
                    <a:bodyPr/>
                    <a:lstStyle/>
                    <a:p>
                      <a:pPr indent="0" marL="0">
                        <a:buNone/>
                      </a:pPr>
                      <a:r>
                        <a:rPr lang="en-US" sz="1200" dirty="0">
                          <a:solidFill>
                            <a:srgbClr val="FFFFFF"/>
                          </a:solidFill>
                        </a:rPr>
                        <a:t>Guaranteed speed, linked lists, huge files</a:t>
                      </a:r>
                      <a:endParaRPr lang="en-US" sz="1200" dirty="0"/>
                    </a:p>
                  </a:txBody>
                  <a:tcPr marL="91440" marR="91440" marT="36576" marB="36576" anchor="ctr">
                    <a:lnL w="9525" cap="flat" cmpd="sng" algn="ctr">
                      <a:solidFill>
                        <a:srgbClr val="1C5B67"/>
                      </a:solidFill>
                      <a:prstDash val="solid"/>
                      <a:round/>
                      <a:headEnd type="none" w="med" len="med"/>
                      <a:tailEnd type="none" w="med" len="med"/>
                    </a:lnL>
                    <a:lnR w="9525" cap="flat" cmpd="sng" algn="ctr">
                      <a:solidFill>
                        <a:srgbClr val="1C5B67"/>
                      </a:solidFill>
                      <a:prstDash val="solid"/>
                      <a:round/>
                      <a:headEnd type="none" w="med" len="med"/>
                      <a:tailEnd type="none" w="med" len="med"/>
                    </a:lnR>
                    <a:lnT w="9525" cap="flat" cmpd="sng" algn="ctr">
                      <a:solidFill>
                        <a:srgbClr val="1C5B67"/>
                      </a:solidFill>
                      <a:prstDash val="solid"/>
                      <a:round/>
                      <a:headEnd type="none" w="med" len="med"/>
                      <a:tailEnd type="none" w="med" len="med"/>
                    </a:lnT>
                    <a:lnB w="9525" cap="flat" cmpd="sng" algn="ctr">
                      <a:solidFill>
                        <a:srgbClr val="1C5B67"/>
                      </a:solidFill>
                      <a:prstDash val="solid"/>
                      <a:round/>
                      <a:headEnd type="none" w="med" len="med"/>
                      <a:tailEnd type="none" w="med" len="med"/>
                    </a:lnB>
                    <a:solidFill>
                      <a:srgbClr val="123F4A"/>
                    </a:solidFill>
                  </a:tcPr>
                </a:tc>
              </a:tr>
              <a:tr h="384048">
                <a:tc>
                  <a:txBody>
                    <a:bodyPr/>
                    <a:lstStyle/>
                    <a:p>
                      <a:pPr indent="0" marL="0">
                        <a:buNone/>
                      </a:pPr>
                      <a:r>
                        <a:rPr lang="en-US" sz="1200" dirty="0">
                          <a:solidFill>
                            <a:srgbClr val="FFFFFF"/>
                          </a:solidFill>
                        </a:rPr>
                        <a:t>Quick sort</a:t>
                      </a:r>
                      <a:endParaRPr lang="en-US" sz="1200" dirty="0"/>
                    </a:p>
                  </a:txBody>
                  <a:tcPr marL="91440" marR="91440" marT="36576" marB="36576" anchor="ctr">
                    <a:lnL w="9525" cap="flat" cmpd="sng" algn="ctr">
                      <a:solidFill>
                        <a:srgbClr val="1C5B67"/>
                      </a:solidFill>
                      <a:prstDash val="solid"/>
                      <a:round/>
                      <a:headEnd type="none" w="med" len="med"/>
                      <a:tailEnd type="none" w="med" len="med"/>
                    </a:lnL>
                    <a:lnR w="9525" cap="flat" cmpd="sng" algn="ctr">
                      <a:solidFill>
                        <a:srgbClr val="1C5B67"/>
                      </a:solidFill>
                      <a:prstDash val="solid"/>
                      <a:round/>
                      <a:headEnd type="none" w="med" len="med"/>
                      <a:tailEnd type="none" w="med" len="med"/>
                    </a:lnR>
                    <a:lnT w="9525" cap="flat" cmpd="sng" algn="ctr">
                      <a:solidFill>
                        <a:srgbClr val="1C5B67"/>
                      </a:solidFill>
                      <a:prstDash val="solid"/>
                      <a:round/>
                      <a:headEnd type="none" w="med" len="med"/>
                      <a:tailEnd type="none" w="med" len="med"/>
                    </a:lnT>
                    <a:lnB w="9525" cap="flat" cmpd="sng" algn="ctr">
                      <a:solidFill>
                        <a:srgbClr val="1C5B67"/>
                      </a:solidFill>
                      <a:prstDash val="solid"/>
                      <a:round/>
                      <a:headEnd type="none" w="med" len="med"/>
                      <a:tailEnd type="none" w="med" len="med"/>
                    </a:lnB>
                    <a:solidFill>
                      <a:srgbClr val="0F3640"/>
                    </a:solidFill>
                  </a:tcPr>
                </a:tc>
                <a:tc>
                  <a:txBody>
                    <a:bodyPr/>
                    <a:lstStyle/>
                    <a:p>
                      <a:pPr indent="0" marL="0">
                        <a:buNone/>
                      </a:pPr>
                      <a:r>
                        <a:rPr lang="en-US" sz="1200" dirty="0">
                          <a:solidFill>
                            <a:srgbClr val="FFFFFF"/>
                          </a:solidFill>
                        </a:rPr>
                        <a:t>O(n²)</a:t>
                      </a:r>
                      <a:endParaRPr lang="en-US" sz="1200" dirty="0"/>
                    </a:p>
                  </a:txBody>
                  <a:tcPr marL="91440" marR="91440" marT="36576" marB="36576" anchor="ctr">
                    <a:lnL w="9525" cap="flat" cmpd="sng" algn="ctr">
                      <a:solidFill>
                        <a:srgbClr val="1C5B67"/>
                      </a:solidFill>
                      <a:prstDash val="solid"/>
                      <a:round/>
                      <a:headEnd type="none" w="med" len="med"/>
                      <a:tailEnd type="none" w="med" len="med"/>
                    </a:lnL>
                    <a:lnR w="9525" cap="flat" cmpd="sng" algn="ctr">
                      <a:solidFill>
                        <a:srgbClr val="1C5B67"/>
                      </a:solidFill>
                      <a:prstDash val="solid"/>
                      <a:round/>
                      <a:headEnd type="none" w="med" len="med"/>
                      <a:tailEnd type="none" w="med" len="med"/>
                    </a:lnR>
                    <a:lnT w="9525" cap="flat" cmpd="sng" algn="ctr">
                      <a:solidFill>
                        <a:srgbClr val="1C5B67"/>
                      </a:solidFill>
                      <a:prstDash val="solid"/>
                      <a:round/>
                      <a:headEnd type="none" w="med" len="med"/>
                      <a:tailEnd type="none" w="med" len="med"/>
                    </a:lnT>
                    <a:lnB w="9525" cap="flat" cmpd="sng" algn="ctr">
                      <a:solidFill>
                        <a:srgbClr val="1C5B67"/>
                      </a:solidFill>
                      <a:prstDash val="solid"/>
                      <a:round/>
                      <a:headEnd type="none" w="med" len="med"/>
                      <a:tailEnd type="none" w="med" len="med"/>
                    </a:lnB>
                    <a:solidFill>
                      <a:srgbClr val="0F3640"/>
                    </a:solidFill>
                  </a:tcPr>
                </a:tc>
                <a:tc>
                  <a:txBody>
                    <a:bodyPr/>
                    <a:lstStyle/>
                    <a:p>
                      <a:pPr indent="0" marL="0">
                        <a:buNone/>
                      </a:pPr>
                      <a:r>
                        <a:rPr lang="en-US" sz="1200" dirty="0">
                          <a:solidFill>
                            <a:srgbClr val="FFFFFF"/>
                          </a:solidFill>
                        </a:rPr>
                        <a:t>O(log n)</a:t>
                      </a:r>
                      <a:endParaRPr lang="en-US" sz="1200" dirty="0"/>
                    </a:p>
                  </a:txBody>
                  <a:tcPr marL="91440" marR="91440" marT="36576" marB="36576" anchor="ctr">
                    <a:lnL w="9525" cap="flat" cmpd="sng" algn="ctr">
                      <a:solidFill>
                        <a:srgbClr val="1C5B67"/>
                      </a:solidFill>
                      <a:prstDash val="solid"/>
                      <a:round/>
                      <a:headEnd type="none" w="med" len="med"/>
                      <a:tailEnd type="none" w="med" len="med"/>
                    </a:lnL>
                    <a:lnR w="9525" cap="flat" cmpd="sng" algn="ctr">
                      <a:solidFill>
                        <a:srgbClr val="1C5B67"/>
                      </a:solidFill>
                      <a:prstDash val="solid"/>
                      <a:round/>
                      <a:headEnd type="none" w="med" len="med"/>
                      <a:tailEnd type="none" w="med" len="med"/>
                    </a:lnR>
                    <a:lnT w="9525" cap="flat" cmpd="sng" algn="ctr">
                      <a:solidFill>
                        <a:srgbClr val="1C5B67"/>
                      </a:solidFill>
                      <a:prstDash val="solid"/>
                      <a:round/>
                      <a:headEnd type="none" w="med" len="med"/>
                      <a:tailEnd type="none" w="med" len="med"/>
                    </a:lnT>
                    <a:lnB w="9525" cap="flat" cmpd="sng" algn="ctr">
                      <a:solidFill>
                        <a:srgbClr val="1C5B67"/>
                      </a:solidFill>
                      <a:prstDash val="solid"/>
                      <a:round/>
                      <a:headEnd type="none" w="med" len="med"/>
                      <a:tailEnd type="none" w="med" len="med"/>
                    </a:lnB>
                    <a:solidFill>
                      <a:srgbClr val="0F3640"/>
                    </a:solidFill>
                  </a:tcPr>
                </a:tc>
                <a:tc>
                  <a:txBody>
                    <a:bodyPr/>
                    <a:lstStyle/>
                    <a:p>
                      <a:pPr indent="0" marL="0">
                        <a:buNone/>
                      </a:pPr>
                      <a:r>
                        <a:rPr lang="en-US" sz="1200" dirty="0">
                          <a:solidFill>
                            <a:srgbClr val="FFFFFF"/>
                          </a:solidFill>
                        </a:rPr>
                        <a:t>No</a:t>
                      </a:r>
                      <a:endParaRPr lang="en-US" sz="1200" dirty="0"/>
                    </a:p>
                  </a:txBody>
                  <a:tcPr marL="91440" marR="91440" marT="36576" marB="36576" anchor="ctr">
                    <a:lnL w="9525" cap="flat" cmpd="sng" algn="ctr">
                      <a:solidFill>
                        <a:srgbClr val="1C5B67"/>
                      </a:solidFill>
                      <a:prstDash val="solid"/>
                      <a:round/>
                      <a:headEnd type="none" w="med" len="med"/>
                      <a:tailEnd type="none" w="med" len="med"/>
                    </a:lnL>
                    <a:lnR w="9525" cap="flat" cmpd="sng" algn="ctr">
                      <a:solidFill>
                        <a:srgbClr val="1C5B67"/>
                      </a:solidFill>
                      <a:prstDash val="solid"/>
                      <a:round/>
                      <a:headEnd type="none" w="med" len="med"/>
                      <a:tailEnd type="none" w="med" len="med"/>
                    </a:lnR>
                    <a:lnT w="9525" cap="flat" cmpd="sng" algn="ctr">
                      <a:solidFill>
                        <a:srgbClr val="1C5B67"/>
                      </a:solidFill>
                      <a:prstDash val="solid"/>
                      <a:round/>
                      <a:headEnd type="none" w="med" len="med"/>
                      <a:tailEnd type="none" w="med" len="med"/>
                    </a:lnT>
                    <a:lnB w="9525" cap="flat" cmpd="sng" algn="ctr">
                      <a:solidFill>
                        <a:srgbClr val="1C5B67"/>
                      </a:solidFill>
                      <a:prstDash val="solid"/>
                      <a:round/>
                      <a:headEnd type="none" w="med" len="med"/>
                      <a:tailEnd type="none" w="med" len="med"/>
                    </a:lnB>
                    <a:solidFill>
                      <a:srgbClr val="0F3640"/>
                    </a:solidFill>
                  </a:tcPr>
                </a:tc>
                <a:tc>
                  <a:txBody>
                    <a:bodyPr/>
                    <a:lstStyle/>
                    <a:p>
                      <a:pPr indent="0" marL="0">
                        <a:buNone/>
                      </a:pPr>
                      <a:r>
                        <a:rPr lang="en-US" sz="1200" dirty="0">
                          <a:solidFill>
                            <a:srgbClr val="FFFFFF"/>
                          </a:solidFill>
                        </a:rPr>
                        <a:t>Fast in-memory sorting of arrays</a:t>
                      </a:r>
                      <a:endParaRPr lang="en-US" sz="1200" dirty="0"/>
                    </a:p>
                  </a:txBody>
                  <a:tcPr marL="91440" marR="91440" marT="36576" marB="36576" anchor="ctr">
                    <a:lnL w="9525" cap="flat" cmpd="sng" algn="ctr">
                      <a:solidFill>
                        <a:srgbClr val="1C5B67"/>
                      </a:solidFill>
                      <a:prstDash val="solid"/>
                      <a:round/>
                      <a:headEnd type="none" w="med" len="med"/>
                      <a:tailEnd type="none" w="med" len="med"/>
                    </a:lnL>
                    <a:lnR w="9525" cap="flat" cmpd="sng" algn="ctr">
                      <a:solidFill>
                        <a:srgbClr val="1C5B67"/>
                      </a:solidFill>
                      <a:prstDash val="solid"/>
                      <a:round/>
                      <a:headEnd type="none" w="med" len="med"/>
                      <a:tailEnd type="none" w="med" len="med"/>
                    </a:lnR>
                    <a:lnT w="9525" cap="flat" cmpd="sng" algn="ctr">
                      <a:solidFill>
                        <a:srgbClr val="1C5B67"/>
                      </a:solidFill>
                      <a:prstDash val="solid"/>
                      <a:round/>
                      <a:headEnd type="none" w="med" len="med"/>
                      <a:tailEnd type="none" w="med" len="med"/>
                    </a:lnT>
                    <a:lnB w="9525" cap="flat" cmpd="sng" algn="ctr">
                      <a:solidFill>
                        <a:srgbClr val="1C5B67"/>
                      </a:solidFill>
                      <a:prstDash val="solid"/>
                      <a:round/>
                      <a:headEnd type="none" w="med" len="med"/>
                      <a:tailEnd type="none" w="med" len="med"/>
                    </a:lnB>
                    <a:solidFill>
                      <a:srgbClr val="0F3640"/>
                    </a:solidFill>
                  </a:tcPr>
                </a:tc>
              </a:tr>
              <a:tr h="384048">
                <a:tc>
                  <a:txBody>
                    <a:bodyPr/>
                    <a:lstStyle/>
                    <a:p>
                      <a:pPr indent="0" marL="0">
                        <a:buNone/>
                      </a:pPr>
                      <a:r>
                        <a:rPr lang="en-US" sz="1200" dirty="0">
                          <a:solidFill>
                            <a:srgbClr val="FFFFFF"/>
                          </a:solidFill>
                        </a:rPr>
                        <a:t>Heap sort</a:t>
                      </a:r>
                      <a:endParaRPr lang="en-US" sz="1200" dirty="0"/>
                    </a:p>
                  </a:txBody>
                  <a:tcPr marL="91440" marR="91440" marT="36576" marB="36576" anchor="ctr">
                    <a:lnL w="9525" cap="flat" cmpd="sng" algn="ctr">
                      <a:solidFill>
                        <a:srgbClr val="1C5B67"/>
                      </a:solidFill>
                      <a:prstDash val="solid"/>
                      <a:round/>
                      <a:headEnd type="none" w="med" len="med"/>
                      <a:tailEnd type="none" w="med" len="med"/>
                    </a:lnL>
                    <a:lnR w="9525" cap="flat" cmpd="sng" algn="ctr">
                      <a:solidFill>
                        <a:srgbClr val="1C5B67"/>
                      </a:solidFill>
                      <a:prstDash val="solid"/>
                      <a:round/>
                      <a:headEnd type="none" w="med" len="med"/>
                      <a:tailEnd type="none" w="med" len="med"/>
                    </a:lnR>
                    <a:lnT w="9525" cap="flat" cmpd="sng" algn="ctr">
                      <a:solidFill>
                        <a:srgbClr val="1C5B67"/>
                      </a:solidFill>
                      <a:prstDash val="solid"/>
                      <a:round/>
                      <a:headEnd type="none" w="med" len="med"/>
                      <a:tailEnd type="none" w="med" len="med"/>
                    </a:lnT>
                    <a:lnB w="9525" cap="flat" cmpd="sng" algn="ctr">
                      <a:solidFill>
                        <a:srgbClr val="1C5B67"/>
                      </a:solidFill>
                      <a:prstDash val="solid"/>
                      <a:round/>
                      <a:headEnd type="none" w="med" len="med"/>
                      <a:tailEnd type="none" w="med" len="med"/>
                    </a:lnB>
                    <a:solidFill>
                      <a:srgbClr val="123F4A"/>
                    </a:solidFill>
                  </a:tcPr>
                </a:tc>
                <a:tc>
                  <a:txBody>
                    <a:bodyPr/>
                    <a:lstStyle/>
                    <a:p>
                      <a:pPr indent="0" marL="0">
                        <a:buNone/>
                      </a:pPr>
                      <a:r>
                        <a:rPr lang="en-US" sz="1200" dirty="0">
                          <a:solidFill>
                            <a:srgbClr val="FFFFFF"/>
                          </a:solidFill>
                        </a:rPr>
                        <a:t>O(n log n)</a:t>
                      </a:r>
                      <a:endParaRPr lang="en-US" sz="1200" dirty="0"/>
                    </a:p>
                  </a:txBody>
                  <a:tcPr marL="91440" marR="91440" marT="36576" marB="36576" anchor="ctr">
                    <a:lnL w="9525" cap="flat" cmpd="sng" algn="ctr">
                      <a:solidFill>
                        <a:srgbClr val="1C5B67"/>
                      </a:solidFill>
                      <a:prstDash val="solid"/>
                      <a:round/>
                      <a:headEnd type="none" w="med" len="med"/>
                      <a:tailEnd type="none" w="med" len="med"/>
                    </a:lnL>
                    <a:lnR w="9525" cap="flat" cmpd="sng" algn="ctr">
                      <a:solidFill>
                        <a:srgbClr val="1C5B67"/>
                      </a:solidFill>
                      <a:prstDash val="solid"/>
                      <a:round/>
                      <a:headEnd type="none" w="med" len="med"/>
                      <a:tailEnd type="none" w="med" len="med"/>
                    </a:lnR>
                    <a:lnT w="9525" cap="flat" cmpd="sng" algn="ctr">
                      <a:solidFill>
                        <a:srgbClr val="1C5B67"/>
                      </a:solidFill>
                      <a:prstDash val="solid"/>
                      <a:round/>
                      <a:headEnd type="none" w="med" len="med"/>
                      <a:tailEnd type="none" w="med" len="med"/>
                    </a:lnT>
                    <a:lnB w="9525" cap="flat" cmpd="sng" algn="ctr">
                      <a:solidFill>
                        <a:srgbClr val="1C5B67"/>
                      </a:solidFill>
                      <a:prstDash val="solid"/>
                      <a:round/>
                      <a:headEnd type="none" w="med" len="med"/>
                      <a:tailEnd type="none" w="med" len="med"/>
                    </a:lnB>
                    <a:solidFill>
                      <a:srgbClr val="123F4A"/>
                    </a:solidFill>
                  </a:tcPr>
                </a:tc>
                <a:tc>
                  <a:txBody>
                    <a:bodyPr/>
                    <a:lstStyle/>
                    <a:p>
                      <a:pPr indent="0" marL="0">
                        <a:buNone/>
                      </a:pPr>
                      <a:r>
                        <a:rPr lang="en-US" sz="1200" dirty="0">
                          <a:solidFill>
                            <a:srgbClr val="FFFFFF"/>
                          </a:solidFill>
                        </a:rPr>
                        <a:t>O(1)</a:t>
                      </a:r>
                      <a:endParaRPr lang="en-US" sz="1200" dirty="0"/>
                    </a:p>
                  </a:txBody>
                  <a:tcPr marL="91440" marR="91440" marT="36576" marB="36576" anchor="ctr">
                    <a:lnL w="9525" cap="flat" cmpd="sng" algn="ctr">
                      <a:solidFill>
                        <a:srgbClr val="1C5B67"/>
                      </a:solidFill>
                      <a:prstDash val="solid"/>
                      <a:round/>
                      <a:headEnd type="none" w="med" len="med"/>
                      <a:tailEnd type="none" w="med" len="med"/>
                    </a:lnL>
                    <a:lnR w="9525" cap="flat" cmpd="sng" algn="ctr">
                      <a:solidFill>
                        <a:srgbClr val="1C5B67"/>
                      </a:solidFill>
                      <a:prstDash val="solid"/>
                      <a:round/>
                      <a:headEnd type="none" w="med" len="med"/>
                      <a:tailEnd type="none" w="med" len="med"/>
                    </a:lnR>
                    <a:lnT w="9525" cap="flat" cmpd="sng" algn="ctr">
                      <a:solidFill>
                        <a:srgbClr val="1C5B67"/>
                      </a:solidFill>
                      <a:prstDash val="solid"/>
                      <a:round/>
                      <a:headEnd type="none" w="med" len="med"/>
                      <a:tailEnd type="none" w="med" len="med"/>
                    </a:lnT>
                    <a:lnB w="9525" cap="flat" cmpd="sng" algn="ctr">
                      <a:solidFill>
                        <a:srgbClr val="1C5B67"/>
                      </a:solidFill>
                      <a:prstDash val="solid"/>
                      <a:round/>
                      <a:headEnd type="none" w="med" len="med"/>
                      <a:tailEnd type="none" w="med" len="med"/>
                    </a:lnB>
                    <a:solidFill>
                      <a:srgbClr val="123F4A"/>
                    </a:solidFill>
                  </a:tcPr>
                </a:tc>
                <a:tc>
                  <a:txBody>
                    <a:bodyPr/>
                    <a:lstStyle/>
                    <a:p>
                      <a:pPr indent="0" marL="0">
                        <a:buNone/>
                      </a:pPr>
                      <a:r>
                        <a:rPr lang="en-US" sz="1200" dirty="0">
                          <a:solidFill>
                            <a:srgbClr val="FFFFFF"/>
                          </a:solidFill>
                        </a:rPr>
                        <a:t>No</a:t>
                      </a:r>
                      <a:endParaRPr lang="en-US" sz="1200" dirty="0"/>
                    </a:p>
                  </a:txBody>
                  <a:tcPr marL="91440" marR="91440" marT="36576" marB="36576" anchor="ctr">
                    <a:lnL w="9525" cap="flat" cmpd="sng" algn="ctr">
                      <a:solidFill>
                        <a:srgbClr val="1C5B67"/>
                      </a:solidFill>
                      <a:prstDash val="solid"/>
                      <a:round/>
                      <a:headEnd type="none" w="med" len="med"/>
                      <a:tailEnd type="none" w="med" len="med"/>
                    </a:lnL>
                    <a:lnR w="9525" cap="flat" cmpd="sng" algn="ctr">
                      <a:solidFill>
                        <a:srgbClr val="1C5B67"/>
                      </a:solidFill>
                      <a:prstDash val="solid"/>
                      <a:round/>
                      <a:headEnd type="none" w="med" len="med"/>
                      <a:tailEnd type="none" w="med" len="med"/>
                    </a:lnR>
                    <a:lnT w="9525" cap="flat" cmpd="sng" algn="ctr">
                      <a:solidFill>
                        <a:srgbClr val="1C5B67"/>
                      </a:solidFill>
                      <a:prstDash val="solid"/>
                      <a:round/>
                      <a:headEnd type="none" w="med" len="med"/>
                      <a:tailEnd type="none" w="med" len="med"/>
                    </a:lnT>
                    <a:lnB w="9525" cap="flat" cmpd="sng" algn="ctr">
                      <a:solidFill>
                        <a:srgbClr val="1C5B67"/>
                      </a:solidFill>
                      <a:prstDash val="solid"/>
                      <a:round/>
                      <a:headEnd type="none" w="med" len="med"/>
                      <a:tailEnd type="none" w="med" len="med"/>
                    </a:lnB>
                    <a:solidFill>
                      <a:srgbClr val="123F4A"/>
                    </a:solidFill>
                  </a:tcPr>
                </a:tc>
                <a:tc>
                  <a:txBody>
                    <a:bodyPr/>
                    <a:lstStyle/>
                    <a:p>
                      <a:pPr indent="0" marL="0">
                        <a:buNone/>
                      </a:pPr>
                      <a:r>
                        <a:rPr lang="en-US" sz="1200" dirty="0">
                          <a:solidFill>
                            <a:srgbClr val="FFFFFF"/>
                          </a:solidFill>
                        </a:rPr>
                        <a:t>Tight memory limits</a:t>
                      </a:r>
                      <a:endParaRPr lang="en-US" sz="1200" dirty="0"/>
                    </a:p>
                  </a:txBody>
                  <a:tcPr marL="91440" marR="91440" marT="36576" marB="36576" anchor="ctr">
                    <a:lnL w="9525" cap="flat" cmpd="sng" algn="ctr">
                      <a:solidFill>
                        <a:srgbClr val="1C5B67"/>
                      </a:solidFill>
                      <a:prstDash val="solid"/>
                      <a:round/>
                      <a:headEnd type="none" w="med" len="med"/>
                      <a:tailEnd type="none" w="med" len="med"/>
                    </a:lnL>
                    <a:lnR w="9525" cap="flat" cmpd="sng" algn="ctr">
                      <a:solidFill>
                        <a:srgbClr val="1C5B67"/>
                      </a:solidFill>
                      <a:prstDash val="solid"/>
                      <a:round/>
                      <a:headEnd type="none" w="med" len="med"/>
                      <a:tailEnd type="none" w="med" len="med"/>
                    </a:lnR>
                    <a:lnT w="9525" cap="flat" cmpd="sng" algn="ctr">
                      <a:solidFill>
                        <a:srgbClr val="1C5B67"/>
                      </a:solidFill>
                      <a:prstDash val="solid"/>
                      <a:round/>
                      <a:headEnd type="none" w="med" len="med"/>
                      <a:tailEnd type="none" w="med" len="med"/>
                    </a:lnT>
                    <a:lnB w="9525" cap="flat" cmpd="sng" algn="ctr">
                      <a:solidFill>
                        <a:srgbClr val="1C5B67"/>
                      </a:solidFill>
                      <a:prstDash val="solid"/>
                      <a:round/>
                      <a:headEnd type="none" w="med" len="med"/>
                      <a:tailEnd type="none" w="med" len="med"/>
                    </a:lnB>
                    <a:solidFill>
                      <a:srgbClr val="123F4A"/>
                    </a:solidFill>
                  </a:tcPr>
                </a:tc>
              </a:tr>
              <a:tr h="384048">
                <a:tc>
                  <a:txBody>
                    <a:bodyPr/>
                    <a:lstStyle/>
                    <a:p>
                      <a:pPr indent="0" marL="0">
                        <a:buNone/>
                      </a:pPr>
                      <a:r>
                        <a:rPr lang="en-US" sz="1200" dirty="0">
                          <a:solidFill>
                            <a:srgbClr val="FFFFFF"/>
                          </a:solidFill>
                        </a:rPr>
                        <a:t>Insertion sort</a:t>
                      </a:r>
                      <a:endParaRPr lang="en-US" sz="1200" dirty="0"/>
                    </a:p>
                  </a:txBody>
                  <a:tcPr marL="91440" marR="91440" marT="36576" marB="36576" anchor="ctr">
                    <a:lnL w="9525" cap="flat" cmpd="sng" algn="ctr">
                      <a:solidFill>
                        <a:srgbClr val="1C5B67"/>
                      </a:solidFill>
                      <a:prstDash val="solid"/>
                      <a:round/>
                      <a:headEnd type="none" w="med" len="med"/>
                      <a:tailEnd type="none" w="med" len="med"/>
                    </a:lnL>
                    <a:lnR w="9525" cap="flat" cmpd="sng" algn="ctr">
                      <a:solidFill>
                        <a:srgbClr val="1C5B67"/>
                      </a:solidFill>
                      <a:prstDash val="solid"/>
                      <a:round/>
                      <a:headEnd type="none" w="med" len="med"/>
                      <a:tailEnd type="none" w="med" len="med"/>
                    </a:lnR>
                    <a:lnT w="9525" cap="flat" cmpd="sng" algn="ctr">
                      <a:solidFill>
                        <a:srgbClr val="1C5B67"/>
                      </a:solidFill>
                      <a:prstDash val="solid"/>
                      <a:round/>
                      <a:headEnd type="none" w="med" len="med"/>
                      <a:tailEnd type="none" w="med" len="med"/>
                    </a:lnT>
                    <a:lnB w="9525" cap="flat" cmpd="sng" algn="ctr">
                      <a:solidFill>
                        <a:srgbClr val="1C5B67"/>
                      </a:solidFill>
                      <a:prstDash val="solid"/>
                      <a:round/>
                      <a:headEnd type="none" w="med" len="med"/>
                      <a:tailEnd type="none" w="med" len="med"/>
                    </a:lnB>
                    <a:solidFill>
                      <a:srgbClr val="0F3640"/>
                    </a:solidFill>
                  </a:tcPr>
                </a:tc>
                <a:tc>
                  <a:txBody>
                    <a:bodyPr/>
                    <a:lstStyle/>
                    <a:p>
                      <a:pPr indent="0" marL="0">
                        <a:buNone/>
                      </a:pPr>
                      <a:r>
                        <a:rPr lang="en-US" sz="1200" dirty="0">
                          <a:solidFill>
                            <a:srgbClr val="FFFFFF"/>
                          </a:solidFill>
                        </a:rPr>
                        <a:t>O(n²)</a:t>
                      </a:r>
                      <a:endParaRPr lang="en-US" sz="1200" dirty="0"/>
                    </a:p>
                  </a:txBody>
                  <a:tcPr marL="91440" marR="91440" marT="36576" marB="36576" anchor="ctr">
                    <a:lnL w="9525" cap="flat" cmpd="sng" algn="ctr">
                      <a:solidFill>
                        <a:srgbClr val="1C5B67"/>
                      </a:solidFill>
                      <a:prstDash val="solid"/>
                      <a:round/>
                      <a:headEnd type="none" w="med" len="med"/>
                      <a:tailEnd type="none" w="med" len="med"/>
                    </a:lnL>
                    <a:lnR w="9525" cap="flat" cmpd="sng" algn="ctr">
                      <a:solidFill>
                        <a:srgbClr val="1C5B67"/>
                      </a:solidFill>
                      <a:prstDash val="solid"/>
                      <a:round/>
                      <a:headEnd type="none" w="med" len="med"/>
                      <a:tailEnd type="none" w="med" len="med"/>
                    </a:lnR>
                    <a:lnT w="9525" cap="flat" cmpd="sng" algn="ctr">
                      <a:solidFill>
                        <a:srgbClr val="1C5B67"/>
                      </a:solidFill>
                      <a:prstDash val="solid"/>
                      <a:round/>
                      <a:headEnd type="none" w="med" len="med"/>
                      <a:tailEnd type="none" w="med" len="med"/>
                    </a:lnT>
                    <a:lnB w="9525" cap="flat" cmpd="sng" algn="ctr">
                      <a:solidFill>
                        <a:srgbClr val="1C5B67"/>
                      </a:solidFill>
                      <a:prstDash val="solid"/>
                      <a:round/>
                      <a:headEnd type="none" w="med" len="med"/>
                      <a:tailEnd type="none" w="med" len="med"/>
                    </a:lnB>
                    <a:solidFill>
                      <a:srgbClr val="0F3640"/>
                    </a:solidFill>
                  </a:tcPr>
                </a:tc>
                <a:tc>
                  <a:txBody>
                    <a:bodyPr/>
                    <a:lstStyle/>
                    <a:p>
                      <a:pPr indent="0" marL="0">
                        <a:buNone/>
                      </a:pPr>
                      <a:r>
                        <a:rPr lang="en-US" sz="1200" dirty="0">
                          <a:solidFill>
                            <a:srgbClr val="FFFFFF"/>
                          </a:solidFill>
                        </a:rPr>
                        <a:t>O(1)</a:t>
                      </a:r>
                      <a:endParaRPr lang="en-US" sz="1200" dirty="0"/>
                    </a:p>
                  </a:txBody>
                  <a:tcPr marL="91440" marR="91440" marT="36576" marB="36576" anchor="ctr">
                    <a:lnL w="9525" cap="flat" cmpd="sng" algn="ctr">
                      <a:solidFill>
                        <a:srgbClr val="1C5B67"/>
                      </a:solidFill>
                      <a:prstDash val="solid"/>
                      <a:round/>
                      <a:headEnd type="none" w="med" len="med"/>
                      <a:tailEnd type="none" w="med" len="med"/>
                    </a:lnL>
                    <a:lnR w="9525" cap="flat" cmpd="sng" algn="ctr">
                      <a:solidFill>
                        <a:srgbClr val="1C5B67"/>
                      </a:solidFill>
                      <a:prstDash val="solid"/>
                      <a:round/>
                      <a:headEnd type="none" w="med" len="med"/>
                      <a:tailEnd type="none" w="med" len="med"/>
                    </a:lnR>
                    <a:lnT w="9525" cap="flat" cmpd="sng" algn="ctr">
                      <a:solidFill>
                        <a:srgbClr val="1C5B67"/>
                      </a:solidFill>
                      <a:prstDash val="solid"/>
                      <a:round/>
                      <a:headEnd type="none" w="med" len="med"/>
                      <a:tailEnd type="none" w="med" len="med"/>
                    </a:lnT>
                    <a:lnB w="9525" cap="flat" cmpd="sng" algn="ctr">
                      <a:solidFill>
                        <a:srgbClr val="1C5B67"/>
                      </a:solidFill>
                      <a:prstDash val="solid"/>
                      <a:round/>
                      <a:headEnd type="none" w="med" len="med"/>
                      <a:tailEnd type="none" w="med" len="med"/>
                    </a:lnB>
                    <a:solidFill>
                      <a:srgbClr val="0F3640"/>
                    </a:solidFill>
                  </a:tcPr>
                </a:tc>
                <a:tc>
                  <a:txBody>
                    <a:bodyPr/>
                    <a:lstStyle/>
                    <a:p>
                      <a:pPr indent="0" marL="0">
                        <a:buNone/>
                      </a:pPr>
                      <a:r>
                        <a:rPr lang="en-US" sz="1200" dirty="0">
                          <a:solidFill>
                            <a:srgbClr val="FFFFFF"/>
                          </a:solidFill>
                        </a:rPr>
                        <a:t>Yes</a:t>
                      </a:r>
                      <a:endParaRPr lang="en-US" sz="1200" dirty="0"/>
                    </a:p>
                  </a:txBody>
                  <a:tcPr marL="91440" marR="91440" marT="36576" marB="36576" anchor="ctr">
                    <a:lnL w="9525" cap="flat" cmpd="sng" algn="ctr">
                      <a:solidFill>
                        <a:srgbClr val="1C5B67"/>
                      </a:solidFill>
                      <a:prstDash val="solid"/>
                      <a:round/>
                      <a:headEnd type="none" w="med" len="med"/>
                      <a:tailEnd type="none" w="med" len="med"/>
                    </a:lnL>
                    <a:lnR w="9525" cap="flat" cmpd="sng" algn="ctr">
                      <a:solidFill>
                        <a:srgbClr val="1C5B67"/>
                      </a:solidFill>
                      <a:prstDash val="solid"/>
                      <a:round/>
                      <a:headEnd type="none" w="med" len="med"/>
                      <a:tailEnd type="none" w="med" len="med"/>
                    </a:lnR>
                    <a:lnT w="9525" cap="flat" cmpd="sng" algn="ctr">
                      <a:solidFill>
                        <a:srgbClr val="1C5B67"/>
                      </a:solidFill>
                      <a:prstDash val="solid"/>
                      <a:round/>
                      <a:headEnd type="none" w="med" len="med"/>
                      <a:tailEnd type="none" w="med" len="med"/>
                    </a:lnT>
                    <a:lnB w="9525" cap="flat" cmpd="sng" algn="ctr">
                      <a:solidFill>
                        <a:srgbClr val="1C5B67"/>
                      </a:solidFill>
                      <a:prstDash val="solid"/>
                      <a:round/>
                      <a:headEnd type="none" w="med" len="med"/>
                      <a:tailEnd type="none" w="med" len="med"/>
                    </a:lnB>
                    <a:solidFill>
                      <a:srgbClr val="0F3640"/>
                    </a:solidFill>
                  </a:tcPr>
                </a:tc>
                <a:tc>
                  <a:txBody>
                    <a:bodyPr/>
                    <a:lstStyle/>
                    <a:p>
                      <a:pPr indent="0" marL="0">
                        <a:buNone/>
                      </a:pPr>
                      <a:r>
                        <a:rPr lang="en-US" sz="1200" dirty="0">
                          <a:solidFill>
                            <a:srgbClr val="FFFFFF"/>
                          </a:solidFill>
                        </a:rPr>
                        <a:t>Tiny or nearly sorted lists</a:t>
                      </a:r>
                      <a:endParaRPr lang="en-US" sz="1200" dirty="0"/>
                    </a:p>
                  </a:txBody>
                  <a:tcPr marL="91440" marR="91440" marT="36576" marB="36576" anchor="ctr">
                    <a:lnL w="9525" cap="flat" cmpd="sng" algn="ctr">
                      <a:solidFill>
                        <a:srgbClr val="1C5B67"/>
                      </a:solidFill>
                      <a:prstDash val="solid"/>
                      <a:round/>
                      <a:headEnd type="none" w="med" len="med"/>
                      <a:tailEnd type="none" w="med" len="med"/>
                    </a:lnL>
                    <a:lnR w="9525" cap="flat" cmpd="sng" algn="ctr">
                      <a:solidFill>
                        <a:srgbClr val="1C5B67"/>
                      </a:solidFill>
                      <a:prstDash val="solid"/>
                      <a:round/>
                      <a:headEnd type="none" w="med" len="med"/>
                      <a:tailEnd type="none" w="med" len="med"/>
                    </a:lnR>
                    <a:lnT w="9525" cap="flat" cmpd="sng" algn="ctr">
                      <a:solidFill>
                        <a:srgbClr val="1C5B67"/>
                      </a:solidFill>
                      <a:prstDash val="solid"/>
                      <a:round/>
                      <a:headEnd type="none" w="med" len="med"/>
                      <a:tailEnd type="none" w="med" len="med"/>
                    </a:lnT>
                    <a:lnB w="9525" cap="flat" cmpd="sng" algn="ctr">
                      <a:solidFill>
                        <a:srgbClr val="1C5B67"/>
                      </a:solidFill>
                      <a:prstDash val="solid"/>
                      <a:round/>
                      <a:headEnd type="none" w="med" len="med"/>
                      <a:tailEnd type="none" w="med" len="med"/>
                    </a:lnB>
                    <a:solidFill>
                      <a:srgbClr val="0F3640"/>
                    </a:solidFill>
                  </a:tcPr>
                </a:tc>
              </a:tr>
            </a:tbl>
          </a:graphicData>
        </a:graphic>
      </p:graphicFrame>
      <p:sp>
        <p:nvSpPr>
          <p:cNvPr id="5" name="Text 2"/>
          <p:cNvSpPr txBox="1"/>
          <p:nvPr/>
        </p:nvSpPr>
        <p:spPr>
          <a:xfrm>
            <a:off x="457200" y="3520440"/>
            <a:ext cx="8229600" cy="274320"/>
          </a:xfrm>
          <a:prstGeom prst="rect">
            <a:avLst/>
          </a:prstGeom>
          <a:noFill/>
          <a:ln/>
        </p:spPr>
        <p:txBody>
          <a:bodyPr wrap="square" lIns="0" tIns="0" rIns="0" bIns="0" rtlCol="0" anchor="ctr"/>
          <a:lstStyle/>
          <a:p>
            <a:pPr indent="0" marL="0">
              <a:buNone/>
            </a:pPr>
            <a:r>
              <a:rPr lang="en-US" sz="1200" dirty="0">
                <a:solidFill>
                  <a:srgbClr val="A9C4C8"/>
                </a:solidFill>
              </a:rPr>
              <a:t>The main drawback is the O(n) extra memory that merging needs.</a:t>
            </a:r>
            <a:endParaRPr lang="en-US" sz="1200" dirty="0"/>
          </a:p>
        </p:txBody>
      </p:sp>
      <p:sp>
        <p:nvSpPr>
          <p:cNvPr id="25" name="Slide Number Placeholder 0"/>
          <p:cNvSpPr>
            <a:spLocks noGrp="1"/>
          </p:cNvSpPr>
          <p:nvPr>
            <p:ph type="sldNum" sz="quarter" idx="4294967295"/>
          </p:nvPr>
        </p:nvSpPr>
        <p:spPr>
          <a:xfrm>
            <a:off x="8138160" y="4754880"/>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A9C4C8"/>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457200" y="320040"/>
            <a:ext cx="5486400" cy="228600"/>
          </a:xfrm>
          <a:prstGeom prst="rect">
            <a:avLst/>
          </a:prstGeom>
          <a:noFill/>
          <a:ln/>
        </p:spPr>
        <p:txBody>
          <a:bodyPr wrap="square" lIns="0" tIns="0" rIns="0" bIns="0" rtlCol="0" anchor="ctr"/>
          <a:lstStyle/>
          <a:p>
            <a:pPr indent="0" marL="0">
              <a:buNone/>
            </a:pPr>
            <a:r>
              <a:rPr lang="en-US" sz="1000" b="1" spc="300" kern="0" dirty="0">
                <a:solidFill>
                  <a:srgbClr val="14808A"/>
                </a:solidFill>
              </a:rPr>
              <a:t>APPLICATIONS</a:t>
            </a:r>
            <a:endParaRPr lang="en-US" sz="10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600" b="1" dirty="0">
                <a:solidFill>
                  <a:srgbClr val="0B2B33"/>
                </a:solidFill>
                <a:latin typeface="Trebuchet MS" pitchFamily="34" charset="0"/>
                <a:ea typeface="Trebuchet MS" pitchFamily="34" charset="-122"/>
                <a:cs typeface="Trebuchet MS" pitchFamily="34" charset="-120"/>
              </a:rPr>
              <a:t>Real-world uses</a:t>
            </a:r>
            <a:endParaRPr lang="en-US" sz="2600" dirty="0"/>
          </a:p>
        </p:txBody>
      </p:sp>
      <p:sp>
        <p:nvSpPr>
          <p:cNvPr id="4" name="Shape 2"/>
          <p:cNvSpPr/>
          <p:nvPr/>
        </p:nvSpPr>
        <p:spPr>
          <a:xfrm>
            <a:off x="457200" y="1463040"/>
            <a:ext cx="1965960" cy="2286000"/>
          </a:xfrm>
          <a:prstGeom prst="rect">
            <a:avLst/>
          </a:prstGeom>
          <a:solidFill>
            <a:srgbClr val="FFFFFF"/>
          </a:solidFill>
          <a:ln w="9525">
            <a:solidFill>
              <a:srgbClr val="D5E4E6"/>
            </a:solidFill>
            <a:prstDash val="solid"/>
          </a:ln>
        </p:spPr>
      </p:sp>
      <p:pic>
        <p:nvPicPr>
          <p:cNvPr id="5" name="Image 0" descr="preencoded.png">    </p:cNvPr>
          <p:cNvPicPr>
            <a:picLocks noChangeAspect="1"/>
          </p:cNvPicPr>
          <p:nvPr/>
        </p:nvPicPr>
        <p:blipFill>
          <a:blip r:embed="rId1"/>
          <a:stretch>
            <a:fillRect/>
          </a:stretch>
        </p:blipFill>
        <p:spPr>
          <a:xfrm>
            <a:off x="640080" y="1645920"/>
            <a:ext cx="365760" cy="365760"/>
          </a:xfrm>
          <a:prstGeom prst="rect">
            <a:avLst/>
          </a:prstGeom>
        </p:spPr>
      </p:pic>
      <p:sp>
        <p:nvSpPr>
          <p:cNvPr id="6" name="Text 3"/>
          <p:cNvSpPr txBox="1"/>
          <p:nvPr/>
        </p:nvSpPr>
        <p:spPr>
          <a:xfrm>
            <a:off x="640080" y="2148840"/>
            <a:ext cx="1645920" cy="320040"/>
          </a:xfrm>
          <a:prstGeom prst="rect">
            <a:avLst/>
          </a:prstGeom>
          <a:noFill/>
          <a:ln/>
        </p:spPr>
        <p:txBody>
          <a:bodyPr wrap="square" lIns="0" tIns="0" rIns="0" bIns="0" rtlCol="0" anchor="ctr"/>
          <a:lstStyle/>
          <a:p>
            <a:pPr indent="0" marL="0">
              <a:buNone/>
            </a:pPr>
            <a:r>
              <a:rPr lang="en-US" sz="1400" b="1" dirty="0">
                <a:solidFill>
                  <a:srgbClr val="0B2B33"/>
                </a:solidFill>
              </a:rPr>
              <a:t>Large files</a:t>
            </a:r>
            <a:endParaRPr lang="en-US" sz="1400" dirty="0"/>
          </a:p>
        </p:txBody>
      </p:sp>
      <p:sp>
        <p:nvSpPr>
          <p:cNvPr id="7" name="Text 4"/>
          <p:cNvSpPr txBox="1"/>
          <p:nvPr/>
        </p:nvSpPr>
        <p:spPr>
          <a:xfrm>
            <a:off x="640080" y="2514600"/>
            <a:ext cx="1645920" cy="1143000"/>
          </a:xfrm>
          <a:prstGeom prst="rect">
            <a:avLst/>
          </a:prstGeom>
          <a:noFill/>
          <a:ln/>
        </p:spPr>
        <p:txBody>
          <a:bodyPr wrap="square" lIns="0" tIns="0" rIns="0" bIns="0" rtlCol="0" anchor="t"/>
          <a:lstStyle/>
          <a:p>
            <a:pPr indent="0" marL="0">
              <a:buNone/>
            </a:pPr>
            <a:r>
              <a:rPr lang="en-US" sz="1150" dirty="0">
                <a:solidFill>
                  <a:srgbClr val="5B7479"/>
                </a:solidFill>
              </a:rPr>
              <a:t>External sorting merges sorted chunks that do not fit in memory.</a:t>
            </a:r>
            <a:endParaRPr lang="en-US" sz="1150" dirty="0"/>
          </a:p>
        </p:txBody>
      </p:sp>
      <p:sp>
        <p:nvSpPr>
          <p:cNvPr id="8" name="Shape 5"/>
          <p:cNvSpPr/>
          <p:nvPr/>
        </p:nvSpPr>
        <p:spPr>
          <a:xfrm>
            <a:off x="2560320" y="1463040"/>
            <a:ext cx="1965960" cy="2286000"/>
          </a:xfrm>
          <a:prstGeom prst="rect">
            <a:avLst/>
          </a:prstGeom>
          <a:solidFill>
            <a:srgbClr val="FFFFFF"/>
          </a:solidFill>
          <a:ln w="9525">
            <a:solidFill>
              <a:srgbClr val="D5E4E6"/>
            </a:solidFill>
            <a:prstDash val="solid"/>
          </a:ln>
        </p:spPr>
      </p:sp>
      <p:pic>
        <p:nvPicPr>
          <p:cNvPr id="9" name="Image 1" descr="preencoded.png">    </p:cNvPr>
          <p:cNvPicPr>
            <a:picLocks noChangeAspect="1"/>
          </p:cNvPicPr>
          <p:nvPr/>
        </p:nvPicPr>
        <p:blipFill>
          <a:blip r:embed="rId2"/>
          <a:stretch>
            <a:fillRect/>
          </a:stretch>
        </p:blipFill>
        <p:spPr>
          <a:xfrm>
            <a:off x="2743200" y="1645920"/>
            <a:ext cx="365760" cy="365760"/>
          </a:xfrm>
          <a:prstGeom prst="rect">
            <a:avLst/>
          </a:prstGeom>
        </p:spPr>
      </p:pic>
      <p:sp>
        <p:nvSpPr>
          <p:cNvPr id="10" name="Text 6"/>
          <p:cNvSpPr txBox="1"/>
          <p:nvPr/>
        </p:nvSpPr>
        <p:spPr>
          <a:xfrm>
            <a:off x="2743200" y="2148840"/>
            <a:ext cx="1645920" cy="320040"/>
          </a:xfrm>
          <a:prstGeom prst="rect">
            <a:avLst/>
          </a:prstGeom>
          <a:noFill/>
          <a:ln/>
        </p:spPr>
        <p:txBody>
          <a:bodyPr wrap="square" lIns="0" tIns="0" rIns="0" bIns="0" rtlCol="0" anchor="ctr"/>
          <a:lstStyle/>
          <a:p>
            <a:pPr indent="0" marL="0">
              <a:buNone/>
            </a:pPr>
            <a:r>
              <a:rPr lang="en-US" sz="1400" b="1" dirty="0">
                <a:solidFill>
                  <a:srgbClr val="0B2B33"/>
                </a:solidFill>
              </a:rPr>
              <a:t>Linked lists</a:t>
            </a:r>
            <a:endParaRPr lang="en-US" sz="1400" dirty="0"/>
          </a:p>
        </p:txBody>
      </p:sp>
      <p:sp>
        <p:nvSpPr>
          <p:cNvPr id="11" name="Text 7"/>
          <p:cNvSpPr txBox="1"/>
          <p:nvPr/>
        </p:nvSpPr>
        <p:spPr>
          <a:xfrm>
            <a:off x="2743200" y="2514600"/>
            <a:ext cx="1645920" cy="1143000"/>
          </a:xfrm>
          <a:prstGeom prst="rect">
            <a:avLst/>
          </a:prstGeom>
          <a:noFill/>
          <a:ln/>
        </p:spPr>
        <p:txBody>
          <a:bodyPr wrap="square" lIns="0" tIns="0" rIns="0" bIns="0" rtlCol="0" anchor="t"/>
          <a:lstStyle/>
          <a:p>
            <a:pPr indent="0" marL="0">
              <a:buNone/>
            </a:pPr>
            <a:r>
              <a:rPr lang="en-US" sz="1150" dirty="0">
                <a:solidFill>
                  <a:srgbClr val="5B7479"/>
                </a:solidFill>
              </a:rPr>
              <a:t>Merging needs no random access, so it suits linked lists.</a:t>
            </a:r>
            <a:endParaRPr lang="en-US" sz="1150" dirty="0"/>
          </a:p>
        </p:txBody>
      </p:sp>
      <p:sp>
        <p:nvSpPr>
          <p:cNvPr id="12" name="Shape 8"/>
          <p:cNvSpPr/>
          <p:nvPr/>
        </p:nvSpPr>
        <p:spPr>
          <a:xfrm>
            <a:off x="4663440" y="1463040"/>
            <a:ext cx="1965960" cy="2286000"/>
          </a:xfrm>
          <a:prstGeom prst="rect">
            <a:avLst/>
          </a:prstGeom>
          <a:solidFill>
            <a:srgbClr val="FFFFFF"/>
          </a:solidFill>
          <a:ln w="9525">
            <a:solidFill>
              <a:srgbClr val="D5E4E6"/>
            </a:solidFill>
            <a:prstDash val="solid"/>
          </a:ln>
        </p:spPr>
      </p:sp>
      <p:pic>
        <p:nvPicPr>
          <p:cNvPr id="13" name="Image 2" descr="preencoded.png">    </p:cNvPr>
          <p:cNvPicPr>
            <a:picLocks noChangeAspect="1"/>
          </p:cNvPicPr>
          <p:nvPr/>
        </p:nvPicPr>
        <p:blipFill>
          <a:blip r:embed="rId3"/>
          <a:stretch>
            <a:fillRect/>
          </a:stretch>
        </p:blipFill>
        <p:spPr>
          <a:xfrm>
            <a:off x="4846320" y="1645920"/>
            <a:ext cx="365760" cy="365760"/>
          </a:xfrm>
          <a:prstGeom prst="rect">
            <a:avLst/>
          </a:prstGeom>
        </p:spPr>
      </p:pic>
      <p:sp>
        <p:nvSpPr>
          <p:cNvPr id="14" name="Text 9"/>
          <p:cNvSpPr txBox="1"/>
          <p:nvPr/>
        </p:nvSpPr>
        <p:spPr>
          <a:xfrm>
            <a:off x="4846320" y="2148840"/>
            <a:ext cx="1645920" cy="320040"/>
          </a:xfrm>
          <a:prstGeom prst="rect">
            <a:avLst/>
          </a:prstGeom>
          <a:noFill/>
          <a:ln/>
        </p:spPr>
        <p:txBody>
          <a:bodyPr wrap="square" lIns="0" tIns="0" rIns="0" bIns="0" rtlCol="0" anchor="ctr"/>
          <a:lstStyle/>
          <a:p>
            <a:pPr indent="0" marL="0">
              <a:buNone/>
            </a:pPr>
            <a:r>
              <a:rPr lang="en-US" sz="1400" b="1" dirty="0">
                <a:solidFill>
                  <a:srgbClr val="0B2B33"/>
                </a:solidFill>
              </a:rPr>
              <a:t>Standard libraries</a:t>
            </a:r>
            <a:endParaRPr lang="en-US" sz="1400" dirty="0"/>
          </a:p>
        </p:txBody>
      </p:sp>
      <p:sp>
        <p:nvSpPr>
          <p:cNvPr id="15" name="Text 10"/>
          <p:cNvSpPr txBox="1"/>
          <p:nvPr/>
        </p:nvSpPr>
        <p:spPr>
          <a:xfrm>
            <a:off x="4846320" y="2514600"/>
            <a:ext cx="1645920" cy="1143000"/>
          </a:xfrm>
          <a:prstGeom prst="rect">
            <a:avLst/>
          </a:prstGeom>
          <a:noFill/>
          <a:ln/>
        </p:spPr>
        <p:txBody>
          <a:bodyPr wrap="square" lIns="0" tIns="0" rIns="0" bIns="0" rtlCol="0" anchor="t"/>
          <a:lstStyle/>
          <a:p>
            <a:pPr indent="0" marL="0">
              <a:buNone/>
            </a:pPr>
            <a:r>
              <a:rPr lang="en-US" sz="1150" dirty="0">
                <a:solidFill>
                  <a:srgbClr val="5B7479"/>
                </a:solidFill>
              </a:rPr>
              <a:t>Python and Java use Timsort, a merge-based hybrid, for objects.</a:t>
            </a:r>
            <a:endParaRPr lang="en-US" sz="1150" dirty="0"/>
          </a:p>
        </p:txBody>
      </p:sp>
      <p:sp>
        <p:nvSpPr>
          <p:cNvPr id="16" name="Shape 11"/>
          <p:cNvSpPr/>
          <p:nvPr/>
        </p:nvSpPr>
        <p:spPr>
          <a:xfrm>
            <a:off x="6766560" y="1463040"/>
            <a:ext cx="1965960" cy="2286000"/>
          </a:xfrm>
          <a:prstGeom prst="rect">
            <a:avLst/>
          </a:prstGeom>
          <a:solidFill>
            <a:srgbClr val="FFFFFF"/>
          </a:solidFill>
          <a:ln w="9525">
            <a:solidFill>
              <a:srgbClr val="D5E4E6"/>
            </a:solidFill>
            <a:prstDash val="solid"/>
          </a:ln>
        </p:spPr>
      </p:sp>
      <p:pic>
        <p:nvPicPr>
          <p:cNvPr id="17" name="Image 3" descr="preencoded.png">    </p:cNvPr>
          <p:cNvPicPr>
            <a:picLocks noChangeAspect="1"/>
          </p:cNvPicPr>
          <p:nvPr/>
        </p:nvPicPr>
        <p:blipFill>
          <a:blip r:embed="rId4"/>
          <a:stretch>
            <a:fillRect/>
          </a:stretch>
        </p:blipFill>
        <p:spPr>
          <a:xfrm>
            <a:off x="6949440" y="1645920"/>
            <a:ext cx="365760" cy="365760"/>
          </a:xfrm>
          <a:prstGeom prst="rect">
            <a:avLst/>
          </a:prstGeom>
        </p:spPr>
      </p:pic>
      <p:sp>
        <p:nvSpPr>
          <p:cNvPr id="18" name="Text 12"/>
          <p:cNvSpPr txBox="1"/>
          <p:nvPr/>
        </p:nvSpPr>
        <p:spPr>
          <a:xfrm>
            <a:off x="6949440" y="2148840"/>
            <a:ext cx="1645920" cy="320040"/>
          </a:xfrm>
          <a:prstGeom prst="rect">
            <a:avLst/>
          </a:prstGeom>
          <a:noFill/>
          <a:ln/>
        </p:spPr>
        <p:txBody>
          <a:bodyPr wrap="square" lIns="0" tIns="0" rIns="0" bIns="0" rtlCol="0" anchor="ctr"/>
          <a:lstStyle/>
          <a:p>
            <a:pPr indent="0" marL="0">
              <a:buNone/>
            </a:pPr>
            <a:r>
              <a:rPr lang="en-US" sz="1400" b="1" dirty="0">
                <a:solidFill>
                  <a:srgbClr val="0B2B33"/>
                </a:solidFill>
              </a:rPr>
              <a:t>Databases</a:t>
            </a:r>
            <a:endParaRPr lang="en-US" sz="1400" dirty="0"/>
          </a:p>
        </p:txBody>
      </p:sp>
      <p:sp>
        <p:nvSpPr>
          <p:cNvPr id="19" name="Text 13"/>
          <p:cNvSpPr txBox="1"/>
          <p:nvPr/>
        </p:nvSpPr>
        <p:spPr>
          <a:xfrm>
            <a:off x="6949440" y="2514600"/>
            <a:ext cx="1645920" cy="1143000"/>
          </a:xfrm>
          <a:prstGeom prst="rect">
            <a:avLst/>
          </a:prstGeom>
          <a:noFill/>
          <a:ln/>
        </p:spPr>
        <p:txBody>
          <a:bodyPr wrap="square" lIns="0" tIns="0" rIns="0" bIns="0" rtlCol="0" anchor="t"/>
          <a:lstStyle/>
          <a:p>
            <a:pPr indent="0" marL="0">
              <a:buNone/>
            </a:pPr>
            <a:r>
              <a:rPr lang="en-US" sz="1150" dirty="0">
                <a:solidFill>
                  <a:srgbClr val="5B7479"/>
                </a:solidFill>
              </a:rPr>
              <a:t>Sort-merge joins combine sorted tables efficiently.</a:t>
            </a:r>
            <a:endParaRPr lang="en-US" sz="1150" dirty="0"/>
          </a:p>
        </p:txBody>
      </p:sp>
      <p:sp>
        <p:nvSpPr>
          <p:cNvPr id="25" name="Slide Number Placeholder 0"/>
          <p:cNvSpPr>
            <a:spLocks noGrp="1"/>
          </p:cNvSpPr>
          <p:nvPr>
            <p:ph type="sldNum" sz="quarter" idx="4294967295"/>
          </p:nvPr>
        </p:nvSpPr>
        <p:spPr>
          <a:xfrm>
            <a:off x="8138160" y="4754880"/>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7479"/>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457200" y="320040"/>
            <a:ext cx="5486400" cy="228600"/>
          </a:xfrm>
          <a:prstGeom prst="rect">
            <a:avLst/>
          </a:prstGeom>
          <a:noFill/>
          <a:ln/>
        </p:spPr>
        <p:txBody>
          <a:bodyPr wrap="square" lIns="0" tIns="0" rIns="0" bIns="0" rtlCol="0" anchor="ctr"/>
          <a:lstStyle/>
          <a:p>
            <a:pPr indent="0" marL="0">
              <a:buNone/>
            </a:pPr>
            <a:r>
              <a:rPr lang="en-US" sz="1000" b="1" spc="300" kern="0" dirty="0">
                <a:solidFill>
                  <a:srgbClr val="FF7A59"/>
                </a:solidFill>
              </a:rPr>
              <a:t>SUMMARY</a:t>
            </a:r>
            <a:endParaRPr lang="en-US" sz="10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600" b="1" dirty="0">
                <a:solidFill>
                  <a:srgbClr val="FFFFFF"/>
                </a:solidFill>
                <a:latin typeface="Trebuchet MS" pitchFamily="34" charset="0"/>
                <a:ea typeface="Trebuchet MS" pitchFamily="34" charset="-122"/>
                <a:cs typeface="Trebuchet MS" pitchFamily="34" charset="-120"/>
              </a:rPr>
              <a:t>Key takeaways</a:t>
            </a:r>
            <a:endParaRPr lang="en-US" sz="2600" dirty="0"/>
          </a:p>
        </p:txBody>
      </p:sp>
      <p:sp>
        <p:nvSpPr>
          <p:cNvPr id="4" name="Text 2"/>
          <p:cNvSpPr txBox="1"/>
          <p:nvPr/>
        </p:nvSpPr>
        <p:spPr>
          <a:xfrm>
            <a:off x="457200" y="1371600"/>
            <a:ext cx="8046720" cy="237744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rgbClr val="FFFFFF"/>
                </a:solidFill>
              </a:rPr>
              <a:t>It sorts by splitting the array in half, sorting each half and merging them.</a:t>
            </a:r>
            <a:endParaRPr lang="en-US" sz="1700" dirty="0"/>
          </a:p>
          <a:p>
            <a:pPr marL="342900" indent="-342900">
              <a:spcAft>
                <a:spcPts val="1000"/>
              </a:spcAft>
              <a:buSzPct val="100000"/>
              <a:buChar char="•"/>
            </a:pPr>
            <a:r>
              <a:rPr lang="en-US" sz="1700" dirty="0">
                <a:solidFill>
                  <a:srgbClr val="FFFFFF"/>
                </a:solidFill>
              </a:rPr>
              <a:t>Merging two sorted lists takes one linear pass.</a:t>
            </a:r>
            <a:endParaRPr lang="en-US" sz="1700" dirty="0"/>
          </a:p>
          <a:p>
            <a:pPr marL="342900" indent="-342900">
              <a:spcAft>
                <a:spcPts val="1000"/>
              </a:spcAft>
              <a:buSzPct val="100000"/>
              <a:buChar char="•"/>
            </a:pPr>
            <a:r>
              <a:rPr lang="en-US" sz="1700" dirty="0">
                <a:solidFill>
                  <a:srgbClr val="FFFFFF"/>
                </a:solidFill>
              </a:rPr>
              <a:t>It runs in O(n log n) time in the best, average and worst cases.</a:t>
            </a:r>
            <a:endParaRPr lang="en-US" sz="1700" dirty="0"/>
          </a:p>
          <a:p>
            <a:pPr marL="342900" indent="-342900">
              <a:spcAft>
                <a:spcPts val="1000"/>
              </a:spcAft>
              <a:buSzPct val="100000"/>
              <a:buChar char="•"/>
            </a:pPr>
            <a:r>
              <a:rPr lang="en-US" sz="1700" dirty="0">
                <a:solidFill>
                  <a:srgbClr val="FFFFFF"/>
                </a:solidFill>
              </a:rPr>
              <a:t>It is stable but needs O(n) extra space.</a:t>
            </a:r>
            <a:endParaRPr lang="en-US" sz="1700" dirty="0"/>
          </a:p>
        </p:txBody>
      </p:sp>
      <p:sp>
        <p:nvSpPr>
          <p:cNvPr id="25" name="Slide Number Placeholder 0"/>
          <p:cNvSpPr>
            <a:spLocks noGrp="1"/>
          </p:cNvSpPr>
          <p:nvPr>
            <p:ph type="sldNum" sz="quarter" idx="4294967295"/>
          </p:nvPr>
        </p:nvSpPr>
        <p:spPr>
          <a:xfrm>
            <a:off x="8138160" y="4754880"/>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A9C4C8"/>
                </a:solidFill>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Teal Coral">
  <a:themeElements>
    <a:clrScheme name="Teal Coral">
      <a:dk1>
        <a:srgbClr val="0B2B33"/>
      </a:dk1>
      <a:lt1>
        <a:srgbClr val="FFFFFF"/>
      </a:lt1>
      <a:dk2>
        <a:srgbClr val="123F4A"/>
      </a:dk2>
      <a:lt2>
        <a:srgbClr val="F2F7F7"/>
      </a:lt2>
      <a:accent1>
        <a:srgbClr val="FF7A59"/>
      </a:accent1>
      <a:accent2>
        <a:srgbClr val="14808A"/>
      </a:accent2>
      <a:accent3>
        <a:srgbClr val="1C5B67"/>
      </a:accent3>
      <a:accent4>
        <a:srgbClr val="F6C9BC"/>
      </a:accent4>
      <a:accent5>
        <a:srgbClr val="7FB8BF"/>
      </a:accent5>
      <a:accent6>
        <a:srgbClr val="E8F1F2"/>
      </a:accent6>
      <a:hlink>
        <a:srgbClr val="14808A"/>
      </a:hlink>
      <a:folHlink>
        <a:srgbClr val="1C5B67"/>
      </a:folHlink>
    </a:clrScheme>
    <a:fontScheme name="Teal Coral">
      <a:majorFont>
        <a:latin typeface="Trebuchet M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Merge Sort</dc:title>
  <dc:subject>PptxGenJS Presentation</dc:subject>
  <dc:creator>Shreyas Rongde</dc:creator>
  <cp:lastModifiedBy>Shreyas Rongde</cp:lastModifiedBy>
  <cp:revision>1</cp:revision>
  <dcterms:created xsi:type="dcterms:W3CDTF">2026-10-20T13:40:27Z</dcterms:created>
  <dcterms:modified xsi:type="dcterms:W3CDTF">2026-10-20T13:40:27Z</dcterms:modified>
</cp:coreProperties>
</file>